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and introduce the project title. Mention this is a cloud computing demonstration focused on choosing the right Azure Storage performance tier for a workload, and briefly state the presenter's name, course, and that this is a project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Azure Storage is Microsoft's managed cloud storage service supporting disks, blobs, files, tables, and queues. Emphasize that storage performance directly affects application responsiveness, and define IOPS (operations per second), throughput (data transfer rate), and latency (response delay) as the three key performance metrics. Walk through the simple architecture diagram: client application talks to Azure Storage over the network.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problem this project addresses: different applications need different storage performance levels. Read the core problem statement aloud and emphasize that the challenge is balancing performance against cost -- this tension motivates the rest of the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project objectives in order: analyzing workload requirements, understanding Azure's storage performance options, selecting a suitable tier, configuring Azure resources, and comparing performance versus cost. These objectives form the roadmap for the rest of the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since no specific workload was given, an online shopping application is assumed as a realistic, relatable scenario. Walk through its characteristics: VM-hosted, transactional database, frequent read/write, low latency needs, high IOPS during peak traffic. Trace the data flow diagram: Users to Application to Database to Azure Storage.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requirements table and explain how each requirement (access pattern, latency, IOPS, throughput, availability, cost) was derived from the assumed scenario. Emphasize that high IOPS and low latency requirements rule out low-performance storage options, steering the decision toward a premium tier.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the three Azure storage performance options: Standard HDD for low-cost workloads, Standard SSD for general applications, and Premium SSD for high-performance applications. Explain why Premium SSD is highlighted as the selected option for this workload -- it best matches the low-latency, high-IOPS requirements identified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within Premium SSD, performance tiers determine IOPS, throughput, and overall disk performance. Walk through the P10 example (500 IOPS, 100 MB/s throughput) as a baseline tier, then point to the chart showing how higher tiers (P15 through P40) scale up performance -- and cost -- accordingly.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six-step Azure implementation process: create a resource group, create a managed disk, select Premium SSD, configure disk size, select the performance tier, and monitor performance after deployment. Mention that Azure Portal screenshots would be inserted here during a live demo to show each configuration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proposed end-to-end architecture from top to bottom: Users connect to the Azure Application, which runs on a Virtual Machine, which is backed by a Premium SSD Managed Disk configured with the selected Azure Storage Performance Tier. This shows how all the pieces discussed so far fit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decision rationale: given high transaction volume and low latency requirements, the decision is to use Premium SSD starting at the P10 baseline tier, with the option to upgrade as workload grows. Walk through the decision process on the right: workload analysis leads to storage selection leads to performance optimization.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cost optimization principles: avoid over-provisioning by not selecting maximum performance unnecessarily, monitor actual workload usage continuously, scale performance only when real demand justifies it, and always aim to balance performance against cost rather than maximizing one at the expense of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the five key advantages of the selected solution: high performance, low latency, scalability, flexible performance adjustment, and suitability for enterprise-grade applications. These benefits directly address the problem statement and requirements discussed earlier.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potential future enhancements beyond the current project scope: integrating Azure Monitor for real-time metrics, implementing automatic scaling based on demand, testing with real application workloads instead of assumptions, and integrating database-level performance monitoring for deeper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key takeaway: Azure Storage performance tier selection depends on workload characteristics, and for transaction-heavy applications like the assumed online shopping scenario, Premium SSD with an appropriately chosen performance tier provides the best balance of performance and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references used for this project: Microsoft Azure Documentation, Azure Managed Disks Documentation, and Azure Storage Documentation. Thank the audience and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1.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1.png"/><Relationship Id="rId3" Type="http://schemas.openxmlformats.org/officeDocument/2006/relationships/image" Target="../media/image-8-1.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1.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2050"/>
        </a:solidFill>
      </p:bgPr>
    </p:bg>
    <p:spTree>
      <p:nvGrpSpPr>
        <p:cNvPr id="1" name=""/>
        <p:cNvGrpSpPr/>
        <p:nvPr/>
      </p:nvGrpSpPr>
      <p:grpSpPr>
        <a:xfrm>
          <a:off x="0" y="0"/>
          <a:ext cx="0" cy="0"/>
          <a:chOff x="0" y="0"/>
          <a:chExt cx="0" cy="0"/>
        </a:xfrm>
      </p:grpSpPr>
      <p:sp>
        <p:nvSpPr>
          <p:cNvPr id="2" name="Shape 0"/>
          <p:cNvSpPr/>
          <p:nvPr/>
        </p:nvSpPr>
        <p:spPr>
          <a:xfrm>
            <a:off x="8869680" y="-1463040"/>
            <a:ext cx="4754880" cy="4754880"/>
          </a:xfrm>
          <a:prstGeom prst="ellipse">
            <a:avLst/>
          </a:prstGeom>
          <a:solidFill>
            <a:srgbClr val="0A2E5C"/>
          </a:solidFill>
          <a:ln/>
        </p:spPr>
      </p:sp>
      <p:sp>
        <p:nvSpPr>
          <p:cNvPr id="3" name="Shape 1"/>
          <p:cNvSpPr/>
          <p:nvPr/>
        </p:nvSpPr>
        <p:spPr>
          <a:xfrm>
            <a:off x="10332720" y="-457200"/>
            <a:ext cx="2743200" cy="2743200"/>
          </a:xfrm>
          <a:prstGeom prst="ellipse">
            <a:avLst/>
          </a:prstGeom>
          <a:solidFill>
            <a:srgbClr val="0C3E75"/>
          </a:solidFill>
          <a:ln/>
        </p:spPr>
      </p:sp>
      <p:sp>
        <p:nvSpPr>
          <p:cNvPr id="4" name="Shape 2"/>
          <p:cNvSpPr/>
          <p:nvPr/>
        </p:nvSpPr>
        <p:spPr>
          <a:xfrm>
            <a:off x="-1463040" y="4754880"/>
            <a:ext cx="4023360" cy="4023360"/>
          </a:xfrm>
          <a:prstGeom prst="ellipse">
            <a:avLst/>
          </a:prstGeom>
          <a:solidFill>
            <a:srgbClr val="0A2E5C"/>
          </a:solidFill>
          <a:ln/>
        </p:spPr>
      </p:sp>
      <p:sp>
        <p:nvSpPr>
          <p:cNvPr id="5" name="Text 3"/>
          <p:cNvSpPr/>
          <p:nvPr/>
        </p:nvSpPr>
        <p:spPr>
          <a:xfrm>
            <a:off x="822960" y="1417320"/>
            <a:ext cx="9601200" cy="365760"/>
          </a:xfrm>
          <a:prstGeom prst="rect">
            <a:avLst/>
          </a:prstGeom>
          <a:noFill/>
          <a:ln/>
        </p:spPr>
        <p:txBody>
          <a:bodyPr wrap="square" rtlCol="0" anchor="ctr"/>
          <a:lstStyle/>
          <a:p>
            <a:pPr algn="l" indent="0" marL="0">
              <a:buNone/>
            </a:pPr>
            <a:r>
              <a:rPr lang="en-US" sz="1300" b="1" spc="240" kern="0" dirty="0">
                <a:solidFill>
                  <a:srgbClr val="50E6FF"/>
                </a:solidFill>
                <a:latin typeface="Calibri" pitchFamily="34" charset="0"/>
                <a:ea typeface="Calibri" pitchFamily="34" charset="-122"/>
                <a:cs typeface="Calibri" pitchFamily="34" charset="-120"/>
              </a:rPr>
              <a:t>MICROSOFT AZURE  •  CLOUD INFRASTRUCTURE PROJECT</a:t>
            </a:r>
            <a:endParaRPr lang="en-US" sz="1300" dirty="0"/>
          </a:p>
        </p:txBody>
      </p:sp>
      <p:sp>
        <p:nvSpPr>
          <p:cNvPr id="6" name="Text 4"/>
          <p:cNvSpPr/>
          <p:nvPr/>
        </p:nvSpPr>
        <p:spPr>
          <a:xfrm>
            <a:off x="777240" y="1874520"/>
            <a:ext cx="9875520" cy="1874520"/>
          </a:xfrm>
          <a:prstGeom prst="rect">
            <a:avLst/>
          </a:prstGeom>
          <a:noFill/>
          <a:ln/>
        </p:spPr>
        <p:txBody>
          <a:bodyPr wrap="square" rtlCol="0" anchor="ctr"/>
          <a:lstStyle/>
          <a:p>
            <a:pPr algn="l" indent="0" marL="0">
              <a:lnSpc>
                <a:spcPct val="108000"/>
              </a:lnSpc>
              <a:buNone/>
            </a:pPr>
            <a:r>
              <a:rPr lang="en-US" sz="4200" b="1" dirty="0">
                <a:solidFill>
                  <a:srgbClr val="FFFFFF"/>
                </a:solidFill>
                <a:latin typeface="Cambria" pitchFamily="34" charset="0"/>
                <a:ea typeface="Cambria" pitchFamily="34" charset="-122"/>
                <a:cs typeface="Cambria" pitchFamily="34" charset="-120"/>
              </a:rPr>
              <a:t>Azure Storage Performance</a:t>
            </a:r>
            <a:endParaRPr lang="en-US" sz="4200" dirty="0"/>
          </a:p>
          <a:p>
            <a:pPr algn="l" indent="0" marL="0">
              <a:lnSpc>
                <a:spcPct val="108000"/>
              </a:lnSpc>
              <a:buNone/>
            </a:pPr>
            <a:r>
              <a:rPr lang="en-US" sz="4200" b="1" dirty="0">
                <a:solidFill>
                  <a:srgbClr val="FFFFFF"/>
                </a:solidFill>
                <a:latin typeface="Cambria" pitchFamily="34" charset="0"/>
                <a:ea typeface="Cambria" pitchFamily="34" charset="-122"/>
                <a:cs typeface="Cambria" pitchFamily="34" charset="-120"/>
              </a:rPr>
              <a:t>Tier Selection for a Workload</a:t>
            </a:r>
            <a:endParaRPr lang="en-US" sz="4200" dirty="0"/>
          </a:p>
        </p:txBody>
      </p:sp>
      <p:sp>
        <p:nvSpPr>
          <p:cNvPr id="7" name="Shape 5"/>
          <p:cNvSpPr/>
          <p:nvPr/>
        </p:nvSpPr>
        <p:spPr>
          <a:xfrm>
            <a:off x="822960" y="3840480"/>
            <a:ext cx="2743200" cy="0"/>
          </a:xfrm>
          <a:prstGeom prst="line">
            <a:avLst/>
          </a:prstGeom>
          <a:noFill/>
          <a:ln w="31750">
            <a:solidFill>
              <a:srgbClr val="2B88D8"/>
            </a:solidFill>
            <a:prstDash val="solid"/>
          </a:ln>
        </p:spPr>
      </p:sp>
      <p:sp>
        <p:nvSpPr>
          <p:cNvPr id="8" name="Text 6"/>
          <p:cNvSpPr/>
          <p:nvPr/>
        </p:nvSpPr>
        <p:spPr>
          <a:xfrm>
            <a:off x="822960" y="4023360"/>
            <a:ext cx="8686800" cy="457200"/>
          </a:xfrm>
          <a:prstGeom prst="rect">
            <a:avLst/>
          </a:prstGeom>
          <a:noFill/>
          <a:ln/>
        </p:spPr>
        <p:txBody>
          <a:bodyPr wrap="square" rtlCol="0" anchor="ctr"/>
          <a:lstStyle/>
          <a:p>
            <a:pPr algn="l" indent="0" marL="0">
              <a:buNone/>
            </a:pPr>
            <a:r>
              <a:rPr lang="en-US" sz="1700" i="1" dirty="0">
                <a:solidFill>
                  <a:srgbClr val="CFE3F7"/>
                </a:solidFill>
                <a:latin typeface="Calibri" pitchFamily="34" charset="0"/>
                <a:ea typeface="Calibri" pitchFamily="34" charset="-122"/>
                <a:cs typeface="Calibri" pitchFamily="34" charset="-120"/>
              </a:rPr>
              <a:t>Cloud Infrastructure Optimization using Microsoft Azure</a:t>
            </a:r>
            <a:endParaRPr lang="en-US" sz="1700" dirty="0"/>
          </a:p>
        </p:txBody>
      </p:sp>
      <p:sp>
        <p:nvSpPr>
          <p:cNvPr id="9" name="Shape 7"/>
          <p:cNvSpPr/>
          <p:nvPr/>
        </p:nvSpPr>
        <p:spPr>
          <a:xfrm>
            <a:off x="822960" y="4892040"/>
            <a:ext cx="5486400" cy="1417320"/>
          </a:xfrm>
          <a:prstGeom prst="roundRect">
            <a:avLst>
              <a:gd name="adj" fmla="val 5161"/>
            </a:avLst>
          </a:prstGeom>
          <a:solidFill>
            <a:srgbClr val="0A2E5C"/>
          </a:solidFill>
          <a:ln w="12700">
            <a:solidFill>
              <a:srgbClr val="15477F"/>
            </a:solidFill>
            <a:prstDash val="solid"/>
          </a:ln>
        </p:spPr>
      </p:sp>
      <p:sp>
        <p:nvSpPr>
          <p:cNvPr id="10" name="Text 8"/>
          <p:cNvSpPr/>
          <p:nvPr/>
        </p:nvSpPr>
        <p:spPr>
          <a:xfrm>
            <a:off x="1051560" y="5074920"/>
            <a:ext cx="2103120" cy="274320"/>
          </a:xfrm>
          <a:prstGeom prst="rect">
            <a:avLst/>
          </a:prstGeom>
          <a:noFill/>
          <a:ln/>
        </p:spPr>
        <p:txBody>
          <a:bodyPr wrap="square" rtlCol="0" anchor="ctr"/>
          <a:lstStyle/>
          <a:p>
            <a:pPr indent="0" marL="0">
              <a:buNone/>
            </a:pPr>
            <a:r>
              <a:rPr lang="en-US" sz="950" b="1" spc="100" kern="0" dirty="0">
                <a:solidFill>
                  <a:srgbClr val="50E6FF"/>
                </a:solidFill>
                <a:latin typeface="Calibri" pitchFamily="34" charset="0"/>
                <a:ea typeface="Calibri" pitchFamily="34" charset="-122"/>
                <a:cs typeface="Calibri" pitchFamily="34" charset="-120"/>
              </a:rPr>
              <a:t>STUDENT NAME</a:t>
            </a:r>
            <a:endParaRPr lang="en-US" sz="950" dirty="0"/>
          </a:p>
        </p:txBody>
      </p:sp>
      <p:sp>
        <p:nvSpPr>
          <p:cNvPr id="11" name="Text 9"/>
          <p:cNvSpPr/>
          <p:nvPr/>
        </p:nvSpPr>
        <p:spPr>
          <a:xfrm>
            <a:off x="3154680" y="5047488"/>
            <a:ext cx="3017520" cy="329184"/>
          </a:xfrm>
          <a:prstGeom prst="rect">
            <a:avLst/>
          </a:prstGeom>
          <a:noFill/>
          <a:ln/>
        </p:spPr>
        <p:txBody>
          <a:bodyPr wrap="square"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[Student Name]</a:t>
            </a:r>
            <a:endParaRPr lang="en-US" sz="1100" dirty="0"/>
          </a:p>
        </p:txBody>
      </p:sp>
      <p:sp>
        <p:nvSpPr>
          <p:cNvPr id="12" name="Text 10"/>
          <p:cNvSpPr/>
          <p:nvPr/>
        </p:nvSpPr>
        <p:spPr>
          <a:xfrm>
            <a:off x="1051560" y="5486400"/>
            <a:ext cx="2103120" cy="274320"/>
          </a:xfrm>
          <a:prstGeom prst="rect">
            <a:avLst/>
          </a:prstGeom>
          <a:noFill/>
          <a:ln/>
        </p:spPr>
        <p:txBody>
          <a:bodyPr wrap="square" rtlCol="0" anchor="ctr"/>
          <a:lstStyle/>
          <a:p>
            <a:pPr indent="0" marL="0">
              <a:buNone/>
            </a:pPr>
            <a:r>
              <a:rPr lang="en-US" sz="950" b="1" spc="100" kern="0" dirty="0">
                <a:solidFill>
                  <a:srgbClr val="50E6FF"/>
                </a:solidFill>
                <a:latin typeface="Calibri" pitchFamily="34" charset="0"/>
                <a:ea typeface="Calibri" pitchFamily="34" charset="-122"/>
                <a:cs typeface="Calibri" pitchFamily="34" charset="-120"/>
              </a:rPr>
              <a:t>COURSE / DEPARTMENT</a:t>
            </a:r>
            <a:endParaRPr lang="en-US" sz="950" dirty="0"/>
          </a:p>
        </p:txBody>
      </p:sp>
      <p:sp>
        <p:nvSpPr>
          <p:cNvPr id="13" name="Text 11"/>
          <p:cNvSpPr/>
          <p:nvPr/>
        </p:nvSpPr>
        <p:spPr>
          <a:xfrm>
            <a:off x="3154680" y="5458968"/>
            <a:ext cx="3017520" cy="329184"/>
          </a:xfrm>
          <a:prstGeom prst="rect">
            <a:avLst/>
          </a:prstGeom>
          <a:noFill/>
          <a:ln/>
        </p:spPr>
        <p:txBody>
          <a:bodyPr wrap="square"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[Course Name — Department of Computer Science]</a:t>
            </a:r>
            <a:endParaRPr lang="en-US" sz="1100" dirty="0"/>
          </a:p>
        </p:txBody>
      </p:sp>
      <p:sp>
        <p:nvSpPr>
          <p:cNvPr id="14" name="Text 12"/>
          <p:cNvSpPr/>
          <p:nvPr/>
        </p:nvSpPr>
        <p:spPr>
          <a:xfrm>
            <a:off x="1051560" y="5897880"/>
            <a:ext cx="2103120" cy="274320"/>
          </a:xfrm>
          <a:prstGeom prst="rect">
            <a:avLst/>
          </a:prstGeom>
          <a:noFill/>
          <a:ln/>
        </p:spPr>
        <p:txBody>
          <a:bodyPr wrap="square" rtlCol="0" anchor="ctr"/>
          <a:lstStyle/>
          <a:p>
            <a:pPr indent="0" marL="0">
              <a:buNone/>
            </a:pPr>
            <a:r>
              <a:rPr lang="en-US" sz="950" b="1" spc="100" kern="0" dirty="0">
                <a:solidFill>
                  <a:srgbClr val="50E6FF"/>
                </a:solidFill>
                <a:latin typeface="Calibri" pitchFamily="34" charset="0"/>
                <a:ea typeface="Calibri" pitchFamily="34" charset="-122"/>
                <a:cs typeface="Calibri" pitchFamily="34" charset="-120"/>
              </a:rPr>
              <a:t>PRESENTATION TYPE</a:t>
            </a:r>
            <a:endParaRPr lang="en-US" sz="950" dirty="0"/>
          </a:p>
        </p:txBody>
      </p:sp>
      <p:sp>
        <p:nvSpPr>
          <p:cNvPr id="15" name="Text 13"/>
          <p:cNvSpPr/>
          <p:nvPr/>
        </p:nvSpPr>
        <p:spPr>
          <a:xfrm>
            <a:off x="3154680" y="5870448"/>
            <a:ext cx="3017520" cy="329184"/>
          </a:xfrm>
          <a:prstGeom prst="rect">
            <a:avLst/>
          </a:prstGeom>
          <a:noFill/>
          <a:ln/>
        </p:spPr>
        <p:txBody>
          <a:bodyPr wrap="square"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Cloud Computing Project Demonstration</a:t>
            </a:r>
            <a:endParaRPr lang="en-US" sz="1100" dirty="0"/>
          </a:p>
        </p:txBody>
      </p:sp>
      <p:sp>
        <p:nvSpPr>
          <p:cNvPr id="16" name="Shape 14"/>
          <p:cNvSpPr/>
          <p:nvPr/>
        </p:nvSpPr>
        <p:spPr>
          <a:xfrm>
            <a:off x="9646920" y="5029200"/>
            <a:ext cx="1371600" cy="1371600"/>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17" name="Image 0" descr="/home/claude/azure-ppt/icons/cloud_white.png">    </p:cNvPr>
          <p:cNvPicPr>
            <a:picLocks noChangeAspect="1"/>
          </p:cNvPicPr>
          <p:nvPr/>
        </p:nvPicPr>
        <p:blipFill>
          <a:blip r:embed="rId1"/>
          <a:stretch>
            <a:fillRect/>
          </a:stretch>
        </p:blipFill>
        <p:spPr>
          <a:xfrm>
            <a:off x="9825228" y="5207508"/>
            <a:ext cx="1014984" cy="1014984"/>
          </a:xfrm>
          <a:prstGeom prst="rect">
            <a:avLst/>
          </a:prstGeom>
        </p:spPr>
      </p:pic>
      <p:sp>
        <p:nvSpPr>
          <p:cNvPr id="18" name="Text 15"/>
          <p:cNvSpPr/>
          <p:nvPr/>
        </p:nvSpPr>
        <p:spPr>
          <a:xfrm>
            <a:off x="457200" y="6547104"/>
            <a:ext cx="7315200" cy="256032"/>
          </a:xfrm>
          <a:prstGeom prst="rect">
            <a:avLst/>
          </a:prstGeom>
          <a:noFill/>
          <a:ln/>
        </p:spPr>
        <p:txBody>
          <a:bodyPr wrap="square" rtlCol="0" anchor="ctr"/>
          <a:lstStyle/>
          <a:p>
            <a:pPr algn="l" indent="0" marL="0">
              <a:buNone/>
            </a:pPr>
            <a:r>
              <a:rPr lang="en-US" sz="850" spc="100" kern="0" dirty="0">
                <a:solidFill>
                  <a:srgbClr val="5B6B7C"/>
                </a:solidFill>
                <a:latin typeface="Calibri" pitchFamily="34" charset="0"/>
                <a:ea typeface="Calibri" pitchFamily="34" charset="-122"/>
                <a:cs typeface="Calibri" pitchFamily="34" charset="-120"/>
              </a:rPr>
              <a:t>AZURE STORAGE PERFORMANCE TIER SELECTION</a:t>
            </a:r>
            <a:endParaRPr lang="en-US" sz="850" dirty="0"/>
          </a:p>
        </p:txBody>
      </p:sp>
      <p:sp>
        <p:nvSpPr>
          <p:cNvPr id="19" name="Shape 16"/>
          <p:cNvSpPr/>
          <p:nvPr/>
        </p:nvSpPr>
        <p:spPr>
          <a:xfrm>
            <a:off x="11414455" y="6492240"/>
            <a:ext cx="329184" cy="329184"/>
          </a:xfrm>
          <a:prstGeom prst="ellipse">
            <a:avLst/>
          </a:prstGeom>
          <a:solidFill>
            <a:srgbClr val="0078D4"/>
          </a:solidFill>
          <a:ln/>
        </p:spPr>
      </p:sp>
      <p:sp>
        <p:nvSpPr>
          <p:cNvPr id="20" name="Text 17"/>
          <p:cNvSpPr/>
          <p:nvPr/>
        </p:nvSpPr>
        <p:spPr>
          <a:xfrm>
            <a:off x="11414455" y="6492240"/>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9FD"/>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algn="l" indent="0" marL="0">
              <a:buNone/>
            </a:pPr>
            <a:r>
              <a:rPr lang="en-US" sz="1250" b="1" spc="220" kern="0" dirty="0">
                <a:solidFill>
                  <a:srgbClr val="0078D4"/>
                </a:solidFill>
                <a:latin typeface="Calibri" pitchFamily="34" charset="0"/>
                <a:ea typeface="Calibri" pitchFamily="34" charset="-122"/>
                <a:cs typeface="Calibri" pitchFamily="34" charset="-120"/>
              </a:rPr>
              <a:t>INTRODUCTION</a:t>
            </a:r>
            <a:endParaRPr lang="en-US" sz="1250" dirty="0"/>
          </a:p>
        </p:txBody>
      </p:sp>
      <p:sp>
        <p:nvSpPr>
          <p:cNvPr id="3" name="Text 1"/>
          <p:cNvSpPr/>
          <p:nvPr/>
        </p:nvSpPr>
        <p:spPr>
          <a:xfrm>
            <a:off x="548640" y="658368"/>
            <a:ext cx="10789920" cy="640080"/>
          </a:xfrm>
          <a:prstGeom prst="rect">
            <a:avLst/>
          </a:prstGeom>
          <a:noFill/>
          <a:ln/>
        </p:spPr>
        <p:txBody>
          <a:bodyPr wrap="square" rtlCol="0" anchor="ctr"/>
          <a:lstStyle/>
          <a:p>
            <a:pPr algn="l" indent="0" marL="0">
              <a:buNone/>
            </a:pPr>
            <a:r>
              <a:rPr lang="en-US" sz="3000" b="1" dirty="0">
                <a:solidFill>
                  <a:srgbClr val="002050"/>
                </a:solidFill>
                <a:latin typeface="Cambria" pitchFamily="34" charset="0"/>
                <a:ea typeface="Cambria" pitchFamily="34" charset="-122"/>
                <a:cs typeface="Cambria" pitchFamily="34" charset="-120"/>
              </a:rPr>
              <a:t>Introduction to Azure Storage</a:t>
            </a:r>
            <a:endParaRPr lang="en-US" sz="3000" dirty="0"/>
          </a:p>
        </p:txBody>
      </p:sp>
      <p:sp>
        <p:nvSpPr>
          <p:cNvPr id="4" name="Shape 2"/>
          <p:cNvSpPr/>
          <p:nvPr/>
        </p:nvSpPr>
        <p:spPr>
          <a:xfrm>
            <a:off x="548640" y="1481328"/>
            <a:ext cx="5943600" cy="1298448"/>
          </a:xfrm>
          <a:prstGeom prst="roundRect">
            <a:avLst>
              <a:gd name="adj" fmla="val 5634"/>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5" name="Shape 3"/>
          <p:cNvSpPr/>
          <p:nvPr/>
        </p:nvSpPr>
        <p:spPr>
          <a:xfrm>
            <a:off x="749808" y="1700784"/>
            <a:ext cx="859536" cy="859536"/>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6" name="Image 0" descr="/home/claude/azure-ppt/icons/cloud_white.png">    </p:cNvPr>
          <p:cNvPicPr>
            <a:picLocks noChangeAspect="1"/>
          </p:cNvPicPr>
          <p:nvPr/>
        </p:nvPicPr>
        <p:blipFill>
          <a:blip r:embed="rId1"/>
          <a:stretch>
            <a:fillRect/>
          </a:stretch>
        </p:blipFill>
        <p:spPr>
          <a:xfrm>
            <a:off x="870143" y="1821119"/>
            <a:ext cx="618866" cy="618866"/>
          </a:xfrm>
          <a:prstGeom prst="rect">
            <a:avLst/>
          </a:prstGeom>
        </p:spPr>
      </p:pic>
      <p:sp>
        <p:nvSpPr>
          <p:cNvPr id="7" name="Text 4"/>
          <p:cNvSpPr/>
          <p:nvPr/>
        </p:nvSpPr>
        <p:spPr>
          <a:xfrm>
            <a:off x="1783080" y="1591056"/>
            <a:ext cx="4526280" cy="310896"/>
          </a:xfrm>
          <a:prstGeom prst="rect">
            <a:avLst/>
          </a:prstGeom>
          <a:noFill/>
          <a:ln/>
        </p:spPr>
        <p:txBody>
          <a:bodyPr wrap="square" rtlCol="0" anchor="ctr"/>
          <a:lstStyle/>
          <a:p>
            <a:pPr indent="0" marL="0">
              <a:buNone/>
            </a:pPr>
            <a:r>
              <a:rPr lang="en-US" sz="1500" b="1" dirty="0">
                <a:solidFill>
                  <a:srgbClr val="002050"/>
                </a:solidFill>
                <a:latin typeface="Cambria" pitchFamily="34" charset="0"/>
                <a:ea typeface="Cambria" pitchFamily="34" charset="-122"/>
                <a:cs typeface="Cambria" pitchFamily="34" charset="-120"/>
              </a:rPr>
              <a:t>What Is Azure Storage?</a:t>
            </a:r>
            <a:endParaRPr lang="en-US" sz="1500" dirty="0"/>
          </a:p>
        </p:txBody>
      </p:sp>
      <p:sp>
        <p:nvSpPr>
          <p:cNvPr id="8" name="Text 5"/>
          <p:cNvSpPr/>
          <p:nvPr/>
        </p:nvSpPr>
        <p:spPr>
          <a:xfrm>
            <a:off x="1783080" y="1901952"/>
            <a:ext cx="4526280" cy="777240"/>
          </a:xfrm>
          <a:prstGeom prst="rect">
            <a:avLst/>
          </a:prstGeom>
          <a:noFill/>
          <a:ln/>
        </p:spPr>
        <p:txBody>
          <a:bodyPr wrap="square" rtlCol="0" anchor="ctr"/>
          <a:lstStyle/>
          <a:p>
            <a:pPr indent="0" marL="0">
              <a:lnSpc>
                <a:spcPct val="112000"/>
              </a:lnSpc>
              <a:buNone/>
            </a:pPr>
            <a:r>
              <a:rPr lang="en-US" sz="1150" dirty="0">
                <a:solidFill>
                  <a:srgbClr val="5B6B7C"/>
                </a:solidFill>
                <a:latin typeface="Calibri" pitchFamily="34" charset="0"/>
                <a:ea typeface="Calibri" pitchFamily="34" charset="-122"/>
                <a:cs typeface="Calibri" pitchFamily="34" charset="-120"/>
              </a:rPr>
              <a:t>Microsoft Azure's managed cloud service for storing data — disks, files, blobs, tables, and queues — accessed securely over the internet or a private network.</a:t>
            </a:r>
            <a:endParaRPr lang="en-US" sz="1150" dirty="0"/>
          </a:p>
        </p:txBody>
      </p:sp>
      <p:sp>
        <p:nvSpPr>
          <p:cNvPr id="9" name="Shape 6"/>
          <p:cNvSpPr/>
          <p:nvPr/>
        </p:nvSpPr>
        <p:spPr>
          <a:xfrm>
            <a:off x="548640" y="2962656"/>
            <a:ext cx="5943600" cy="1298448"/>
          </a:xfrm>
          <a:prstGeom prst="roundRect">
            <a:avLst>
              <a:gd name="adj" fmla="val 5634"/>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10" name="Shape 7"/>
          <p:cNvSpPr/>
          <p:nvPr/>
        </p:nvSpPr>
        <p:spPr>
          <a:xfrm>
            <a:off x="749808" y="3182112"/>
            <a:ext cx="859536" cy="859536"/>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11" name="Image 1" descr="/home/claude/azure-ppt/icons/tachometer_white.png">    </p:cNvPr>
          <p:cNvPicPr>
            <a:picLocks noChangeAspect="1"/>
          </p:cNvPicPr>
          <p:nvPr/>
        </p:nvPicPr>
        <p:blipFill>
          <a:blip r:embed="rId2"/>
          <a:stretch>
            <a:fillRect/>
          </a:stretch>
        </p:blipFill>
        <p:spPr>
          <a:xfrm>
            <a:off x="870143" y="3302447"/>
            <a:ext cx="618866" cy="618866"/>
          </a:xfrm>
          <a:prstGeom prst="rect">
            <a:avLst/>
          </a:prstGeom>
        </p:spPr>
      </p:pic>
      <p:sp>
        <p:nvSpPr>
          <p:cNvPr id="12" name="Text 8"/>
          <p:cNvSpPr/>
          <p:nvPr/>
        </p:nvSpPr>
        <p:spPr>
          <a:xfrm>
            <a:off x="1783080" y="3072384"/>
            <a:ext cx="4526280" cy="310896"/>
          </a:xfrm>
          <a:prstGeom prst="rect">
            <a:avLst/>
          </a:prstGeom>
          <a:noFill/>
          <a:ln/>
        </p:spPr>
        <p:txBody>
          <a:bodyPr wrap="square" rtlCol="0" anchor="ctr"/>
          <a:lstStyle/>
          <a:p>
            <a:pPr indent="0" marL="0">
              <a:buNone/>
            </a:pPr>
            <a:r>
              <a:rPr lang="en-US" sz="1500" b="1" dirty="0">
                <a:solidFill>
                  <a:srgbClr val="002050"/>
                </a:solidFill>
                <a:latin typeface="Cambria" pitchFamily="34" charset="0"/>
                <a:ea typeface="Cambria" pitchFamily="34" charset="-122"/>
                <a:cs typeface="Cambria" pitchFamily="34" charset="-120"/>
              </a:rPr>
              <a:t>Why Performance Matters</a:t>
            </a:r>
            <a:endParaRPr lang="en-US" sz="1500" dirty="0"/>
          </a:p>
        </p:txBody>
      </p:sp>
      <p:sp>
        <p:nvSpPr>
          <p:cNvPr id="13" name="Text 9"/>
          <p:cNvSpPr/>
          <p:nvPr/>
        </p:nvSpPr>
        <p:spPr>
          <a:xfrm>
            <a:off x="1783080" y="3383280"/>
            <a:ext cx="4526280" cy="777240"/>
          </a:xfrm>
          <a:prstGeom prst="rect">
            <a:avLst/>
          </a:prstGeom>
          <a:noFill/>
          <a:ln/>
        </p:spPr>
        <p:txBody>
          <a:bodyPr wrap="square" rtlCol="0" anchor="ctr"/>
          <a:lstStyle/>
          <a:p>
            <a:pPr indent="0" marL="0">
              <a:lnSpc>
                <a:spcPct val="112000"/>
              </a:lnSpc>
              <a:buNone/>
            </a:pPr>
            <a:r>
              <a:rPr lang="en-US" sz="1150" dirty="0">
                <a:solidFill>
                  <a:srgbClr val="5B6B7C"/>
                </a:solidFill>
                <a:latin typeface="Calibri" pitchFamily="34" charset="0"/>
                <a:ea typeface="Calibri" pitchFamily="34" charset="-122"/>
                <a:cs typeface="Calibri" pitchFamily="34" charset="-120"/>
              </a:rPr>
              <a:t>Cloud application responsiveness depends directly on how fast storage can read and write data, especially for transactional, user-facing workloads.</a:t>
            </a:r>
            <a:endParaRPr lang="en-US" sz="1150" dirty="0"/>
          </a:p>
        </p:txBody>
      </p:sp>
      <p:sp>
        <p:nvSpPr>
          <p:cNvPr id="14" name="Shape 10"/>
          <p:cNvSpPr/>
          <p:nvPr/>
        </p:nvSpPr>
        <p:spPr>
          <a:xfrm>
            <a:off x="548640" y="4443984"/>
            <a:ext cx="5943600" cy="1298448"/>
          </a:xfrm>
          <a:prstGeom prst="roundRect">
            <a:avLst>
              <a:gd name="adj" fmla="val 5634"/>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15" name="Shape 11"/>
          <p:cNvSpPr/>
          <p:nvPr/>
        </p:nvSpPr>
        <p:spPr>
          <a:xfrm>
            <a:off x="749808" y="4663440"/>
            <a:ext cx="859536" cy="859536"/>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16" name="Image 2" descr="/home/claude/azure-ppt/icons/chart_white.png">    </p:cNvPr>
          <p:cNvPicPr>
            <a:picLocks noChangeAspect="1"/>
          </p:cNvPicPr>
          <p:nvPr/>
        </p:nvPicPr>
        <p:blipFill>
          <a:blip r:embed="rId3"/>
          <a:stretch>
            <a:fillRect/>
          </a:stretch>
        </p:blipFill>
        <p:spPr>
          <a:xfrm>
            <a:off x="870143" y="4783775"/>
            <a:ext cx="618866" cy="618866"/>
          </a:xfrm>
          <a:prstGeom prst="rect">
            <a:avLst/>
          </a:prstGeom>
        </p:spPr>
      </p:pic>
      <p:sp>
        <p:nvSpPr>
          <p:cNvPr id="17" name="Text 12"/>
          <p:cNvSpPr/>
          <p:nvPr/>
        </p:nvSpPr>
        <p:spPr>
          <a:xfrm>
            <a:off x="1783080" y="4553712"/>
            <a:ext cx="4526280" cy="310896"/>
          </a:xfrm>
          <a:prstGeom prst="rect">
            <a:avLst/>
          </a:prstGeom>
          <a:noFill/>
          <a:ln/>
        </p:spPr>
        <p:txBody>
          <a:bodyPr wrap="square" rtlCol="0" anchor="ctr"/>
          <a:lstStyle/>
          <a:p>
            <a:pPr indent="0" marL="0">
              <a:buNone/>
            </a:pPr>
            <a:r>
              <a:rPr lang="en-US" sz="1500" b="1" dirty="0">
                <a:solidFill>
                  <a:srgbClr val="002050"/>
                </a:solidFill>
                <a:latin typeface="Cambria" pitchFamily="34" charset="0"/>
                <a:ea typeface="Cambria" pitchFamily="34" charset="-122"/>
                <a:cs typeface="Cambria" pitchFamily="34" charset="-120"/>
              </a:rPr>
              <a:t>IOPS, Throughput &amp; Latency</a:t>
            </a:r>
            <a:endParaRPr lang="en-US" sz="1500" dirty="0"/>
          </a:p>
        </p:txBody>
      </p:sp>
      <p:sp>
        <p:nvSpPr>
          <p:cNvPr id="18" name="Text 13"/>
          <p:cNvSpPr/>
          <p:nvPr/>
        </p:nvSpPr>
        <p:spPr>
          <a:xfrm>
            <a:off x="1783080" y="4864608"/>
            <a:ext cx="4526280" cy="777240"/>
          </a:xfrm>
          <a:prstGeom prst="rect">
            <a:avLst/>
          </a:prstGeom>
          <a:noFill/>
          <a:ln/>
        </p:spPr>
        <p:txBody>
          <a:bodyPr wrap="square" rtlCol="0" anchor="ctr"/>
          <a:lstStyle/>
          <a:p>
            <a:pPr indent="0" marL="0">
              <a:lnSpc>
                <a:spcPct val="112000"/>
              </a:lnSpc>
              <a:buNone/>
            </a:pPr>
            <a:r>
              <a:rPr lang="en-US" sz="1150" dirty="0">
                <a:solidFill>
                  <a:srgbClr val="5B6B7C"/>
                </a:solidFill>
                <a:latin typeface="Calibri" pitchFamily="34" charset="0"/>
                <a:ea typeface="Calibri" pitchFamily="34" charset="-122"/>
                <a:cs typeface="Calibri" pitchFamily="34" charset="-120"/>
              </a:rPr>
              <a:t>IOPS (operations/sec), throughput (MB/s), and latency (response delay) together define how well storage keeps pace with application demand.</a:t>
            </a:r>
            <a:endParaRPr lang="en-US" sz="1150" dirty="0"/>
          </a:p>
        </p:txBody>
      </p:sp>
      <p:sp>
        <p:nvSpPr>
          <p:cNvPr id="19" name="Shape 14"/>
          <p:cNvSpPr/>
          <p:nvPr/>
        </p:nvSpPr>
        <p:spPr>
          <a:xfrm>
            <a:off x="6858000" y="1481328"/>
            <a:ext cx="4800600" cy="4663440"/>
          </a:xfrm>
          <a:prstGeom prst="roundRect">
            <a:avLst>
              <a:gd name="adj" fmla="val 1569"/>
            </a:avLst>
          </a:prstGeom>
          <a:solidFill>
            <a:srgbClr val="002050"/>
          </a:solidFill>
          <a:ln w="12700">
            <a:solidFill>
              <a:srgbClr val="002050"/>
            </a:solidFill>
            <a:prstDash val="solid"/>
          </a:ln>
        </p:spPr>
      </p:sp>
      <p:sp>
        <p:nvSpPr>
          <p:cNvPr id="20" name="Text 15"/>
          <p:cNvSpPr/>
          <p:nvPr/>
        </p:nvSpPr>
        <p:spPr>
          <a:xfrm>
            <a:off x="7086600" y="1645920"/>
            <a:ext cx="4343400" cy="274320"/>
          </a:xfrm>
          <a:prstGeom prst="rect">
            <a:avLst/>
          </a:prstGeom>
          <a:noFill/>
          <a:ln/>
        </p:spPr>
        <p:txBody>
          <a:bodyPr wrap="square" rtlCol="0" anchor="ctr"/>
          <a:lstStyle/>
          <a:p>
            <a:pPr indent="0" marL="0">
              <a:buNone/>
            </a:pPr>
            <a:r>
              <a:rPr lang="en-US" sz="1050" b="1" spc="120" kern="0" dirty="0">
                <a:solidFill>
                  <a:srgbClr val="50E6FF"/>
                </a:solidFill>
                <a:latin typeface="Calibri" pitchFamily="34" charset="0"/>
                <a:ea typeface="Calibri" pitchFamily="34" charset="-122"/>
                <a:cs typeface="Calibri" pitchFamily="34" charset="-120"/>
              </a:rPr>
              <a:t>SIMPLE AZURE STORAGE ARCHITECTURE</a:t>
            </a:r>
            <a:endParaRPr lang="en-US" sz="1050" dirty="0"/>
          </a:p>
        </p:txBody>
      </p:sp>
      <p:sp>
        <p:nvSpPr>
          <p:cNvPr id="21" name="Shape 16"/>
          <p:cNvSpPr/>
          <p:nvPr/>
        </p:nvSpPr>
        <p:spPr>
          <a:xfrm>
            <a:off x="7680960" y="2148840"/>
            <a:ext cx="3291840" cy="868680"/>
          </a:xfrm>
          <a:prstGeom prst="roundRect">
            <a:avLst>
              <a:gd name="adj" fmla="val 8421"/>
            </a:avLst>
          </a:prstGeom>
          <a:solidFill>
            <a:srgbClr val="0A2E5C"/>
          </a:solidFill>
          <a:ln w="12700">
            <a:solidFill>
              <a:srgbClr val="2B88D8"/>
            </a:solidFill>
            <a:prstDash val="solid"/>
          </a:ln>
        </p:spPr>
      </p:sp>
      <p:sp>
        <p:nvSpPr>
          <p:cNvPr id="22" name="Shape 17"/>
          <p:cNvSpPr/>
          <p:nvPr/>
        </p:nvSpPr>
        <p:spPr>
          <a:xfrm>
            <a:off x="7808976" y="2322576"/>
            <a:ext cx="530352" cy="530352"/>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23" name="Image 3" descr="/home/claude/azure-ppt/icons/desktop_white.png">    </p:cNvPr>
          <p:cNvPicPr>
            <a:picLocks noChangeAspect="1"/>
          </p:cNvPicPr>
          <p:nvPr/>
        </p:nvPicPr>
        <p:blipFill>
          <a:blip r:embed="rId4"/>
          <a:stretch>
            <a:fillRect/>
          </a:stretch>
        </p:blipFill>
        <p:spPr>
          <a:xfrm>
            <a:off x="7877922" y="2391522"/>
            <a:ext cx="392460" cy="392460"/>
          </a:xfrm>
          <a:prstGeom prst="rect">
            <a:avLst/>
          </a:prstGeom>
        </p:spPr>
      </p:pic>
      <p:sp>
        <p:nvSpPr>
          <p:cNvPr id="24" name="Text 18"/>
          <p:cNvSpPr/>
          <p:nvPr/>
        </p:nvSpPr>
        <p:spPr>
          <a:xfrm>
            <a:off x="8458200" y="2148840"/>
            <a:ext cx="2377440" cy="868680"/>
          </a:xfrm>
          <a:prstGeom prst="rect">
            <a:avLst/>
          </a:prstGeom>
          <a:noFill/>
          <a:ln/>
        </p:spPr>
        <p:txBody>
          <a:bodyPr wrap="square" rtlCol="0" anchor="ctr"/>
          <a:lstStyle/>
          <a:p>
            <a:pPr indent="0" marL="0">
              <a:lnSpc>
                <a:spcPct val="100000"/>
              </a:lnSpc>
              <a:buNone/>
            </a:pPr>
            <a:r>
              <a:rPr lang="en-US" sz="1200" b="1" dirty="0">
                <a:solidFill>
                  <a:srgbClr val="FFFFFF"/>
                </a:solidFill>
                <a:latin typeface="Calibri" pitchFamily="34" charset="0"/>
                <a:ea typeface="Calibri" pitchFamily="34" charset="-122"/>
                <a:cs typeface="Calibri" pitchFamily="34" charset="-120"/>
              </a:rPr>
              <a:t>Client Application</a:t>
            </a:r>
            <a:endParaRPr lang="en-US" sz="1200" dirty="0"/>
          </a:p>
        </p:txBody>
      </p:sp>
      <p:sp>
        <p:nvSpPr>
          <p:cNvPr id="25" name="Shape 19"/>
          <p:cNvSpPr/>
          <p:nvPr/>
        </p:nvSpPr>
        <p:spPr>
          <a:xfrm>
            <a:off x="9208008" y="3044952"/>
            <a:ext cx="237744" cy="256032"/>
          </a:xfrm>
          <a:prstGeom prst="downArrow">
            <a:avLst/>
          </a:prstGeom>
          <a:solidFill>
            <a:srgbClr val="50E6FF"/>
          </a:solidFill>
          <a:ln/>
        </p:spPr>
      </p:sp>
      <p:sp>
        <p:nvSpPr>
          <p:cNvPr id="26" name="Shape 20"/>
          <p:cNvSpPr/>
          <p:nvPr/>
        </p:nvSpPr>
        <p:spPr>
          <a:xfrm>
            <a:off x="7680960" y="3319272"/>
            <a:ext cx="3291840" cy="868680"/>
          </a:xfrm>
          <a:prstGeom prst="roundRect">
            <a:avLst>
              <a:gd name="adj" fmla="val 8421"/>
            </a:avLst>
          </a:prstGeom>
          <a:solidFill>
            <a:srgbClr val="0A2E5C"/>
          </a:solidFill>
          <a:ln w="12700">
            <a:solidFill>
              <a:srgbClr val="2B88D8"/>
            </a:solidFill>
            <a:prstDash val="solid"/>
          </a:ln>
        </p:spPr>
      </p:sp>
      <p:sp>
        <p:nvSpPr>
          <p:cNvPr id="27" name="Shape 21"/>
          <p:cNvSpPr/>
          <p:nvPr/>
        </p:nvSpPr>
        <p:spPr>
          <a:xfrm>
            <a:off x="7808976" y="3493008"/>
            <a:ext cx="530352" cy="530352"/>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28" name="Image 4" descr="/home/claude/azure-ppt/icons/network_white.png">    </p:cNvPr>
          <p:cNvPicPr>
            <a:picLocks noChangeAspect="1"/>
          </p:cNvPicPr>
          <p:nvPr/>
        </p:nvPicPr>
        <p:blipFill>
          <a:blip r:embed="rId5"/>
          <a:stretch>
            <a:fillRect/>
          </a:stretch>
        </p:blipFill>
        <p:spPr>
          <a:xfrm>
            <a:off x="7877922" y="3561954"/>
            <a:ext cx="392460" cy="392460"/>
          </a:xfrm>
          <a:prstGeom prst="rect">
            <a:avLst/>
          </a:prstGeom>
        </p:spPr>
      </p:pic>
      <p:sp>
        <p:nvSpPr>
          <p:cNvPr id="29" name="Text 22"/>
          <p:cNvSpPr/>
          <p:nvPr/>
        </p:nvSpPr>
        <p:spPr>
          <a:xfrm>
            <a:off x="8458200" y="3319272"/>
            <a:ext cx="2377440" cy="868680"/>
          </a:xfrm>
          <a:prstGeom prst="rect">
            <a:avLst/>
          </a:prstGeom>
          <a:noFill/>
          <a:ln/>
        </p:spPr>
        <p:txBody>
          <a:bodyPr wrap="square" rtlCol="0" anchor="ctr"/>
          <a:lstStyle/>
          <a:p>
            <a:pPr indent="0" marL="0">
              <a:lnSpc>
                <a:spcPct val="100000"/>
              </a:lnSpc>
              <a:buNone/>
            </a:pPr>
            <a:r>
              <a:rPr lang="en-US" sz="1200" b="1" dirty="0">
                <a:solidFill>
                  <a:srgbClr val="FFFFFF"/>
                </a:solidFill>
                <a:latin typeface="Calibri" pitchFamily="34" charset="0"/>
                <a:ea typeface="Calibri" pitchFamily="34" charset="-122"/>
                <a:cs typeface="Calibri" pitchFamily="34" charset="-120"/>
              </a:rPr>
              <a:t>Azure Network / Endpoint</a:t>
            </a:r>
            <a:endParaRPr lang="en-US" sz="1200" dirty="0"/>
          </a:p>
        </p:txBody>
      </p:sp>
      <p:sp>
        <p:nvSpPr>
          <p:cNvPr id="30" name="Shape 23"/>
          <p:cNvSpPr/>
          <p:nvPr/>
        </p:nvSpPr>
        <p:spPr>
          <a:xfrm>
            <a:off x="9208008" y="4215384"/>
            <a:ext cx="237744" cy="256032"/>
          </a:xfrm>
          <a:prstGeom prst="downArrow">
            <a:avLst/>
          </a:prstGeom>
          <a:solidFill>
            <a:srgbClr val="50E6FF"/>
          </a:solidFill>
          <a:ln/>
        </p:spPr>
      </p:sp>
      <p:sp>
        <p:nvSpPr>
          <p:cNvPr id="31" name="Shape 24"/>
          <p:cNvSpPr/>
          <p:nvPr/>
        </p:nvSpPr>
        <p:spPr>
          <a:xfrm>
            <a:off x="7680960" y="4489704"/>
            <a:ext cx="3291840" cy="868680"/>
          </a:xfrm>
          <a:prstGeom prst="roundRect">
            <a:avLst>
              <a:gd name="adj" fmla="val 8421"/>
            </a:avLst>
          </a:prstGeom>
          <a:solidFill>
            <a:srgbClr val="0A2E5C"/>
          </a:solidFill>
          <a:ln w="12700">
            <a:solidFill>
              <a:srgbClr val="2B88D8"/>
            </a:solidFill>
            <a:prstDash val="solid"/>
          </a:ln>
        </p:spPr>
      </p:sp>
      <p:sp>
        <p:nvSpPr>
          <p:cNvPr id="32" name="Shape 25"/>
          <p:cNvSpPr/>
          <p:nvPr/>
        </p:nvSpPr>
        <p:spPr>
          <a:xfrm>
            <a:off x="7808976" y="4663440"/>
            <a:ext cx="530352" cy="530352"/>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33" name="Image 5" descr="/home/claude/azure-ppt/icons/hdd_white.png">    </p:cNvPr>
          <p:cNvPicPr>
            <a:picLocks noChangeAspect="1"/>
          </p:cNvPicPr>
          <p:nvPr/>
        </p:nvPicPr>
        <p:blipFill>
          <a:blip r:embed="rId6"/>
          <a:stretch>
            <a:fillRect/>
          </a:stretch>
        </p:blipFill>
        <p:spPr>
          <a:xfrm>
            <a:off x="7877922" y="4732386"/>
            <a:ext cx="392460" cy="392460"/>
          </a:xfrm>
          <a:prstGeom prst="rect">
            <a:avLst/>
          </a:prstGeom>
        </p:spPr>
      </p:pic>
      <p:sp>
        <p:nvSpPr>
          <p:cNvPr id="34" name="Text 26"/>
          <p:cNvSpPr/>
          <p:nvPr/>
        </p:nvSpPr>
        <p:spPr>
          <a:xfrm>
            <a:off x="8458200" y="4489704"/>
            <a:ext cx="2377440" cy="868680"/>
          </a:xfrm>
          <a:prstGeom prst="rect">
            <a:avLst/>
          </a:prstGeom>
          <a:noFill/>
          <a:ln/>
        </p:spPr>
        <p:txBody>
          <a:bodyPr wrap="square" rtlCol="0" anchor="ctr"/>
          <a:lstStyle/>
          <a:p>
            <a:pPr indent="0" marL="0">
              <a:lnSpc>
                <a:spcPct val="100000"/>
              </a:lnSpc>
              <a:buNone/>
            </a:pPr>
            <a:r>
              <a:rPr lang="en-US" sz="1200" b="1" dirty="0">
                <a:solidFill>
                  <a:srgbClr val="FFFFFF"/>
                </a:solidFill>
                <a:latin typeface="Calibri" pitchFamily="34" charset="0"/>
                <a:ea typeface="Calibri" pitchFamily="34" charset="-122"/>
                <a:cs typeface="Calibri" pitchFamily="34" charset="-120"/>
              </a:rPr>
              <a:t>Azure Storage</a:t>
            </a:r>
            <a:endParaRPr lang="en-US" sz="1200" dirty="0"/>
          </a:p>
          <a:p>
            <a:pPr indent="0" marL="0">
              <a:lnSpc>
                <a:spcPct val="100000"/>
              </a:lnSpc>
              <a:buNone/>
            </a:pPr>
            <a:r>
              <a:rPr lang="en-US" sz="1200" b="1" dirty="0">
                <a:solidFill>
                  <a:srgbClr val="FFFFFF"/>
                </a:solidFill>
                <a:latin typeface="Calibri" pitchFamily="34" charset="0"/>
                <a:ea typeface="Calibri" pitchFamily="34" charset="-122"/>
                <a:cs typeface="Calibri" pitchFamily="34" charset="-120"/>
              </a:rPr>
              <a:t>(Disk / Blob / File)</a:t>
            </a:r>
            <a:endParaRPr lang="en-US" sz="1200" dirty="0"/>
          </a:p>
        </p:txBody>
      </p:sp>
      <p:sp>
        <p:nvSpPr>
          <p:cNvPr id="35" name="Text 27"/>
          <p:cNvSpPr/>
          <p:nvPr/>
        </p:nvSpPr>
        <p:spPr>
          <a:xfrm>
            <a:off x="7086600" y="5797296"/>
            <a:ext cx="4343400" cy="502920"/>
          </a:xfrm>
          <a:prstGeom prst="rect">
            <a:avLst/>
          </a:prstGeom>
          <a:noFill/>
          <a:ln/>
        </p:spPr>
        <p:txBody>
          <a:bodyPr wrap="square" rtlCol="0" anchor="ctr"/>
          <a:lstStyle/>
          <a:p>
            <a:pPr indent="0" marL="0">
              <a:lnSpc>
                <a:spcPct val="110000"/>
              </a:lnSpc>
              <a:buNone/>
            </a:pPr>
            <a:r>
              <a:rPr lang="en-US" sz="1000" i="1" dirty="0">
                <a:solidFill>
                  <a:srgbClr val="CFE3F7"/>
                </a:solidFill>
                <a:latin typeface="Calibri" pitchFamily="34" charset="0"/>
                <a:ea typeface="Calibri" pitchFamily="34" charset="-122"/>
                <a:cs typeface="Calibri" pitchFamily="34" charset="-120"/>
              </a:rPr>
              <a:t>Data flows securely from application to durable, scalable storage.</a:t>
            </a:r>
            <a:endParaRPr lang="en-US" sz="1000" dirty="0"/>
          </a:p>
        </p:txBody>
      </p:sp>
      <p:sp>
        <p:nvSpPr>
          <p:cNvPr id="36" name="Text 28"/>
          <p:cNvSpPr/>
          <p:nvPr/>
        </p:nvSpPr>
        <p:spPr>
          <a:xfrm>
            <a:off x="457200" y="6547104"/>
            <a:ext cx="7315200" cy="256032"/>
          </a:xfrm>
          <a:prstGeom prst="rect">
            <a:avLst/>
          </a:prstGeom>
          <a:noFill/>
          <a:ln/>
        </p:spPr>
        <p:txBody>
          <a:bodyPr wrap="square" rtlCol="0" anchor="ctr"/>
          <a:lstStyle/>
          <a:p>
            <a:pPr algn="l" indent="0" marL="0">
              <a:buNone/>
            </a:pPr>
            <a:r>
              <a:rPr lang="en-US" sz="850" spc="100" kern="0" dirty="0">
                <a:solidFill>
                  <a:srgbClr val="5B6B7C"/>
                </a:solidFill>
                <a:latin typeface="Calibri" pitchFamily="34" charset="0"/>
                <a:ea typeface="Calibri" pitchFamily="34" charset="-122"/>
                <a:cs typeface="Calibri" pitchFamily="34" charset="-120"/>
              </a:rPr>
              <a:t>AZURE STORAGE PERFORMANCE TIER SELECTION</a:t>
            </a:r>
            <a:endParaRPr lang="en-US" sz="850" dirty="0"/>
          </a:p>
        </p:txBody>
      </p:sp>
      <p:sp>
        <p:nvSpPr>
          <p:cNvPr id="37" name="Shape 29"/>
          <p:cNvSpPr/>
          <p:nvPr/>
        </p:nvSpPr>
        <p:spPr>
          <a:xfrm>
            <a:off x="11414455" y="6492240"/>
            <a:ext cx="329184" cy="329184"/>
          </a:xfrm>
          <a:prstGeom prst="ellipse">
            <a:avLst/>
          </a:prstGeom>
          <a:solidFill>
            <a:srgbClr val="0078D4"/>
          </a:solidFill>
          <a:ln/>
        </p:spPr>
      </p:sp>
      <p:sp>
        <p:nvSpPr>
          <p:cNvPr id="38" name="Text 30"/>
          <p:cNvSpPr/>
          <p:nvPr/>
        </p:nvSpPr>
        <p:spPr>
          <a:xfrm>
            <a:off x="11414455" y="6492240"/>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02050"/>
        </a:solidFill>
      </p:bgPr>
    </p:bg>
    <p:spTree>
      <p:nvGrpSpPr>
        <p:cNvPr id="1" name=""/>
        <p:cNvGrpSpPr/>
        <p:nvPr/>
      </p:nvGrpSpPr>
      <p:grpSpPr>
        <a:xfrm>
          <a:off x="0" y="0"/>
          <a:ext cx="0" cy="0"/>
          <a:chOff x="0" y="0"/>
          <a:chExt cx="0" cy="0"/>
        </a:xfrm>
      </p:grpSpPr>
      <p:sp>
        <p:nvSpPr>
          <p:cNvPr id="2" name="Shape 0"/>
          <p:cNvSpPr/>
          <p:nvPr/>
        </p:nvSpPr>
        <p:spPr>
          <a:xfrm>
            <a:off x="9692640" y="4206240"/>
            <a:ext cx="4114800" cy="4114800"/>
          </a:xfrm>
          <a:prstGeom prst="ellipse">
            <a:avLst/>
          </a:prstGeom>
          <a:solidFill>
            <a:srgbClr val="0A2E5C"/>
          </a:solidFill>
          <a:ln/>
        </p:spPr>
      </p:sp>
      <p:sp>
        <p:nvSpPr>
          <p:cNvPr id="3" name="Text 1"/>
          <p:cNvSpPr/>
          <p:nvPr/>
        </p:nvSpPr>
        <p:spPr>
          <a:xfrm>
            <a:off x="548640" y="384048"/>
            <a:ext cx="7315200" cy="292608"/>
          </a:xfrm>
          <a:prstGeom prst="rect">
            <a:avLst/>
          </a:prstGeom>
          <a:noFill/>
          <a:ln/>
        </p:spPr>
        <p:txBody>
          <a:bodyPr wrap="square" rtlCol="0" anchor="ctr"/>
          <a:lstStyle/>
          <a:p>
            <a:pPr algn="l" indent="0" marL="0">
              <a:buNone/>
            </a:pPr>
            <a:r>
              <a:rPr lang="en-US" sz="1250" b="1" spc="220" kern="0" dirty="0">
                <a:solidFill>
                  <a:srgbClr val="50E6FF"/>
                </a:solidFill>
                <a:latin typeface="Calibri" pitchFamily="34" charset="0"/>
                <a:ea typeface="Calibri" pitchFamily="34" charset="-122"/>
                <a:cs typeface="Calibri" pitchFamily="34" charset="-120"/>
              </a:rPr>
              <a:t>PROBLEM STATEMENT</a:t>
            </a:r>
            <a:endParaRPr lang="en-US" sz="1250" dirty="0"/>
          </a:p>
        </p:txBody>
      </p:sp>
      <p:sp>
        <p:nvSpPr>
          <p:cNvPr id="4" name="Text 2"/>
          <p:cNvSpPr/>
          <p:nvPr/>
        </p:nvSpPr>
        <p:spPr>
          <a:xfrm>
            <a:off x="548640" y="658368"/>
            <a:ext cx="10515600" cy="640080"/>
          </a:xfrm>
          <a:prstGeom prst="rect">
            <a:avLst/>
          </a:prstGeom>
          <a:noFill/>
          <a:ln/>
        </p:spPr>
        <p:txBody>
          <a:bodyPr wrap="square"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Why Performance Tier Selection Matters</a:t>
            </a:r>
            <a:endParaRPr lang="en-US" sz="3000" dirty="0"/>
          </a:p>
        </p:txBody>
      </p:sp>
      <p:sp>
        <p:nvSpPr>
          <p:cNvPr id="5" name="Shape 3"/>
          <p:cNvSpPr/>
          <p:nvPr/>
        </p:nvSpPr>
        <p:spPr>
          <a:xfrm>
            <a:off x="640080" y="1600200"/>
            <a:ext cx="10881360" cy="1417320"/>
          </a:xfrm>
          <a:prstGeom prst="roundRect">
            <a:avLst>
              <a:gd name="adj" fmla="val 5161"/>
            </a:avLst>
          </a:prstGeom>
          <a:solidFill>
            <a:srgbClr val="0A2E5C"/>
          </a:solidFill>
          <a:ln w="12700">
            <a:solidFill>
              <a:srgbClr val="15477F"/>
            </a:solidFill>
            <a:prstDash val="solid"/>
          </a:ln>
        </p:spPr>
      </p:sp>
      <p:sp>
        <p:nvSpPr>
          <p:cNvPr id="6" name="Shape 4"/>
          <p:cNvSpPr/>
          <p:nvPr/>
        </p:nvSpPr>
        <p:spPr>
          <a:xfrm>
            <a:off x="896112" y="1856232"/>
            <a:ext cx="914400" cy="914400"/>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7" name="Image 0" descr="/home/claude/azure-ppt/icons/layer_white.png">    </p:cNvPr>
          <p:cNvPicPr>
            <a:picLocks noChangeAspect="1"/>
          </p:cNvPicPr>
          <p:nvPr/>
        </p:nvPicPr>
        <p:blipFill>
          <a:blip r:embed="rId1"/>
          <a:stretch>
            <a:fillRect/>
          </a:stretch>
        </p:blipFill>
        <p:spPr>
          <a:xfrm>
            <a:off x="1014984" y="1975104"/>
            <a:ext cx="676656" cy="676656"/>
          </a:xfrm>
          <a:prstGeom prst="rect">
            <a:avLst/>
          </a:prstGeom>
        </p:spPr>
      </p:pic>
      <p:sp>
        <p:nvSpPr>
          <p:cNvPr id="8" name="Text 5"/>
          <p:cNvSpPr/>
          <p:nvPr/>
        </p:nvSpPr>
        <p:spPr>
          <a:xfrm>
            <a:off x="2011680" y="1783080"/>
            <a:ext cx="9235440" cy="1051560"/>
          </a:xfrm>
          <a:prstGeom prst="rect">
            <a:avLst/>
          </a:prstGeom>
          <a:noFill/>
          <a:ln/>
        </p:spPr>
        <p:txBody>
          <a:bodyPr wrap="square" rtlCol="0" anchor="ctr"/>
          <a:lstStyle/>
          <a:p>
            <a:pPr indent="0" marL="0">
              <a:lnSpc>
                <a:spcPct val="125000"/>
              </a:lnSpc>
              <a:buNone/>
            </a:pPr>
            <a:r>
              <a:rPr lang="en-US" sz="1400" dirty="0">
                <a:solidFill>
                  <a:srgbClr val="E4EFFB"/>
                </a:solidFill>
                <a:latin typeface="Calibri" pitchFamily="34" charset="0"/>
                <a:ea typeface="Calibri" pitchFamily="34" charset="-122"/>
                <a:cs typeface="Calibri" pitchFamily="34" charset="-120"/>
              </a:rPr>
              <a:t>Modern cloud applications place very different demands on storage — from light archival access to high-frequency transactional read/write — depending entirely on the nature of the workload they support.</a:t>
            </a:r>
            <a:endParaRPr lang="en-US" sz="1400" dirty="0"/>
          </a:p>
        </p:txBody>
      </p:sp>
      <p:sp>
        <p:nvSpPr>
          <p:cNvPr id="9" name="Shape 6"/>
          <p:cNvSpPr/>
          <p:nvPr/>
        </p:nvSpPr>
        <p:spPr>
          <a:xfrm>
            <a:off x="640080" y="3337560"/>
            <a:ext cx="10881360" cy="2331720"/>
          </a:xfrm>
          <a:prstGeom prst="roundRect">
            <a:avLst>
              <a:gd name="adj" fmla="val 3137"/>
            </a:avLst>
          </a:prstGeom>
          <a:solidFill>
            <a:srgbClr val="0078D4"/>
          </a:solidFill>
          <a:ln w="12700">
            <a:solidFill>
              <a:srgbClr val="0078D4"/>
            </a:solidFill>
            <a:prstDash val="solid"/>
          </a:ln>
        </p:spPr>
      </p:sp>
      <p:sp>
        <p:nvSpPr>
          <p:cNvPr id="10" name="Text 7"/>
          <p:cNvSpPr/>
          <p:nvPr/>
        </p:nvSpPr>
        <p:spPr>
          <a:xfrm>
            <a:off x="1005840" y="3566160"/>
            <a:ext cx="10058400" cy="292608"/>
          </a:xfrm>
          <a:prstGeom prst="rect">
            <a:avLst/>
          </a:prstGeom>
          <a:noFill/>
          <a:ln/>
        </p:spPr>
        <p:txBody>
          <a:bodyPr wrap="square" rtlCol="0" anchor="ctr"/>
          <a:lstStyle/>
          <a:p>
            <a:pPr indent="0" marL="0">
              <a:buNone/>
            </a:pPr>
            <a:r>
              <a:rPr lang="en-US" sz="1150" b="1" spc="200" kern="0" dirty="0">
                <a:solidFill>
                  <a:srgbClr val="50E6FF"/>
                </a:solidFill>
                <a:latin typeface="Calibri" pitchFamily="34" charset="0"/>
                <a:ea typeface="Calibri" pitchFamily="34" charset="-122"/>
                <a:cs typeface="Calibri" pitchFamily="34" charset="-120"/>
              </a:rPr>
              <a:t>THE CORE PROBLEM</a:t>
            </a:r>
            <a:endParaRPr lang="en-US" sz="1150" dirty="0"/>
          </a:p>
        </p:txBody>
      </p:sp>
      <p:sp>
        <p:nvSpPr>
          <p:cNvPr id="11" name="Text 8"/>
          <p:cNvSpPr/>
          <p:nvPr/>
        </p:nvSpPr>
        <p:spPr>
          <a:xfrm>
            <a:off x="1005840" y="3886200"/>
            <a:ext cx="10149840" cy="1554480"/>
          </a:xfrm>
          <a:prstGeom prst="rect">
            <a:avLst/>
          </a:prstGeom>
          <a:noFill/>
          <a:ln/>
        </p:spPr>
        <p:txBody>
          <a:bodyPr wrap="square" rtlCol="0" anchor="ctr"/>
          <a:lstStyle/>
          <a:p>
            <a:pPr indent="0" marL="0">
              <a:lnSpc>
                <a:spcPct val="120000"/>
              </a:lnSpc>
              <a:buNone/>
            </a:pPr>
            <a:r>
              <a:rPr lang="en-US" sz="2200" b="1" i="1" dirty="0">
                <a:solidFill>
                  <a:srgbClr val="FFFFFF"/>
                </a:solidFill>
                <a:latin typeface="Cambria" pitchFamily="34" charset="0"/>
                <a:ea typeface="Cambria" pitchFamily="34" charset="-122"/>
                <a:cs typeface="Cambria" pitchFamily="34" charset="-120"/>
              </a:rPr>
              <a:t>“How can we select the appropriate Azure Storage performance tier to achieve the required application performance while controlling cost?”</a:t>
            </a:r>
            <a:endParaRPr lang="en-US" sz="2200" dirty="0"/>
          </a:p>
        </p:txBody>
      </p:sp>
      <p:sp>
        <p:nvSpPr>
          <p:cNvPr id="12" name="Text 9"/>
          <p:cNvSpPr/>
          <p:nvPr/>
        </p:nvSpPr>
        <p:spPr>
          <a:xfrm>
            <a:off x="640080" y="5852160"/>
            <a:ext cx="10881360" cy="457200"/>
          </a:xfrm>
          <a:prstGeom prst="rect">
            <a:avLst/>
          </a:prstGeom>
          <a:noFill/>
          <a:ln/>
        </p:spPr>
        <p:txBody>
          <a:bodyPr wrap="square" rtlCol="0" anchor="ctr"/>
          <a:lstStyle/>
          <a:p>
            <a:pPr algn="ctr" indent="0" marL="0">
              <a:buNone/>
            </a:pPr>
            <a:r>
              <a:rPr lang="en-US" sz="1250" i="1" dirty="0">
                <a:solidFill>
                  <a:srgbClr val="CFE3F7"/>
                </a:solidFill>
                <a:latin typeface="Calibri" pitchFamily="34" charset="0"/>
                <a:ea typeface="Calibri" pitchFamily="34" charset="-122"/>
                <a:cs typeface="Calibri" pitchFamily="34" charset="-120"/>
              </a:rPr>
              <a:t>Balancing performance requirements against budget constraints is the central engineering challenge addressed by this project.</a:t>
            </a:r>
            <a:endParaRPr lang="en-US" sz="1250" dirty="0"/>
          </a:p>
        </p:txBody>
      </p:sp>
      <p:sp>
        <p:nvSpPr>
          <p:cNvPr id="13" name="Text 10"/>
          <p:cNvSpPr/>
          <p:nvPr/>
        </p:nvSpPr>
        <p:spPr>
          <a:xfrm>
            <a:off x="457200" y="6547104"/>
            <a:ext cx="7315200" cy="256032"/>
          </a:xfrm>
          <a:prstGeom prst="rect">
            <a:avLst/>
          </a:prstGeom>
          <a:noFill/>
          <a:ln/>
        </p:spPr>
        <p:txBody>
          <a:bodyPr wrap="square" rtlCol="0" anchor="ctr"/>
          <a:lstStyle/>
          <a:p>
            <a:pPr algn="l" indent="0" marL="0">
              <a:buNone/>
            </a:pPr>
            <a:r>
              <a:rPr lang="en-US" sz="850" spc="100" kern="0" dirty="0">
                <a:solidFill>
                  <a:srgbClr val="5B6B7C"/>
                </a:solidFill>
                <a:latin typeface="Calibri" pitchFamily="34" charset="0"/>
                <a:ea typeface="Calibri" pitchFamily="34" charset="-122"/>
                <a:cs typeface="Calibri" pitchFamily="34" charset="-120"/>
              </a:rPr>
              <a:t>AZURE STORAGE PERFORMANCE TIER SELECTION</a:t>
            </a:r>
            <a:endParaRPr lang="en-US" sz="850" dirty="0"/>
          </a:p>
        </p:txBody>
      </p:sp>
      <p:sp>
        <p:nvSpPr>
          <p:cNvPr id="14" name="Shape 11"/>
          <p:cNvSpPr/>
          <p:nvPr/>
        </p:nvSpPr>
        <p:spPr>
          <a:xfrm>
            <a:off x="11414455" y="6492240"/>
            <a:ext cx="329184" cy="329184"/>
          </a:xfrm>
          <a:prstGeom prst="ellipse">
            <a:avLst/>
          </a:prstGeom>
          <a:solidFill>
            <a:srgbClr val="0078D4"/>
          </a:solidFill>
          <a:ln/>
        </p:spPr>
      </p:sp>
      <p:sp>
        <p:nvSpPr>
          <p:cNvPr id="15" name="Text 12"/>
          <p:cNvSpPr/>
          <p:nvPr/>
        </p:nvSpPr>
        <p:spPr>
          <a:xfrm>
            <a:off x="11414455" y="6492240"/>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9FD"/>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algn="l" indent="0" marL="0">
              <a:buNone/>
            </a:pPr>
            <a:r>
              <a:rPr lang="en-US" sz="1250" b="1" spc="220" kern="0" dirty="0">
                <a:solidFill>
                  <a:srgbClr val="0078D4"/>
                </a:solidFill>
                <a:latin typeface="Calibri" pitchFamily="34" charset="0"/>
                <a:ea typeface="Calibri" pitchFamily="34" charset="-122"/>
                <a:cs typeface="Calibri" pitchFamily="34" charset="-120"/>
              </a:rPr>
              <a:t>PROJECT OBJECTIVE</a:t>
            </a:r>
            <a:endParaRPr lang="en-US" sz="1250" dirty="0"/>
          </a:p>
        </p:txBody>
      </p:sp>
      <p:sp>
        <p:nvSpPr>
          <p:cNvPr id="3" name="Text 1"/>
          <p:cNvSpPr/>
          <p:nvPr/>
        </p:nvSpPr>
        <p:spPr>
          <a:xfrm>
            <a:off x="548640" y="658368"/>
            <a:ext cx="10789920" cy="640080"/>
          </a:xfrm>
          <a:prstGeom prst="rect">
            <a:avLst/>
          </a:prstGeom>
          <a:noFill/>
          <a:ln/>
        </p:spPr>
        <p:txBody>
          <a:bodyPr wrap="square" rtlCol="0" anchor="ctr"/>
          <a:lstStyle/>
          <a:p>
            <a:pPr algn="l" indent="0" marL="0">
              <a:buNone/>
            </a:pPr>
            <a:r>
              <a:rPr lang="en-US" sz="3000" b="1" dirty="0">
                <a:solidFill>
                  <a:srgbClr val="002050"/>
                </a:solidFill>
                <a:latin typeface="Cambria" pitchFamily="34" charset="0"/>
                <a:ea typeface="Cambria" pitchFamily="34" charset="-122"/>
                <a:cs typeface="Cambria" pitchFamily="34" charset="-120"/>
              </a:rPr>
              <a:t>What This Project Sets Out to Do</a:t>
            </a:r>
            <a:endParaRPr lang="en-US" sz="3000" dirty="0"/>
          </a:p>
        </p:txBody>
      </p:sp>
      <p:sp>
        <p:nvSpPr>
          <p:cNvPr id="4" name="Shape 2"/>
          <p:cNvSpPr/>
          <p:nvPr/>
        </p:nvSpPr>
        <p:spPr>
          <a:xfrm>
            <a:off x="548640" y="1600200"/>
            <a:ext cx="3611880" cy="2148840"/>
          </a:xfrm>
          <a:prstGeom prst="roundRect">
            <a:avLst>
              <a:gd name="adj" fmla="val 3404"/>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5" name="Shape 3"/>
          <p:cNvSpPr/>
          <p:nvPr/>
        </p:nvSpPr>
        <p:spPr>
          <a:xfrm>
            <a:off x="804672" y="1892808"/>
            <a:ext cx="713232" cy="713232"/>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6" name="Image 0" descr="/home/claude/azure-ppt/icons/search_white.png">    </p:cNvPr>
          <p:cNvPicPr>
            <a:picLocks noChangeAspect="1"/>
          </p:cNvPicPr>
          <p:nvPr/>
        </p:nvPicPr>
        <p:blipFill>
          <a:blip r:embed="rId1"/>
          <a:stretch>
            <a:fillRect/>
          </a:stretch>
        </p:blipFill>
        <p:spPr>
          <a:xfrm>
            <a:off x="904524" y="1992660"/>
            <a:ext cx="513527" cy="513527"/>
          </a:xfrm>
          <a:prstGeom prst="rect">
            <a:avLst/>
          </a:prstGeom>
        </p:spPr>
      </p:pic>
      <p:sp>
        <p:nvSpPr>
          <p:cNvPr id="7" name="Text 4"/>
          <p:cNvSpPr/>
          <p:nvPr/>
        </p:nvSpPr>
        <p:spPr>
          <a:xfrm>
            <a:off x="3383280" y="1728216"/>
            <a:ext cx="640080" cy="365760"/>
          </a:xfrm>
          <a:prstGeom prst="rect">
            <a:avLst/>
          </a:prstGeom>
          <a:noFill/>
          <a:ln/>
        </p:spPr>
        <p:txBody>
          <a:bodyPr wrap="square" rtlCol="0" anchor="ctr"/>
          <a:lstStyle/>
          <a:p>
            <a:pPr algn="r" indent="0" marL="0">
              <a:buNone/>
            </a:pPr>
            <a:r>
              <a:rPr lang="en-US" sz="2000" b="1" dirty="0">
                <a:solidFill>
                  <a:srgbClr val="D7E6F5"/>
                </a:solidFill>
                <a:latin typeface="Cambria" pitchFamily="34" charset="0"/>
                <a:ea typeface="Cambria" pitchFamily="34" charset="-122"/>
                <a:cs typeface="Cambria" pitchFamily="34" charset="-120"/>
              </a:rPr>
              <a:t>01</a:t>
            </a:r>
            <a:endParaRPr lang="en-US" sz="2000" dirty="0"/>
          </a:p>
        </p:txBody>
      </p:sp>
      <p:sp>
        <p:nvSpPr>
          <p:cNvPr id="8" name="Text 5"/>
          <p:cNvSpPr/>
          <p:nvPr/>
        </p:nvSpPr>
        <p:spPr>
          <a:xfrm>
            <a:off x="804672" y="2679192"/>
            <a:ext cx="3099816" cy="502920"/>
          </a:xfrm>
          <a:prstGeom prst="rect">
            <a:avLst/>
          </a:prstGeom>
          <a:noFill/>
          <a:ln/>
        </p:spPr>
        <p:txBody>
          <a:bodyPr wrap="square" rtlCol="0" anchor="ctr"/>
          <a:lstStyle/>
          <a:p>
            <a:pPr indent="0" marL="0">
              <a:lnSpc>
                <a:spcPct val="105000"/>
              </a:lnSpc>
              <a:buNone/>
            </a:pPr>
            <a:r>
              <a:rPr lang="en-US" sz="1450" b="1" dirty="0">
                <a:solidFill>
                  <a:srgbClr val="002050"/>
                </a:solidFill>
                <a:latin typeface="Cambria" pitchFamily="34" charset="0"/>
                <a:ea typeface="Cambria" pitchFamily="34" charset="-122"/>
                <a:cs typeface="Cambria" pitchFamily="34" charset="-120"/>
              </a:rPr>
              <a:t>Analyze Workload Requirements</a:t>
            </a:r>
            <a:endParaRPr lang="en-US" sz="1450" dirty="0"/>
          </a:p>
        </p:txBody>
      </p:sp>
      <p:sp>
        <p:nvSpPr>
          <p:cNvPr id="9" name="Text 6"/>
          <p:cNvSpPr/>
          <p:nvPr/>
        </p:nvSpPr>
        <p:spPr>
          <a:xfrm>
            <a:off x="804672" y="3136392"/>
            <a:ext cx="3099816" cy="548640"/>
          </a:xfrm>
          <a:prstGeom prst="rect">
            <a:avLst/>
          </a:prstGeom>
          <a:noFill/>
          <a:ln/>
        </p:spPr>
        <p:txBody>
          <a:bodyPr wrap="square" rtlCol="0" anchor="ctr"/>
          <a:lstStyle/>
          <a:p>
            <a:pPr indent="0" marL="0">
              <a:lnSpc>
                <a:spcPct val="115000"/>
              </a:lnSpc>
              <a:buNone/>
            </a:pPr>
            <a:r>
              <a:rPr lang="en-US" sz="1080" dirty="0">
                <a:solidFill>
                  <a:srgbClr val="5B6B7C"/>
                </a:solidFill>
                <a:latin typeface="Calibri" pitchFamily="34" charset="0"/>
                <a:ea typeface="Calibri" pitchFamily="34" charset="-122"/>
                <a:cs typeface="Calibri" pitchFamily="34" charset="-120"/>
              </a:rPr>
              <a:t>Identify access patterns, latency, and throughput needs of the target application.</a:t>
            </a:r>
            <a:endParaRPr lang="en-US" sz="1080" dirty="0"/>
          </a:p>
        </p:txBody>
      </p:sp>
      <p:sp>
        <p:nvSpPr>
          <p:cNvPr id="10" name="Shape 7"/>
          <p:cNvSpPr/>
          <p:nvPr/>
        </p:nvSpPr>
        <p:spPr>
          <a:xfrm>
            <a:off x="4389120" y="1600200"/>
            <a:ext cx="3611880" cy="2148840"/>
          </a:xfrm>
          <a:prstGeom prst="roundRect">
            <a:avLst>
              <a:gd name="adj" fmla="val 3404"/>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11" name="Shape 8"/>
          <p:cNvSpPr/>
          <p:nvPr/>
        </p:nvSpPr>
        <p:spPr>
          <a:xfrm>
            <a:off x="4645152" y="1892808"/>
            <a:ext cx="713232" cy="713232"/>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12" name="Image 1" descr="/home/claude/azure-ppt/icons/layer_white.png">    </p:cNvPr>
          <p:cNvPicPr>
            <a:picLocks noChangeAspect="1"/>
          </p:cNvPicPr>
          <p:nvPr/>
        </p:nvPicPr>
        <p:blipFill>
          <a:blip r:embed="rId2"/>
          <a:stretch>
            <a:fillRect/>
          </a:stretch>
        </p:blipFill>
        <p:spPr>
          <a:xfrm>
            <a:off x="4745004" y="1992660"/>
            <a:ext cx="513527" cy="513527"/>
          </a:xfrm>
          <a:prstGeom prst="rect">
            <a:avLst/>
          </a:prstGeom>
        </p:spPr>
      </p:pic>
      <p:sp>
        <p:nvSpPr>
          <p:cNvPr id="13" name="Text 9"/>
          <p:cNvSpPr/>
          <p:nvPr/>
        </p:nvSpPr>
        <p:spPr>
          <a:xfrm>
            <a:off x="7223760" y="1728216"/>
            <a:ext cx="640080" cy="365760"/>
          </a:xfrm>
          <a:prstGeom prst="rect">
            <a:avLst/>
          </a:prstGeom>
          <a:noFill/>
          <a:ln/>
        </p:spPr>
        <p:txBody>
          <a:bodyPr wrap="square" rtlCol="0" anchor="ctr"/>
          <a:lstStyle/>
          <a:p>
            <a:pPr algn="r" indent="0" marL="0">
              <a:buNone/>
            </a:pPr>
            <a:r>
              <a:rPr lang="en-US" sz="2000" b="1" dirty="0">
                <a:solidFill>
                  <a:srgbClr val="D7E6F5"/>
                </a:solidFill>
                <a:latin typeface="Cambria" pitchFamily="34" charset="0"/>
                <a:ea typeface="Cambria" pitchFamily="34" charset="-122"/>
                <a:cs typeface="Cambria" pitchFamily="34" charset="-120"/>
              </a:rPr>
              <a:t>02</a:t>
            </a:r>
            <a:endParaRPr lang="en-US" sz="2000" dirty="0"/>
          </a:p>
        </p:txBody>
      </p:sp>
      <p:sp>
        <p:nvSpPr>
          <p:cNvPr id="14" name="Text 10"/>
          <p:cNvSpPr/>
          <p:nvPr/>
        </p:nvSpPr>
        <p:spPr>
          <a:xfrm>
            <a:off x="4645152" y="2679192"/>
            <a:ext cx="3099816" cy="502920"/>
          </a:xfrm>
          <a:prstGeom prst="rect">
            <a:avLst/>
          </a:prstGeom>
          <a:noFill/>
          <a:ln/>
        </p:spPr>
        <p:txBody>
          <a:bodyPr wrap="square" rtlCol="0" anchor="ctr"/>
          <a:lstStyle/>
          <a:p>
            <a:pPr indent="0" marL="0">
              <a:lnSpc>
                <a:spcPct val="105000"/>
              </a:lnSpc>
              <a:buNone/>
            </a:pPr>
            <a:r>
              <a:rPr lang="en-US" sz="1450" b="1" dirty="0">
                <a:solidFill>
                  <a:srgbClr val="002050"/>
                </a:solidFill>
                <a:latin typeface="Cambria" pitchFamily="34" charset="0"/>
                <a:ea typeface="Cambria" pitchFamily="34" charset="-122"/>
                <a:cs typeface="Cambria" pitchFamily="34" charset="-120"/>
              </a:rPr>
              <a:t>Understand Storage Options</a:t>
            </a:r>
            <a:endParaRPr lang="en-US" sz="1450" dirty="0"/>
          </a:p>
        </p:txBody>
      </p:sp>
      <p:sp>
        <p:nvSpPr>
          <p:cNvPr id="15" name="Text 11"/>
          <p:cNvSpPr/>
          <p:nvPr/>
        </p:nvSpPr>
        <p:spPr>
          <a:xfrm>
            <a:off x="4645152" y="3136392"/>
            <a:ext cx="3099816" cy="548640"/>
          </a:xfrm>
          <a:prstGeom prst="rect">
            <a:avLst/>
          </a:prstGeom>
          <a:noFill/>
          <a:ln/>
        </p:spPr>
        <p:txBody>
          <a:bodyPr wrap="square" rtlCol="0" anchor="ctr"/>
          <a:lstStyle/>
          <a:p>
            <a:pPr indent="0" marL="0">
              <a:lnSpc>
                <a:spcPct val="115000"/>
              </a:lnSpc>
              <a:buNone/>
            </a:pPr>
            <a:r>
              <a:rPr lang="en-US" sz="1080" dirty="0">
                <a:solidFill>
                  <a:srgbClr val="5B6B7C"/>
                </a:solidFill>
                <a:latin typeface="Calibri" pitchFamily="34" charset="0"/>
                <a:ea typeface="Calibri" pitchFamily="34" charset="-122"/>
                <a:cs typeface="Calibri" pitchFamily="34" charset="-120"/>
              </a:rPr>
              <a:t>Study Azure’s storage performance tiers — HDD, Standard SSD, and Premium SSD.</a:t>
            </a:r>
            <a:endParaRPr lang="en-US" sz="1080" dirty="0"/>
          </a:p>
        </p:txBody>
      </p:sp>
      <p:sp>
        <p:nvSpPr>
          <p:cNvPr id="16" name="Shape 12"/>
          <p:cNvSpPr/>
          <p:nvPr/>
        </p:nvSpPr>
        <p:spPr>
          <a:xfrm>
            <a:off x="8229600" y="1600200"/>
            <a:ext cx="3611880" cy="2148840"/>
          </a:xfrm>
          <a:prstGeom prst="roundRect">
            <a:avLst>
              <a:gd name="adj" fmla="val 3404"/>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17" name="Shape 13"/>
          <p:cNvSpPr/>
          <p:nvPr/>
        </p:nvSpPr>
        <p:spPr>
          <a:xfrm>
            <a:off x="8485632" y="1892808"/>
            <a:ext cx="713232" cy="713232"/>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18" name="Image 2" descr="/home/claude/azure-ppt/icons/bullseye_white.png">    </p:cNvPr>
          <p:cNvPicPr>
            <a:picLocks noChangeAspect="1"/>
          </p:cNvPicPr>
          <p:nvPr/>
        </p:nvPicPr>
        <p:blipFill>
          <a:blip r:embed="rId3"/>
          <a:stretch>
            <a:fillRect/>
          </a:stretch>
        </p:blipFill>
        <p:spPr>
          <a:xfrm>
            <a:off x="8585484" y="1992660"/>
            <a:ext cx="513527" cy="513527"/>
          </a:xfrm>
          <a:prstGeom prst="rect">
            <a:avLst/>
          </a:prstGeom>
        </p:spPr>
      </p:pic>
      <p:sp>
        <p:nvSpPr>
          <p:cNvPr id="19" name="Text 14"/>
          <p:cNvSpPr/>
          <p:nvPr/>
        </p:nvSpPr>
        <p:spPr>
          <a:xfrm>
            <a:off x="11064240" y="1728216"/>
            <a:ext cx="640080" cy="365760"/>
          </a:xfrm>
          <a:prstGeom prst="rect">
            <a:avLst/>
          </a:prstGeom>
          <a:noFill/>
          <a:ln/>
        </p:spPr>
        <p:txBody>
          <a:bodyPr wrap="square" rtlCol="0" anchor="ctr"/>
          <a:lstStyle/>
          <a:p>
            <a:pPr algn="r" indent="0" marL="0">
              <a:buNone/>
            </a:pPr>
            <a:r>
              <a:rPr lang="en-US" sz="2000" b="1" dirty="0">
                <a:solidFill>
                  <a:srgbClr val="D7E6F5"/>
                </a:solidFill>
                <a:latin typeface="Cambria" pitchFamily="34" charset="0"/>
                <a:ea typeface="Cambria" pitchFamily="34" charset="-122"/>
                <a:cs typeface="Cambria" pitchFamily="34" charset="-120"/>
              </a:rPr>
              <a:t>03</a:t>
            </a:r>
            <a:endParaRPr lang="en-US" sz="2000" dirty="0"/>
          </a:p>
        </p:txBody>
      </p:sp>
      <p:sp>
        <p:nvSpPr>
          <p:cNvPr id="20" name="Text 15"/>
          <p:cNvSpPr/>
          <p:nvPr/>
        </p:nvSpPr>
        <p:spPr>
          <a:xfrm>
            <a:off x="8485632" y="2679192"/>
            <a:ext cx="3099816" cy="502920"/>
          </a:xfrm>
          <a:prstGeom prst="rect">
            <a:avLst/>
          </a:prstGeom>
          <a:noFill/>
          <a:ln/>
        </p:spPr>
        <p:txBody>
          <a:bodyPr wrap="square" rtlCol="0" anchor="ctr"/>
          <a:lstStyle/>
          <a:p>
            <a:pPr indent="0" marL="0">
              <a:lnSpc>
                <a:spcPct val="105000"/>
              </a:lnSpc>
              <a:buNone/>
            </a:pPr>
            <a:r>
              <a:rPr lang="en-US" sz="1450" b="1" dirty="0">
                <a:solidFill>
                  <a:srgbClr val="002050"/>
                </a:solidFill>
                <a:latin typeface="Cambria" pitchFamily="34" charset="0"/>
                <a:ea typeface="Cambria" pitchFamily="34" charset="-122"/>
                <a:cs typeface="Cambria" pitchFamily="34" charset="-120"/>
              </a:rPr>
              <a:t>Select the Suitable Tier</a:t>
            </a:r>
            <a:endParaRPr lang="en-US" sz="1450" dirty="0"/>
          </a:p>
        </p:txBody>
      </p:sp>
      <p:sp>
        <p:nvSpPr>
          <p:cNvPr id="21" name="Text 16"/>
          <p:cNvSpPr/>
          <p:nvPr/>
        </p:nvSpPr>
        <p:spPr>
          <a:xfrm>
            <a:off x="8485632" y="3136392"/>
            <a:ext cx="3099816" cy="548640"/>
          </a:xfrm>
          <a:prstGeom prst="rect">
            <a:avLst/>
          </a:prstGeom>
          <a:noFill/>
          <a:ln/>
        </p:spPr>
        <p:txBody>
          <a:bodyPr wrap="square" rtlCol="0" anchor="ctr"/>
          <a:lstStyle/>
          <a:p>
            <a:pPr indent="0" marL="0">
              <a:lnSpc>
                <a:spcPct val="115000"/>
              </a:lnSpc>
              <a:buNone/>
            </a:pPr>
            <a:r>
              <a:rPr lang="en-US" sz="1080" dirty="0">
                <a:solidFill>
                  <a:srgbClr val="5B6B7C"/>
                </a:solidFill>
                <a:latin typeface="Calibri" pitchFamily="34" charset="0"/>
                <a:ea typeface="Calibri" pitchFamily="34" charset="-122"/>
                <a:cs typeface="Calibri" pitchFamily="34" charset="-120"/>
              </a:rPr>
              <a:t>Match workload demands to the most appropriate performance tier.</a:t>
            </a:r>
            <a:endParaRPr lang="en-US" sz="1080" dirty="0"/>
          </a:p>
        </p:txBody>
      </p:sp>
      <p:sp>
        <p:nvSpPr>
          <p:cNvPr id="22" name="Shape 17"/>
          <p:cNvSpPr/>
          <p:nvPr/>
        </p:nvSpPr>
        <p:spPr>
          <a:xfrm>
            <a:off x="548640" y="4023360"/>
            <a:ext cx="3611880" cy="2148840"/>
          </a:xfrm>
          <a:prstGeom prst="roundRect">
            <a:avLst>
              <a:gd name="adj" fmla="val 3404"/>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23" name="Shape 18"/>
          <p:cNvSpPr/>
          <p:nvPr/>
        </p:nvSpPr>
        <p:spPr>
          <a:xfrm>
            <a:off x="804672" y="4315968"/>
            <a:ext cx="713232" cy="713232"/>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24" name="Image 3" descr="/home/claude/azure-ppt/icons/cogs_white.png">    </p:cNvPr>
          <p:cNvPicPr>
            <a:picLocks noChangeAspect="1"/>
          </p:cNvPicPr>
          <p:nvPr/>
        </p:nvPicPr>
        <p:blipFill>
          <a:blip r:embed="rId4"/>
          <a:stretch>
            <a:fillRect/>
          </a:stretch>
        </p:blipFill>
        <p:spPr>
          <a:xfrm>
            <a:off x="904524" y="4415820"/>
            <a:ext cx="513527" cy="513527"/>
          </a:xfrm>
          <a:prstGeom prst="rect">
            <a:avLst/>
          </a:prstGeom>
        </p:spPr>
      </p:pic>
      <p:sp>
        <p:nvSpPr>
          <p:cNvPr id="25" name="Text 19"/>
          <p:cNvSpPr/>
          <p:nvPr/>
        </p:nvSpPr>
        <p:spPr>
          <a:xfrm>
            <a:off x="3383280" y="4151376"/>
            <a:ext cx="640080" cy="365760"/>
          </a:xfrm>
          <a:prstGeom prst="rect">
            <a:avLst/>
          </a:prstGeom>
          <a:noFill/>
          <a:ln/>
        </p:spPr>
        <p:txBody>
          <a:bodyPr wrap="square" rtlCol="0" anchor="ctr"/>
          <a:lstStyle/>
          <a:p>
            <a:pPr algn="r" indent="0" marL="0">
              <a:buNone/>
            </a:pPr>
            <a:r>
              <a:rPr lang="en-US" sz="2000" b="1" dirty="0">
                <a:solidFill>
                  <a:srgbClr val="D7E6F5"/>
                </a:solidFill>
                <a:latin typeface="Cambria" pitchFamily="34" charset="0"/>
                <a:ea typeface="Cambria" pitchFamily="34" charset="-122"/>
                <a:cs typeface="Cambria" pitchFamily="34" charset="-120"/>
              </a:rPr>
              <a:t>04</a:t>
            </a:r>
            <a:endParaRPr lang="en-US" sz="2000" dirty="0"/>
          </a:p>
        </p:txBody>
      </p:sp>
      <p:sp>
        <p:nvSpPr>
          <p:cNvPr id="26" name="Text 20"/>
          <p:cNvSpPr/>
          <p:nvPr/>
        </p:nvSpPr>
        <p:spPr>
          <a:xfrm>
            <a:off x="804672" y="5102352"/>
            <a:ext cx="3099816" cy="502920"/>
          </a:xfrm>
          <a:prstGeom prst="rect">
            <a:avLst/>
          </a:prstGeom>
          <a:noFill/>
          <a:ln/>
        </p:spPr>
        <p:txBody>
          <a:bodyPr wrap="square" rtlCol="0" anchor="ctr"/>
          <a:lstStyle/>
          <a:p>
            <a:pPr indent="0" marL="0">
              <a:lnSpc>
                <a:spcPct val="105000"/>
              </a:lnSpc>
              <a:buNone/>
            </a:pPr>
            <a:r>
              <a:rPr lang="en-US" sz="1450" b="1" dirty="0">
                <a:solidFill>
                  <a:srgbClr val="002050"/>
                </a:solidFill>
                <a:latin typeface="Cambria" pitchFamily="34" charset="0"/>
                <a:ea typeface="Cambria" pitchFamily="34" charset="-122"/>
                <a:cs typeface="Cambria" pitchFamily="34" charset="-120"/>
              </a:rPr>
              <a:t>Configure Azure Resources</a:t>
            </a:r>
            <a:endParaRPr lang="en-US" sz="1450" dirty="0"/>
          </a:p>
        </p:txBody>
      </p:sp>
      <p:sp>
        <p:nvSpPr>
          <p:cNvPr id="27" name="Text 21"/>
          <p:cNvSpPr/>
          <p:nvPr/>
        </p:nvSpPr>
        <p:spPr>
          <a:xfrm>
            <a:off x="804672" y="5559552"/>
            <a:ext cx="3099816" cy="548640"/>
          </a:xfrm>
          <a:prstGeom prst="rect">
            <a:avLst/>
          </a:prstGeom>
          <a:noFill/>
          <a:ln/>
        </p:spPr>
        <p:txBody>
          <a:bodyPr wrap="square" rtlCol="0" anchor="ctr"/>
          <a:lstStyle/>
          <a:p>
            <a:pPr indent="0" marL="0">
              <a:lnSpc>
                <a:spcPct val="115000"/>
              </a:lnSpc>
              <a:buNone/>
            </a:pPr>
            <a:r>
              <a:rPr lang="en-US" sz="1080" dirty="0">
                <a:solidFill>
                  <a:srgbClr val="5B6B7C"/>
                </a:solidFill>
                <a:latin typeface="Calibri" pitchFamily="34" charset="0"/>
                <a:ea typeface="Calibri" pitchFamily="34" charset="-122"/>
                <a:cs typeface="Calibri" pitchFamily="34" charset="-120"/>
              </a:rPr>
              <a:t>Provision and configure managed disks and storage settings in Azure.</a:t>
            </a:r>
            <a:endParaRPr lang="en-US" sz="1080" dirty="0"/>
          </a:p>
        </p:txBody>
      </p:sp>
      <p:sp>
        <p:nvSpPr>
          <p:cNvPr id="28" name="Shape 22"/>
          <p:cNvSpPr/>
          <p:nvPr/>
        </p:nvSpPr>
        <p:spPr>
          <a:xfrm>
            <a:off x="4389120" y="4023360"/>
            <a:ext cx="3611880" cy="2148840"/>
          </a:xfrm>
          <a:prstGeom prst="roundRect">
            <a:avLst>
              <a:gd name="adj" fmla="val 3404"/>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29" name="Shape 23"/>
          <p:cNvSpPr/>
          <p:nvPr/>
        </p:nvSpPr>
        <p:spPr>
          <a:xfrm>
            <a:off x="4645152" y="4315968"/>
            <a:ext cx="713232" cy="713232"/>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30" name="Image 4" descr="/home/claude/azure-ppt/icons/chart_white.png">    </p:cNvPr>
          <p:cNvPicPr>
            <a:picLocks noChangeAspect="1"/>
          </p:cNvPicPr>
          <p:nvPr/>
        </p:nvPicPr>
        <p:blipFill>
          <a:blip r:embed="rId5"/>
          <a:stretch>
            <a:fillRect/>
          </a:stretch>
        </p:blipFill>
        <p:spPr>
          <a:xfrm>
            <a:off x="4745004" y="4415820"/>
            <a:ext cx="513527" cy="513527"/>
          </a:xfrm>
          <a:prstGeom prst="rect">
            <a:avLst/>
          </a:prstGeom>
        </p:spPr>
      </p:pic>
      <p:sp>
        <p:nvSpPr>
          <p:cNvPr id="31" name="Text 24"/>
          <p:cNvSpPr/>
          <p:nvPr/>
        </p:nvSpPr>
        <p:spPr>
          <a:xfrm>
            <a:off x="7223760" y="4151376"/>
            <a:ext cx="640080" cy="365760"/>
          </a:xfrm>
          <a:prstGeom prst="rect">
            <a:avLst/>
          </a:prstGeom>
          <a:noFill/>
          <a:ln/>
        </p:spPr>
        <p:txBody>
          <a:bodyPr wrap="square" rtlCol="0" anchor="ctr"/>
          <a:lstStyle/>
          <a:p>
            <a:pPr algn="r" indent="0" marL="0">
              <a:buNone/>
            </a:pPr>
            <a:r>
              <a:rPr lang="en-US" sz="2000" b="1" dirty="0">
                <a:solidFill>
                  <a:srgbClr val="D7E6F5"/>
                </a:solidFill>
                <a:latin typeface="Cambria" pitchFamily="34" charset="0"/>
                <a:ea typeface="Cambria" pitchFamily="34" charset="-122"/>
                <a:cs typeface="Cambria" pitchFamily="34" charset="-120"/>
              </a:rPr>
              <a:t>05</a:t>
            </a:r>
            <a:endParaRPr lang="en-US" sz="2000" dirty="0"/>
          </a:p>
        </p:txBody>
      </p:sp>
      <p:sp>
        <p:nvSpPr>
          <p:cNvPr id="32" name="Text 25"/>
          <p:cNvSpPr/>
          <p:nvPr/>
        </p:nvSpPr>
        <p:spPr>
          <a:xfrm>
            <a:off x="4645152" y="5102352"/>
            <a:ext cx="3099816" cy="502920"/>
          </a:xfrm>
          <a:prstGeom prst="rect">
            <a:avLst/>
          </a:prstGeom>
          <a:noFill/>
          <a:ln/>
        </p:spPr>
        <p:txBody>
          <a:bodyPr wrap="square" rtlCol="0" anchor="ctr"/>
          <a:lstStyle/>
          <a:p>
            <a:pPr indent="0" marL="0">
              <a:lnSpc>
                <a:spcPct val="105000"/>
              </a:lnSpc>
              <a:buNone/>
            </a:pPr>
            <a:r>
              <a:rPr lang="en-US" sz="1450" b="1" dirty="0">
                <a:solidFill>
                  <a:srgbClr val="002050"/>
                </a:solidFill>
                <a:latin typeface="Cambria" pitchFamily="34" charset="0"/>
                <a:ea typeface="Cambria" pitchFamily="34" charset="-122"/>
                <a:cs typeface="Cambria" pitchFamily="34" charset="-120"/>
              </a:rPr>
              <a:t>Compare Performance vs. Cost</a:t>
            </a:r>
            <a:endParaRPr lang="en-US" sz="1450" dirty="0"/>
          </a:p>
        </p:txBody>
      </p:sp>
      <p:sp>
        <p:nvSpPr>
          <p:cNvPr id="33" name="Text 26"/>
          <p:cNvSpPr/>
          <p:nvPr/>
        </p:nvSpPr>
        <p:spPr>
          <a:xfrm>
            <a:off x="4645152" y="5559552"/>
            <a:ext cx="3099816" cy="548640"/>
          </a:xfrm>
          <a:prstGeom prst="rect">
            <a:avLst/>
          </a:prstGeom>
          <a:noFill/>
          <a:ln/>
        </p:spPr>
        <p:txBody>
          <a:bodyPr wrap="square" rtlCol="0" anchor="ctr"/>
          <a:lstStyle/>
          <a:p>
            <a:pPr indent="0" marL="0">
              <a:lnSpc>
                <a:spcPct val="115000"/>
              </a:lnSpc>
              <a:buNone/>
            </a:pPr>
            <a:r>
              <a:rPr lang="en-US" sz="1080" dirty="0">
                <a:solidFill>
                  <a:srgbClr val="5B6B7C"/>
                </a:solidFill>
                <a:latin typeface="Calibri" pitchFamily="34" charset="0"/>
                <a:ea typeface="Calibri" pitchFamily="34" charset="-122"/>
                <a:cs typeface="Calibri" pitchFamily="34" charset="-120"/>
              </a:rPr>
              <a:t>Evaluate trade-offs to ensure an optimized, cost-aware solution.</a:t>
            </a:r>
            <a:endParaRPr lang="en-US" sz="1080" dirty="0"/>
          </a:p>
        </p:txBody>
      </p:sp>
      <p:sp>
        <p:nvSpPr>
          <p:cNvPr id="34" name="Text 27"/>
          <p:cNvSpPr/>
          <p:nvPr/>
        </p:nvSpPr>
        <p:spPr>
          <a:xfrm>
            <a:off x="457200" y="6547104"/>
            <a:ext cx="7315200" cy="256032"/>
          </a:xfrm>
          <a:prstGeom prst="rect">
            <a:avLst/>
          </a:prstGeom>
          <a:noFill/>
          <a:ln/>
        </p:spPr>
        <p:txBody>
          <a:bodyPr wrap="square" rtlCol="0" anchor="ctr"/>
          <a:lstStyle/>
          <a:p>
            <a:pPr algn="l" indent="0" marL="0">
              <a:buNone/>
            </a:pPr>
            <a:r>
              <a:rPr lang="en-US" sz="850" spc="100" kern="0" dirty="0">
                <a:solidFill>
                  <a:srgbClr val="5B6B7C"/>
                </a:solidFill>
                <a:latin typeface="Calibri" pitchFamily="34" charset="0"/>
                <a:ea typeface="Calibri" pitchFamily="34" charset="-122"/>
                <a:cs typeface="Calibri" pitchFamily="34" charset="-120"/>
              </a:rPr>
              <a:t>AZURE STORAGE PERFORMANCE TIER SELECTION</a:t>
            </a:r>
            <a:endParaRPr lang="en-US" sz="850" dirty="0"/>
          </a:p>
        </p:txBody>
      </p:sp>
      <p:sp>
        <p:nvSpPr>
          <p:cNvPr id="35" name="Shape 28"/>
          <p:cNvSpPr/>
          <p:nvPr/>
        </p:nvSpPr>
        <p:spPr>
          <a:xfrm>
            <a:off x="11414455" y="6492240"/>
            <a:ext cx="329184" cy="329184"/>
          </a:xfrm>
          <a:prstGeom prst="ellipse">
            <a:avLst/>
          </a:prstGeom>
          <a:solidFill>
            <a:srgbClr val="0078D4"/>
          </a:solidFill>
          <a:ln/>
        </p:spPr>
      </p:sp>
      <p:sp>
        <p:nvSpPr>
          <p:cNvPr id="36" name="Text 29"/>
          <p:cNvSpPr/>
          <p:nvPr/>
        </p:nvSpPr>
        <p:spPr>
          <a:xfrm>
            <a:off x="11414455" y="6492240"/>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9FD"/>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algn="l" indent="0" marL="0">
              <a:buNone/>
            </a:pPr>
            <a:r>
              <a:rPr lang="en-US" sz="1250" b="1" spc="220" kern="0" dirty="0">
                <a:solidFill>
                  <a:srgbClr val="0078D4"/>
                </a:solidFill>
                <a:latin typeface="Calibri" pitchFamily="34" charset="0"/>
                <a:ea typeface="Calibri" pitchFamily="34" charset="-122"/>
                <a:cs typeface="Calibri" pitchFamily="34" charset="-120"/>
              </a:rPr>
              <a:t>WORKLOAD SCENARIO</a:t>
            </a:r>
            <a:endParaRPr lang="en-US" sz="1250" dirty="0"/>
          </a:p>
        </p:txBody>
      </p:sp>
      <p:sp>
        <p:nvSpPr>
          <p:cNvPr id="3" name="Text 1"/>
          <p:cNvSpPr/>
          <p:nvPr/>
        </p:nvSpPr>
        <p:spPr>
          <a:xfrm>
            <a:off x="548640" y="658368"/>
            <a:ext cx="10789920" cy="640080"/>
          </a:xfrm>
          <a:prstGeom prst="rect">
            <a:avLst/>
          </a:prstGeom>
          <a:noFill/>
          <a:ln/>
        </p:spPr>
        <p:txBody>
          <a:bodyPr wrap="square" rtlCol="0" anchor="ctr"/>
          <a:lstStyle/>
          <a:p>
            <a:pPr algn="l" indent="0" marL="0">
              <a:buNone/>
            </a:pPr>
            <a:r>
              <a:rPr lang="en-US" sz="3000" b="1" dirty="0">
                <a:solidFill>
                  <a:srgbClr val="002050"/>
                </a:solidFill>
                <a:latin typeface="Cambria" pitchFamily="34" charset="0"/>
                <a:ea typeface="Cambria" pitchFamily="34" charset="-122"/>
                <a:cs typeface="Cambria" pitchFamily="34" charset="-120"/>
              </a:rPr>
              <a:t>Assumed Workload Scenario</a:t>
            </a:r>
            <a:endParaRPr lang="en-US" sz="3000" dirty="0"/>
          </a:p>
        </p:txBody>
      </p:sp>
      <p:sp>
        <p:nvSpPr>
          <p:cNvPr id="4" name="Text 2"/>
          <p:cNvSpPr/>
          <p:nvPr/>
        </p:nvSpPr>
        <p:spPr>
          <a:xfrm>
            <a:off x="548640" y="1170432"/>
            <a:ext cx="10789920" cy="320040"/>
          </a:xfrm>
          <a:prstGeom prst="rect">
            <a:avLst/>
          </a:prstGeom>
          <a:noFill/>
          <a:ln/>
        </p:spPr>
        <p:txBody>
          <a:bodyPr wrap="square" rtlCol="0" anchor="ctr"/>
          <a:lstStyle/>
          <a:p>
            <a:pPr indent="0" marL="0">
              <a:buNone/>
            </a:pPr>
            <a:r>
              <a:rPr lang="en-US" sz="1250" i="1" dirty="0">
                <a:solidFill>
                  <a:srgbClr val="5B6B7C"/>
                </a:solidFill>
                <a:latin typeface="Calibri" pitchFamily="34" charset="0"/>
                <a:ea typeface="Calibri" pitchFamily="34" charset="-122"/>
                <a:cs typeface="Calibri" pitchFamily="34" charset="-120"/>
              </a:rPr>
              <a:t>No specific workload was provided — the following representative scenario is assumed for this project.</a:t>
            </a:r>
            <a:endParaRPr lang="en-US" sz="1250" dirty="0"/>
          </a:p>
        </p:txBody>
      </p:sp>
      <p:sp>
        <p:nvSpPr>
          <p:cNvPr id="5" name="Shape 3"/>
          <p:cNvSpPr/>
          <p:nvPr/>
        </p:nvSpPr>
        <p:spPr>
          <a:xfrm>
            <a:off x="548640" y="1691640"/>
            <a:ext cx="5029200" cy="4480560"/>
          </a:xfrm>
          <a:prstGeom prst="roundRect">
            <a:avLst>
              <a:gd name="adj" fmla="val 1633"/>
            </a:avLst>
          </a:prstGeom>
          <a:solidFill>
            <a:srgbClr val="002050"/>
          </a:solidFill>
          <a:ln w="12700">
            <a:solidFill>
              <a:srgbClr val="002050"/>
            </a:solidFill>
            <a:prstDash val="solid"/>
          </a:ln>
        </p:spPr>
      </p:sp>
      <p:sp>
        <p:nvSpPr>
          <p:cNvPr id="6" name="Shape 4"/>
          <p:cNvSpPr/>
          <p:nvPr/>
        </p:nvSpPr>
        <p:spPr>
          <a:xfrm>
            <a:off x="822960" y="1938528"/>
            <a:ext cx="777240" cy="777240"/>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7" name="Image 0" descr="/home/claude/azure-ppt/icons/cart_white.png">    </p:cNvPr>
          <p:cNvPicPr>
            <a:picLocks noChangeAspect="1"/>
          </p:cNvPicPr>
          <p:nvPr/>
        </p:nvPicPr>
        <p:blipFill>
          <a:blip r:embed="rId1"/>
          <a:stretch>
            <a:fillRect/>
          </a:stretch>
        </p:blipFill>
        <p:spPr>
          <a:xfrm>
            <a:off x="924001" y="2039569"/>
            <a:ext cx="575158" cy="575158"/>
          </a:xfrm>
          <a:prstGeom prst="rect">
            <a:avLst/>
          </a:prstGeom>
        </p:spPr>
      </p:pic>
      <p:sp>
        <p:nvSpPr>
          <p:cNvPr id="8" name="Text 5"/>
          <p:cNvSpPr/>
          <p:nvPr/>
        </p:nvSpPr>
        <p:spPr>
          <a:xfrm>
            <a:off x="1737360" y="1993392"/>
            <a:ext cx="3657600" cy="548640"/>
          </a:xfrm>
          <a:prstGeom prst="rect">
            <a:avLst/>
          </a:prstGeom>
          <a:noFill/>
          <a:ln/>
        </p:spPr>
        <p:txBody>
          <a:bodyPr wrap="square"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Online Shopping Application</a:t>
            </a:r>
            <a:endParaRPr lang="en-US" sz="1700" dirty="0"/>
          </a:p>
        </p:txBody>
      </p:sp>
      <p:sp>
        <p:nvSpPr>
          <p:cNvPr id="9" name="Shape 6"/>
          <p:cNvSpPr/>
          <p:nvPr/>
        </p:nvSpPr>
        <p:spPr>
          <a:xfrm>
            <a:off x="868680" y="2926080"/>
            <a:ext cx="109728" cy="109728"/>
          </a:xfrm>
          <a:prstGeom prst="ellipse">
            <a:avLst/>
          </a:prstGeom>
          <a:solidFill>
            <a:srgbClr val="50E6FF"/>
          </a:solidFill>
          <a:ln/>
        </p:spPr>
      </p:sp>
      <p:sp>
        <p:nvSpPr>
          <p:cNvPr id="10" name="Text 7"/>
          <p:cNvSpPr/>
          <p:nvPr/>
        </p:nvSpPr>
        <p:spPr>
          <a:xfrm>
            <a:off x="1143000" y="2807208"/>
            <a:ext cx="4251960" cy="457200"/>
          </a:xfrm>
          <a:prstGeom prst="rect">
            <a:avLst/>
          </a:prstGeom>
          <a:noFill/>
          <a:ln/>
        </p:spPr>
        <p:txBody>
          <a:bodyPr wrap="square" rtlCol="0" anchor="ctr"/>
          <a:lstStyle/>
          <a:p>
            <a:pPr indent="0" marL="0">
              <a:lnSpc>
                <a:spcPct val="110000"/>
              </a:lnSpc>
              <a:buNone/>
            </a:pPr>
            <a:r>
              <a:rPr lang="en-US" sz="1200" dirty="0">
                <a:solidFill>
                  <a:srgbClr val="E4EFFB"/>
                </a:solidFill>
                <a:latin typeface="Calibri" pitchFamily="34" charset="0"/>
                <a:ea typeface="Calibri" pitchFamily="34" charset="-122"/>
                <a:cs typeface="Calibri" pitchFamily="34" charset="-120"/>
              </a:rPr>
              <a:t>Application hosted on an Azure Virtual Machine</a:t>
            </a:r>
            <a:endParaRPr lang="en-US" sz="1200" dirty="0"/>
          </a:p>
        </p:txBody>
      </p:sp>
      <p:sp>
        <p:nvSpPr>
          <p:cNvPr id="11" name="Shape 8"/>
          <p:cNvSpPr/>
          <p:nvPr/>
        </p:nvSpPr>
        <p:spPr>
          <a:xfrm>
            <a:off x="868680" y="3511296"/>
            <a:ext cx="109728" cy="109728"/>
          </a:xfrm>
          <a:prstGeom prst="ellipse">
            <a:avLst/>
          </a:prstGeom>
          <a:solidFill>
            <a:srgbClr val="50E6FF"/>
          </a:solidFill>
          <a:ln/>
        </p:spPr>
      </p:sp>
      <p:sp>
        <p:nvSpPr>
          <p:cNvPr id="12" name="Text 9"/>
          <p:cNvSpPr/>
          <p:nvPr/>
        </p:nvSpPr>
        <p:spPr>
          <a:xfrm>
            <a:off x="1143000" y="3392424"/>
            <a:ext cx="4251960" cy="457200"/>
          </a:xfrm>
          <a:prstGeom prst="rect">
            <a:avLst/>
          </a:prstGeom>
          <a:noFill/>
          <a:ln/>
        </p:spPr>
        <p:txBody>
          <a:bodyPr wrap="square" rtlCol="0" anchor="ctr"/>
          <a:lstStyle/>
          <a:p>
            <a:pPr indent="0" marL="0">
              <a:lnSpc>
                <a:spcPct val="110000"/>
              </a:lnSpc>
              <a:buNone/>
            </a:pPr>
            <a:r>
              <a:rPr lang="en-US" sz="1200" dirty="0">
                <a:solidFill>
                  <a:srgbClr val="E4EFFB"/>
                </a:solidFill>
                <a:latin typeface="Calibri" pitchFamily="34" charset="0"/>
                <a:ea typeface="Calibri" pitchFamily="34" charset="-122"/>
                <a:cs typeface="Calibri" pitchFamily="34" charset="-120"/>
              </a:rPr>
              <a:t>Uses a transactional database for orders &amp; inventory</a:t>
            </a:r>
            <a:endParaRPr lang="en-US" sz="1200" dirty="0"/>
          </a:p>
        </p:txBody>
      </p:sp>
      <p:sp>
        <p:nvSpPr>
          <p:cNvPr id="13" name="Shape 10"/>
          <p:cNvSpPr/>
          <p:nvPr/>
        </p:nvSpPr>
        <p:spPr>
          <a:xfrm>
            <a:off x="868680" y="4096512"/>
            <a:ext cx="109728" cy="109728"/>
          </a:xfrm>
          <a:prstGeom prst="ellipse">
            <a:avLst/>
          </a:prstGeom>
          <a:solidFill>
            <a:srgbClr val="50E6FF"/>
          </a:solidFill>
          <a:ln/>
        </p:spPr>
      </p:sp>
      <p:sp>
        <p:nvSpPr>
          <p:cNvPr id="14" name="Text 11"/>
          <p:cNvSpPr/>
          <p:nvPr/>
        </p:nvSpPr>
        <p:spPr>
          <a:xfrm>
            <a:off x="1143000" y="3977640"/>
            <a:ext cx="4251960" cy="457200"/>
          </a:xfrm>
          <a:prstGeom prst="rect">
            <a:avLst/>
          </a:prstGeom>
          <a:noFill/>
          <a:ln/>
        </p:spPr>
        <p:txBody>
          <a:bodyPr wrap="square" rtlCol="0" anchor="ctr"/>
          <a:lstStyle/>
          <a:p>
            <a:pPr indent="0" marL="0">
              <a:lnSpc>
                <a:spcPct val="110000"/>
              </a:lnSpc>
              <a:buNone/>
            </a:pPr>
            <a:r>
              <a:rPr lang="en-US" sz="1200" dirty="0">
                <a:solidFill>
                  <a:srgbClr val="E4EFFB"/>
                </a:solidFill>
                <a:latin typeface="Calibri" pitchFamily="34" charset="0"/>
                <a:ea typeface="Calibri" pitchFamily="34" charset="-122"/>
                <a:cs typeface="Calibri" pitchFamily="34" charset="-120"/>
              </a:rPr>
              <a:t>Frequent, high-frequency read/write operations</a:t>
            </a:r>
            <a:endParaRPr lang="en-US" sz="1200" dirty="0"/>
          </a:p>
        </p:txBody>
      </p:sp>
      <p:sp>
        <p:nvSpPr>
          <p:cNvPr id="15" name="Shape 12"/>
          <p:cNvSpPr/>
          <p:nvPr/>
        </p:nvSpPr>
        <p:spPr>
          <a:xfrm>
            <a:off x="868680" y="4681728"/>
            <a:ext cx="109728" cy="109728"/>
          </a:xfrm>
          <a:prstGeom prst="ellipse">
            <a:avLst/>
          </a:prstGeom>
          <a:solidFill>
            <a:srgbClr val="50E6FF"/>
          </a:solidFill>
          <a:ln/>
        </p:spPr>
      </p:sp>
      <p:sp>
        <p:nvSpPr>
          <p:cNvPr id="16" name="Text 13"/>
          <p:cNvSpPr/>
          <p:nvPr/>
        </p:nvSpPr>
        <p:spPr>
          <a:xfrm>
            <a:off x="1143000" y="4562856"/>
            <a:ext cx="4251960" cy="457200"/>
          </a:xfrm>
          <a:prstGeom prst="rect">
            <a:avLst/>
          </a:prstGeom>
          <a:noFill/>
          <a:ln/>
        </p:spPr>
        <p:txBody>
          <a:bodyPr wrap="square" rtlCol="0" anchor="ctr"/>
          <a:lstStyle/>
          <a:p>
            <a:pPr indent="0" marL="0">
              <a:lnSpc>
                <a:spcPct val="110000"/>
              </a:lnSpc>
              <a:buNone/>
            </a:pPr>
            <a:r>
              <a:rPr lang="en-US" sz="1200" dirty="0">
                <a:solidFill>
                  <a:srgbClr val="E4EFFB"/>
                </a:solidFill>
                <a:latin typeface="Calibri" pitchFamily="34" charset="0"/>
                <a:ea typeface="Calibri" pitchFamily="34" charset="-122"/>
                <a:cs typeface="Calibri" pitchFamily="34" charset="-120"/>
              </a:rPr>
              <a:t>Requires consistently low latency</a:t>
            </a:r>
            <a:endParaRPr lang="en-US" sz="1200" dirty="0"/>
          </a:p>
        </p:txBody>
      </p:sp>
      <p:sp>
        <p:nvSpPr>
          <p:cNvPr id="17" name="Shape 14"/>
          <p:cNvSpPr/>
          <p:nvPr/>
        </p:nvSpPr>
        <p:spPr>
          <a:xfrm>
            <a:off x="868680" y="5266944"/>
            <a:ext cx="109728" cy="109728"/>
          </a:xfrm>
          <a:prstGeom prst="ellipse">
            <a:avLst/>
          </a:prstGeom>
          <a:solidFill>
            <a:srgbClr val="50E6FF"/>
          </a:solidFill>
          <a:ln/>
        </p:spPr>
      </p:sp>
      <p:sp>
        <p:nvSpPr>
          <p:cNvPr id="18" name="Text 15"/>
          <p:cNvSpPr/>
          <p:nvPr/>
        </p:nvSpPr>
        <p:spPr>
          <a:xfrm>
            <a:off x="1143000" y="5148072"/>
            <a:ext cx="4251960" cy="457200"/>
          </a:xfrm>
          <a:prstGeom prst="rect">
            <a:avLst/>
          </a:prstGeom>
          <a:noFill/>
          <a:ln/>
        </p:spPr>
        <p:txBody>
          <a:bodyPr wrap="square" rtlCol="0" anchor="ctr"/>
          <a:lstStyle/>
          <a:p>
            <a:pPr indent="0" marL="0">
              <a:lnSpc>
                <a:spcPct val="110000"/>
              </a:lnSpc>
              <a:buNone/>
            </a:pPr>
            <a:r>
              <a:rPr lang="en-US" sz="1200" dirty="0">
                <a:solidFill>
                  <a:srgbClr val="E4EFFB"/>
                </a:solidFill>
                <a:latin typeface="Calibri" pitchFamily="34" charset="0"/>
                <a:ea typeface="Calibri" pitchFamily="34" charset="-122"/>
                <a:cs typeface="Calibri" pitchFamily="34" charset="-120"/>
              </a:rPr>
              <a:t>Needs high IOPS during peak shopping traffic</a:t>
            </a:r>
            <a:endParaRPr lang="en-US" sz="1200" dirty="0"/>
          </a:p>
        </p:txBody>
      </p:sp>
      <p:sp>
        <p:nvSpPr>
          <p:cNvPr id="19" name="Shape 16"/>
          <p:cNvSpPr/>
          <p:nvPr/>
        </p:nvSpPr>
        <p:spPr>
          <a:xfrm>
            <a:off x="5806440" y="1691640"/>
            <a:ext cx="5852160" cy="4480560"/>
          </a:xfrm>
          <a:prstGeom prst="roundRect">
            <a:avLst>
              <a:gd name="adj" fmla="val 1633"/>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20" name="Text 17"/>
          <p:cNvSpPr/>
          <p:nvPr/>
        </p:nvSpPr>
        <p:spPr>
          <a:xfrm>
            <a:off x="6080760" y="1874520"/>
            <a:ext cx="5303520" cy="274320"/>
          </a:xfrm>
          <a:prstGeom prst="rect">
            <a:avLst/>
          </a:prstGeom>
          <a:noFill/>
          <a:ln/>
        </p:spPr>
        <p:txBody>
          <a:bodyPr wrap="square" rtlCol="0" anchor="ctr"/>
          <a:lstStyle/>
          <a:p>
            <a:pPr indent="0" marL="0">
              <a:buNone/>
            </a:pPr>
            <a:r>
              <a:rPr lang="en-US" sz="1100" b="1" spc="150" kern="0" dirty="0">
                <a:solidFill>
                  <a:srgbClr val="0078D4"/>
                </a:solidFill>
                <a:latin typeface="Calibri" pitchFamily="34" charset="0"/>
                <a:ea typeface="Calibri" pitchFamily="34" charset="-122"/>
                <a:cs typeface="Calibri" pitchFamily="34" charset="-120"/>
              </a:rPr>
              <a:t>WORKLOAD DATA FLOW</a:t>
            </a:r>
            <a:endParaRPr lang="en-US" sz="1100" dirty="0"/>
          </a:p>
        </p:txBody>
      </p:sp>
      <p:sp>
        <p:nvSpPr>
          <p:cNvPr id="21" name="Shape 18"/>
          <p:cNvSpPr/>
          <p:nvPr/>
        </p:nvSpPr>
        <p:spPr>
          <a:xfrm>
            <a:off x="6080760" y="2331720"/>
            <a:ext cx="5303520" cy="713232"/>
          </a:xfrm>
          <a:prstGeom prst="roundRect">
            <a:avLst>
              <a:gd name="adj" fmla="val 10256"/>
            </a:avLst>
          </a:prstGeom>
          <a:solidFill>
            <a:srgbClr val="F4F9FD"/>
          </a:solidFill>
          <a:ln w="12700">
            <a:solidFill>
              <a:srgbClr val="D7E6F5"/>
            </a:solidFill>
            <a:prstDash val="solid"/>
          </a:ln>
        </p:spPr>
      </p:sp>
      <p:sp>
        <p:nvSpPr>
          <p:cNvPr id="22" name="Shape 19"/>
          <p:cNvSpPr/>
          <p:nvPr/>
        </p:nvSpPr>
        <p:spPr>
          <a:xfrm>
            <a:off x="6217920" y="2441448"/>
            <a:ext cx="502920" cy="502920"/>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23" name="Image 1" descr="/home/claude/azure-ppt/icons/users_white.png">    </p:cNvPr>
          <p:cNvPicPr>
            <a:picLocks noChangeAspect="1"/>
          </p:cNvPicPr>
          <p:nvPr/>
        </p:nvPicPr>
        <p:blipFill>
          <a:blip r:embed="rId2"/>
          <a:stretch>
            <a:fillRect/>
          </a:stretch>
        </p:blipFill>
        <p:spPr>
          <a:xfrm>
            <a:off x="6283300" y="2506828"/>
            <a:ext cx="372161" cy="372161"/>
          </a:xfrm>
          <a:prstGeom prst="rect">
            <a:avLst/>
          </a:prstGeom>
        </p:spPr>
      </p:pic>
      <p:sp>
        <p:nvSpPr>
          <p:cNvPr id="24" name="Text 20"/>
          <p:cNvSpPr/>
          <p:nvPr/>
        </p:nvSpPr>
        <p:spPr>
          <a:xfrm>
            <a:off x="6858000" y="2386584"/>
            <a:ext cx="4297680" cy="320040"/>
          </a:xfrm>
          <a:prstGeom prst="rect">
            <a:avLst/>
          </a:prstGeom>
          <a:noFill/>
          <a:ln/>
        </p:spPr>
        <p:txBody>
          <a:bodyPr wrap="square" rtlCol="0" anchor="ctr"/>
          <a:lstStyle/>
          <a:p>
            <a:pPr indent="0" marL="0">
              <a:buNone/>
            </a:pPr>
            <a:r>
              <a:rPr lang="en-US" sz="1300" b="1" dirty="0">
                <a:solidFill>
                  <a:srgbClr val="002050"/>
                </a:solidFill>
                <a:latin typeface="Calibri" pitchFamily="34" charset="0"/>
                <a:ea typeface="Calibri" pitchFamily="34" charset="-122"/>
                <a:cs typeface="Calibri" pitchFamily="34" charset="-120"/>
              </a:rPr>
              <a:t>Users</a:t>
            </a:r>
            <a:endParaRPr lang="en-US" sz="1300" dirty="0"/>
          </a:p>
        </p:txBody>
      </p:sp>
      <p:sp>
        <p:nvSpPr>
          <p:cNvPr id="25" name="Text 21"/>
          <p:cNvSpPr/>
          <p:nvPr/>
        </p:nvSpPr>
        <p:spPr>
          <a:xfrm>
            <a:off x="6858000" y="2697480"/>
            <a:ext cx="4297680" cy="292608"/>
          </a:xfrm>
          <a:prstGeom prst="rect">
            <a:avLst/>
          </a:prstGeom>
          <a:noFill/>
          <a:ln/>
        </p:spPr>
        <p:txBody>
          <a:bodyPr wrap="square" rtlCol="0" anchor="ctr"/>
          <a:lstStyle/>
          <a:p>
            <a:pPr indent="0" marL="0">
              <a:buNone/>
            </a:pPr>
            <a:r>
              <a:rPr lang="en-US" sz="1000" dirty="0">
                <a:solidFill>
                  <a:srgbClr val="5B6B7C"/>
                </a:solidFill>
                <a:latin typeface="Calibri" pitchFamily="34" charset="0"/>
                <a:ea typeface="Calibri" pitchFamily="34" charset="-122"/>
                <a:cs typeface="Calibri" pitchFamily="34" charset="-120"/>
              </a:rPr>
              <a:t>Shoppers browsing &amp; purchasing</a:t>
            </a:r>
            <a:endParaRPr lang="en-US" sz="1000" dirty="0"/>
          </a:p>
        </p:txBody>
      </p:sp>
      <p:sp>
        <p:nvSpPr>
          <p:cNvPr id="26" name="Shape 22"/>
          <p:cNvSpPr/>
          <p:nvPr/>
        </p:nvSpPr>
        <p:spPr>
          <a:xfrm>
            <a:off x="8631936" y="3063240"/>
            <a:ext cx="201168" cy="201168"/>
          </a:xfrm>
          <a:prstGeom prst="downArrow">
            <a:avLst/>
          </a:prstGeom>
          <a:solidFill>
            <a:srgbClr val="0078D4"/>
          </a:solidFill>
          <a:ln/>
        </p:spPr>
      </p:sp>
      <p:sp>
        <p:nvSpPr>
          <p:cNvPr id="27" name="Shape 23"/>
          <p:cNvSpPr/>
          <p:nvPr/>
        </p:nvSpPr>
        <p:spPr>
          <a:xfrm>
            <a:off x="6080760" y="3246120"/>
            <a:ext cx="5303520" cy="713232"/>
          </a:xfrm>
          <a:prstGeom prst="roundRect">
            <a:avLst>
              <a:gd name="adj" fmla="val 10256"/>
            </a:avLst>
          </a:prstGeom>
          <a:solidFill>
            <a:srgbClr val="F4F9FD"/>
          </a:solidFill>
          <a:ln w="12700">
            <a:solidFill>
              <a:srgbClr val="D7E6F5"/>
            </a:solidFill>
            <a:prstDash val="solid"/>
          </a:ln>
        </p:spPr>
      </p:sp>
      <p:sp>
        <p:nvSpPr>
          <p:cNvPr id="28" name="Shape 24"/>
          <p:cNvSpPr/>
          <p:nvPr/>
        </p:nvSpPr>
        <p:spPr>
          <a:xfrm>
            <a:off x="6217920" y="3355848"/>
            <a:ext cx="502920" cy="502920"/>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29" name="Image 2" descr="/home/claude/azure-ppt/icons/desktop_white.png">    </p:cNvPr>
          <p:cNvPicPr>
            <a:picLocks noChangeAspect="1"/>
          </p:cNvPicPr>
          <p:nvPr/>
        </p:nvPicPr>
        <p:blipFill>
          <a:blip r:embed="rId3"/>
          <a:stretch>
            <a:fillRect/>
          </a:stretch>
        </p:blipFill>
        <p:spPr>
          <a:xfrm>
            <a:off x="6283300" y="3421228"/>
            <a:ext cx="372161" cy="372161"/>
          </a:xfrm>
          <a:prstGeom prst="rect">
            <a:avLst/>
          </a:prstGeom>
        </p:spPr>
      </p:pic>
      <p:sp>
        <p:nvSpPr>
          <p:cNvPr id="30" name="Text 25"/>
          <p:cNvSpPr/>
          <p:nvPr/>
        </p:nvSpPr>
        <p:spPr>
          <a:xfrm>
            <a:off x="6858000" y="3300984"/>
            <a:ext cx="4297680" cy="320040"/>
          </a:xfrm>
          <a:prstGeom prst="rect">
            <a:avLst/>
          </a:prstGeom>
          <a:noFill/>
          <a:ln/>
        </p:spPr>
        <p:txBody>
          <a:bodyPr wrap="square" rtlCol="0" anchor="ctr"/>
          <a:lstStyle/>
          <a:p>
            <a:pPr indent="0" marL="0">
              <a:buNone/>
            </a:pPr>
            <a:r>
              <a:rPr lang="en-US" sz="1300" b="1" dirty="0">
                <a:solidFill>
                  <a:srgbClr val="002050"/>
                </a:solidFill>
                <a:latin typeface="Calibri" pitchFamily="34" charset="0"/>
                <a:ea typeface="Calibri" pitchFamily="34" charset="-122"/>
                <a:cs typeface="Calibri" pitchFamily="34" charset="-120"/>
              </a:rPr>
              <a:t>Application</a:t>
            </a:r>
            <a:endParaRPr lang="en-US" sz="1300" dirty="0"/>
          </a:p>
        </p:txBody>
      </p:sp>
      <p:sp>
        <p:nvSpPr>
          <p:cNvPr id="31" name="Text 26"/>
          <p:cNvSpPr/>
          <p:nvPr/>
        </p:nvSpPr>
        <p:spPr>
          <a:xfrm>
            <a:off x="6858000" y="3611880"/>
            <a:ext cx="4297680" cy="292608"/>
          </a:xfrm>
          <a:prstGeom prst="rect">
            <a:avLst/>
          </a:prstGeom>
          <a:noFill/>
          <a:ln/>
        </p:spPr>
        <p:txBody>
          <a:bodyPr wrap="square" rtlCol="0" anchor="ctr"/>
          <a:lstStyle/>
          <a:p>
            <a:pPr indent="0" marL="0">
              <a:buNone/>
            </a:pPr>
            <a:r>
              <a:rPr lang="en-US" sz="1000" dirty="0">
                <a:solidFill>
                  <a:srgbClr val="5B6B7C"/>
                </a:solidFill>
                <a:latin typeface="Calibri" pitchFamily="34" charset="0"/>
                <a:ea typeface="Calibri" pitchFamily="34" charset="-122"/>
                <a:cs typeface="Calibri" pitchFamily="34" charset="-120"/>
              </a:rPr>
              <a:t>Web / API layer on Azure VM</a:t>
            </a:r>
            <a:endParaRPr lang="en-US" sz="1000" dirty="0"/>
          </a:p>
        </p:txBody>
      </p:sp>
      <p:sp>
        <p:nvSpPr>
          <p:cNvPr id="32" name="Shape 27"/>
          <p:cNvSpPr/>
          <p:nvPr/>
        </p:nvSpPr>
        <p:spPr>
          <a:xfrm>
            <a:off x="8631936" y="3977640"/>
            <a:ext cx="201168" cy="201168"/>
          </a:xfrm>
          <a:prstGeom prst="downArrow">
            <a:avLst/>
          </a:prstGeom>
          <a:solidFill>
            <a:srgbClr val="0078D4"/>
          </a:solidFill>
          <a:ln/>
        </p:spPr>
      </p:sp>
      <p:sp>
        <p:nvSpPr>
          <p:cNvPr id="33" name="Shape 28"/>
          <p:cNvSpPr/>
          <p:nvPr/>
        </p:nvSpPr>
        <p:spPr>
          <a:xfrm>
            <a:off x="6080760" y="4160520"/>
            <a:ext cx="5303520" cy="713232"/>
          </a:xfrm>
          <a:prstGeom prst="roundRect">
            <a:avLst>
              <a:gd name="adj" fmla="val 10256"/>
            </a:avLst>
          </a:prstGeom>
          <a:solidFill>
            <a:srgbClr val="F4F9FD"/>
          </a:solidFill>
          <a:ln w="12700">
            <a:solidFill>
              <a:srgbClr val="D7E6F5"/>
            </a:solidFill>
            <a:prstDash val="solid"/>
          </a:ln>
        </p:spPr>
      </p:sp>
      <p:sp>
        <p:nvSpPr>
          <p:cNvPr id="34" name="Shape 29"/>
          <p:cNvSpPr/>
          <p:nvPr/>
        </p:nvSpPr>
        <p:spPr>
          <a:xfrm>
            <a:off x="6217920" y="4270248"/>
            <a:ext cx="502920" cy="502920"/>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35" name="Image 3" descr="/home/claude/azure-ppt/icons/database_white.png">    </p:cNvPr>
          <p:cNvPicPr>
            <a:picLocks noChangeAspect="1"/>
          </p:cNvPicPr>
          <p:nvPr/>
        </p:nvPicPr>
        <p:blipFill>
          <a:blip r:embed="rId4"/>
          <a:stretch>
            <a:fillRect/>
          </a:stretch>
        </p:blipFill>
        <p:spPr>
          <a:xfrm>
            <a:off x="6283300" y="4335628"/>
            <a:ext cx="372161" cy="372161"/>
          </a:xfrm>
          <a:prstGeom prst="rect">
            <a:avLst/>
          </a:prstGeom>
        </p:spPr>
      </p:pic>
      <p:sp>
        <p:nvSpPr>
          <p:cNvPr id="36" name="Text 30"/>
          <p:cNvSpPr/>
          <p:nvPr/>
        </p:nvSpPr>
        <p:spPr>
          <a:xfrm>
            <a:off x="6858000" y="4215384"/>
            <a:ext cx="4297680" cy="320040"/>
          </a:xfrm>
          <a:prstGeom prst="rect">
            <a:avLst/>
          </a:prstGeom>
          <a:noFill/>
          <a:ln/>
        </p:spPr>
        <p:txBody>
          <a:bodyPr wrap="square" rtlCol="0" anchor="ctr"/>
          <a:lstStyle/>
          <a:p>
            <a:pPr indent="0" marL="0">
              <a:buNone/>
            </a:pPr>
            <a:r>
              <a:rPr lang="en-US" sz="1300" b="1" dirty="0">
                <a:solidFill>
                  <a:srgbClr val="002050"/>
                </a:solidFill>
                <a:latin typeface="Calibri" pitchFamily="34" charset="0"/>
                <a:ea typeface="Calibri" pitchFamily="34" charset="-122"/>
                <a:cs typeface="Calibri" pitchFamily="34" charset="-120"/>
              </a:rPr>
              <a:t>Database</a:t>
            </a:r>
            <a:endParaRPr lang="en-US" sz="1300" dirty="0"/>
          </a:p>
        </p:txBody>
      </p:sp>
      <p:sp>
        <p:nvSpPr>
          <p:cNvPr id="37" name="Text 31"/>
          <p:cNvSpPr/>
          <p:nvPr/>
        </p:nvSpPr>
        <p:spPr>
          <a:xfrm>
            <a:off x="6858000" y="4526280"/>
            <a:ext cx="4297680" cy="292608"/>
          </a:xfrm>
          <a:prstGeom prst="rect">
            <a:avLst/>
          </a:prstGeom>
          <a:noFill/>
          <a:ln/>
        </p:spPr>
        <p:txBody>
          <a:bodyPr wrap="square" rtlCol="0" anchor="ctr"/>
          <a:lstStyle/>
          <a:p>
            <a:pPr indent="0" marL="0">
              <a:buNone/>
            </a:pPr>
            <a:r>
              <a:rPr lang="en-US" sz="1000" dirty="0">
                <a:solidFill>
                  <a:srgbClr val="5B6B7C"/>
                </a:solidFill>
                <a:latin typeface="Calibri" pitchFamily="34" charset="0"/>
                <a:ea typeface="Calibri" pitchFamily="34" charset="-122"/>
                <a:cs typeface="Calibri" pitchFamily="34" charset="-120"/>
              </a:rPr>
              <a:t>Transactional order data</a:t>
            </a:r>
            <a:endParaRPr lang="en-US" sz="1000" dirty="0"/>
          </a:p>
        </p:txBody>
      </p:sp>
      <p:sp>
        <p:nvSpPr>
          <p:cNvPr id="38" name="Shape 32"/>
          <p:cNvSpPr/>
          <p:nvPr/>
        </p:nvSpPr>
        <p:spPr>
          <a:xfrm>
            <a:off x="8631936" y="4892040"/>
            <a:ext cx="201168" cy="201168"/>
          </a:xfrm>
          <a:prstGeom prst="downArrow">
            <a:avLst/>
          </a:prstGeom>
          <a:solidFill>
            <a:srgbClr val="0078D4"/>
          </a:solidFill>
          <a:ln/>
        </p:spPr>
      </p:sp>
      <p:sp>
        <p:nvSpPr>
          <p:cNvPr id="39" name="Shape 33"/>
          <p:cNvSpPr/>
          <p:nvPr/>
        </p:nvSpPr>
        <p:spPr>
          <a:xfrm>
            <a:off x="6080760" y="5074920"/>
            <a:ext cx="5303520" cy="713232"/>
          </a:xfrm>
          <a:prstGeom prst="roundRect">
            <a:avLst>
              <a:gd name="adj" fmla="val 10256"/>
            </a:avLst>
          </a:prstGeom>
          <a:solidFill>
            <a:srgbClr val="F4F9FD"/>
          </a:solidFill>
          <a:ln w="12700">
            <a:solidFill>
              <a:srgbClr val="D7E6F5"/>
            </a:solidFill>
            <a:prstDash val="solid"/>
          </a:ln>
        </p:spPr>
      </p:sp>
      <p:sp>
        <p:nvSpPr>
          <p:cNvPr id="40" name="Shape 34"/>
          <p:cNvSpPr/>
          <p:nvPr/>
        </p:nvSpPr>
        <p:spPr>
          <a:xfrm>
            <a:off x="6217920" y="5184648"/>
            <a:ext cx="502920" cy="502920"/>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41" name="Image 4" descr="/home/claude/azure-ppt/icons/hdd_white.png">    </p:cNvPr>
          <p:cNvPicPr>
            <a:picLocks noChangeAspect="1"/>
          </p:cNvPicPr>
          <p:nvPr/>
        </p:nvPicPr>
        <p:blipFill>
          <a:blip r:embed="rId5"/>
          <a:stretch>
            <a:fillRect/>
          </a:stretch>
        </p:blipFill>
        <p:spPr>
          <a:xfrm>
            <a:off x="6283300" y="5250028"/>
            <a:ext cx="372161" cy="372161"/>
          </a:xfrm>
          <a:prstGeom prst="rect">
            <a:avLst/>
          </a:prstGeom>
        </p:spPr>
      </p:pic>
      <p:sp>
        <p:nvSpPr>
          <p:cNvPr id="42" name="Text 35"/>
          <p:cNvSpPr/>
          <p:nvPr/>
        </p:nvSpPr>
        <p:spPr>
          <a:xfrm>
            <a:off x="6858000" y="5129784"/>
            <a:ext cx="4297680" cy="320040"/>
          </a:xfrm>
          <a:prstGeom prst="rect">
            <a:avLst/>
          </a:prstGeom>
          <a:noFill/>
          <a:ln/>
        </p:spPr>
        <p:txBody>
          <a:bodyPr wrap="square" rtlCol="0" anchor="ctr"/>
          <a:lstStyle/>
          <a:p>
            <a:pPr indent="0" marL="0">
              <a:buNone/>
            </a:pPr>
            <a:r>
              <a:rPr lang="en-US" sz="1300" b="1" dirty="0">
                <a:solidFill>
                  <a:srgbClr val="002050"/>
                </a:solidFill>
                <a:latin typeface="Calibri" pitchFamily="34" charset="0"/>
                <a:ea typeface="Calibri" pitchFamily="34" charset="-122"/>
                <a:cs typeface="Calibri" pitchFamily="34" charset="-120"/>
              </a:rPr>
              <a:t>Azure Storage</a:t>
            </a:r>
            <a:endParaRPr lang="en-US" sz="1300" dirty="0"/>
          </a:p>
        </p:txBody>
      </p:sp>
      <p:sp>
        <p:nvSpPr>
          <p:cNvPr id="43" name="Text 36"/>
          <p:cNvSpPr/>
          <p:nvPr/>
        </p:nvSpPr>
        <p:spPr>
          <a:xfrm>
            <a:off x="6858000" y="5440680"/>
            <a:ext cx="4297680" cy="292608"/>
          </a:xfrm>
          <a:prstGeom prst="rect">
            <a:avLst/>
          </a:prstGeom>
          <a:noFill/>
          <a:ln/>
        </p:spPr>
        <p:txBody>
          <a:bodyPr wrap="square" rtlCol="0" anchor="ctr"/>
          <a:lstStyle/>
          <a:p>
            <a:pPr indent="0" marL="0">
              <a:buNone/>
            </a:pPr>
            <a:r>
              <a:rPr lang="en-US" sz="1000" dirty="0">
                <a:solidFill>
                  <a:srgbClr val="5B6B7C"/>
                </a:solidFill>
                <a:latin typeface="Calibri" pitchFamily="34" charset="0"/>
                <a:ea typeface="Calibri" pitchFamily="34" charset="-122"/>
                <a:cs typeface="Calibri" pitchFamily="34" charset="-120"/>
              </a:rPr>
              <a:t>Premium SSD-backed managed disk</a:t>
            </a:r>
            <a:endParaRPr lang="en-US" sz="1000" dirty="0"/>
          </a:p>
        </p:txBody>
      </p:sp>
      <p:sp>
        <p:nvSpPr>
          <p:cNvPr id="44" name="Text 37"/>
          <p:cNvSpPr/>
          <p:nvPr/>
        </p:nvSpPr>
        <p:spPr>
          <a:xfrm>
            <a:off x="457200" y="6547104"/>
            <a:ext cx="7315200" cy="256032"/>
          </a:xfrm>
          <a:prstGeom prst="rect">
            <a:avLst/>
          </a:prstGeom>
          <a:noFill/>
          <a:ln/>
        </p:spPr>
        <p:txBody>
          <a:bodyPr wrap="square" rtlCol="0" anchor="ctr"/>
          <a:lstStyle/>
          <a:p>
            <a:pPr algn="l" indent="0" marL="0">
              <a:buNone/>
            </a:pPr>
            <a:r>
              <a:rPr lang="en-US" sz="850" spc="100" kern="0" dirty="0">
                <a:solidFill>
                  <a:srgbClr val="5B6B7C"/>
                </a:solidFill>
                <a:latin typeface="Calibri" pitchFamily="34" charset="0"/>
                <a:ea typeface="Calibri" pitchFamily="34" charset="-122"/>
                <a:cs typeface="Calibri" pitchFamily="34" charset="-120"/>
              </a:rPr>
              <a:t>AZURE STORAGE PERFORMANCE TIER SELECTION</a:t>
            </a:r>
            <a:endParaRPr lang="en-US" sz="850" dirty="0"/>
          </a:p>
        </p:txBody>
      </p:sp>
      <p:sp>
        <p:nvSpPr>
          <p:cNvPr id="45" name="Shape 38"/>
          <p:cNvSpPr/>
          <p:nvPr/>
        </p:nvSpPr>
        <p:spPr>
          <a:xfrm>
            <a:off x="11414455" y="6492240"/>
            <a:ext cx="329184" cy="329184"/>
          </a:xfrm>
          <a:prstGeom prst="ellipse">
            <a:avLst/>
          </a:prstGeom>
          <a:solidFill>
            <a:srgbClr val="0078D4"/>
          </a:solidFill>
          <a:ln/>
        </p:spPr>
      </p:sp>
      <p:sp>
        <p:nvSpPr>
          <p:cNvPr id="46" name="Text 39"/>
          <p:cNvSpPr/>
          <p:nvPr/>
        </p:nvSpPr>
        <p:spPr>
          <a:xfrm>
            <a:off x="11414455" y="6492240"/>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9FD"/>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algn="l" indent="0" marL="0">
              <a:buNone/>
            </a:pPr>
            <a:r>
              <a:rPr lang="en-US" sz="1250" b="1" spc="220" kern="0" dirty="0">
                <a:solidFill>
                  <a:srgbClr val="0078D4"/>
                </a:solidFill>
                <a:latin typeface="Calibri" pitchFamily="34" charset="0"/>
                <a:ea typeface="Calibri" pitchFamily="34" charset="-122"/>
                <a:cs typeface="Calibri" pitchFamily="34" charset="-120"/>
              </a:rPr>
              <a:t>REQUIREMENTS ANALYSIS</a:t>
            </a:r>
            <a:endParaRPr lang="en-US" sz="1250" dirty="0"/>
          </a:p>
        </p:txBody>
      </p:sp>
      <p:sp>
        <p:nvSpPr>
          <p:cNvPr id="3" name="Text 1"/>
          <p:cNvSpPr/>
          <p:nvPr/>
        </p:nvSpPr>
        <p:spPr>
          <a:xfrm>
            <a:off x="548640" y="658368"/>
            <a:ext cx="10789920" cy="640080"/>
          </a:xfrm>
          <a:prstGeom prst="rect">
            <a:avLst/>
          </a:prstGeom>
          <a:noFill/>
          <a:ln/>
        </p:spPr>
        <p:txBody>
          <a:bodyPr wrap="square" rtlCol="0" anchor="ctr"/>
          <a:lstStyle/>
          <a:p>
            <a:pPr algn="l" indent="0" marL="0">
              <a:buNone/>
            </a:pPr>
            <a:r>
              <a:rPr lang="en-US" sz="3000" b="1" dirty="0">
                <a:solidFill>
                  <a:srgbClr val="002050"/>
                </a:solidFill>
                <a:latin typeface="Cambria" pitchFamily="34" charset="0"/>
                <a:ea typeface="Cambria" pitchFamily="34" charset="-122"/>
                <a:cs typeface="Cambria" pitchFamily="34" charset="-120"/>
              </a:rPr>
              <a:t>Workload Requirements Analysis</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6492240" cy="3429000"/>
        </p:xfrm>
        <a:graphic>
          <a:graphicData uri="http://schemas.openxmlformats.org/drawingml/2006/table">
            <a:tbl>
              <a:tblPr/>
              <a:tblGrid>
                <a:gridCol w="3017520"/>
                <a:gridCol w="3474720"/>
              </a:tblGrid>
              <a:tr h="489204">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Requirement</a:t>
                      </a:r>
                      <a:endParaRPr lang="en-US" sz="1300" dirty="0">
                        <a:latin typeface="Calibri" charset="0"/>
                        <a:ea typeface="Calibri" charset="0"/>
                        <a:cs typeface="Calibri" charset="0"/>
                      </a:endParaRPr>
                    </a:p>
                  </a:txBody>
                  <a:tcPr marL="91440" marR="91440" marT="45720" marB="45720" anchor="ctr">
                    <a:lnL w="12700" cap="flat" cmpd="sng" algn="ctr">
                      <a:solidFill>
                        <a:srgbClr val="D7E6F5"/>
                      </a:solidFill>
                      <a:prstDash val="solid"/>
                      <a:round/>
                      <a:headEnd type="none" w="med" len="med"/>
                      <a:tailEnd type="none" w="med" len="med"/>
                    </a:lnL>
                    <a:lnR w="12700" cap="flat" cmpd="sng" algn="ctr">
                      <a:solidFill>
                        <a:srgbClr val="D7E6F5"/>
                      </a:solidFill>
                      <a:prstDash val="solid"/>
                      <a:round/>
                      <a:headEnd type="none" w="med" len="med"/>
                      <a:tailEnd type="none" w="med" len="med"/>
                    </a:lnR>
                    <a:lnT w="12700" cap="flat" cmpd="sng" algn="ctr">
                      <a:solidFill>
                        <a:srgbClr val="D7E6F5"/>
                      </a:solidFill>
                      <a:prstDash val="solid"/>
                      <a:round/>
                      <a:headEnd type="none" w="med" len="med"/>
                      <a:tailEnd type="none" w="med" len="med"/>
                    </a:lnT>
                    <a:lnB w="12700" cap="flat" cmpd="sng" algn="ctr">
                      <a:solidFill>
                        <a:srgbClr val="D7E6F5"/>
                      </a:solidFill>
                      <a:prstDash val="solid"/>
                      <a:round/>
                      <a:headEnd type="none" w="med" len="med"/>
                      <a:tailEnd type="none" w="med" len="med"/>
                    </a:lnB>
                    <a:solidFill>
                      <a:srgbClr val="0078D4"/>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Need</a:t>
                      </a:r>
                      <a:endParaRPr lang="en-US" sz="1300" dirty="0">
                        <a:latin typeface="Calibri" charset="0"/>
                        <a:ea typeface="Calibri" charset="0"/>
                        <a:cs typeface="Calibri" charset="0"/>
                      </a:endParaRPr>
                    </a:p>
                  </a:txBody>
                  <a:tcPr marL="91440" marR="91440" marT="45720" marB="45720" anchor="ctr">
                    <a:lnL w="12700" cap="flat" cmpd="sng" algn="ctr">
                      <a:solidFill>
                        <a:srgbClr val="D7E6F5"/>
                      </a:solidFill>
                      <a:prstDash val="solid"/>
                      <a:round/>
                      <a:headEnd type="none" w="med" len="med"/>
                      <a:tailEnd type="none" w="med" len="med"/>
                    </a:lnL>
                    <a:lnR w="12700" cap="flat" cmpd="sng" algn="ctr">
                      <a:solidFill>
                        <a:srgbClr val="D7E6F5"/>
                      </a:solidFill>
                      <a:prstDash val="solid"/>
                      <a:round/>
                      <a:headEnd type="none" w="med" len="med"/>
                      <a:tailEnd type="none" w="med" len="med"/>
                    </a:lnR>
                    <a:lnT w="12700" cap="flat" cmpd="sng" algn="ctr">
                      <a:solidFill>
                        <a:srgbClr val="D7E6F5"/>
                      </a:solidFill>
                      <a:prstDash val="solid"/>
                      <a:round/>
                      <a:headEnd type="none" w="med" len="med"/>
                      <a:tailEnd type="none" w="med" len="med"/>
                    </a:lnT>
                    <a:lnB w="12700" cap="flat" cmpd="sng" algn="ctr">
                      <a:solidFill>
                        <a:srgbClr val="D7E6F5"/>
                      </a:solidFill>
                      <a:prstDash val="solid"/>
                      <a:round/>
                      <a:headEnd type="none" w="med" len="med"/>
                      <a:tailEnd type="none" w="med" len="med"/>
                    </a:lnB>
                    <a:solidFill>
                      <a:srgbClr val="0078D4"/>
                    </a:solidFill>
                  </a:tcPr>
                </a:tc>
              </a:tr>
              <a:tr h="489204">
                <a:tc>
                  <a:txBody>
                    <a:bodyPr/>
                    <a:lstStyle/>
                    <a:p>
                      <a:pPr algn="l" indent="0" marL="0">
                        <a:buNone/>
                      </a:pPr>
                      <a:r>
                        <a:rPr lang="en-US" sz="1250" dirty="0">
                          <a:solidFill>
                            <a:srgbClr val="1B2A3C"/>
                          </a:solidFill>
                          <a:latin typeface="Calibri" pitchFamily="34" charset="0"/>
                          <a:ea typeface="Calibri" pitchFamily="34" charset="-122"/>
                          <a:cs typeface="Calibri" pitchFamily="34" charset="-120"/>
                        </a:rPr>
                        <a:t>Access Pattern</a:t>
                      </a:r>
                      <a:endParaRPr lang="en-US" sz="1250" dirty="0">
                        <a:latin typeface="Calibri" charset="0"/>
                        <a:ea typeface="Calibri" charset="0"/>
                        <a:cs typeface="Calibri" charset="0"/>
                      </a:endParaRPr>
                    </a:p>
                  </a:txBody>
                  <a:tcPr marL="91440" marR="91440" marT="45720" marB="45720" anchor="ctr">
                    <a:lnL w="12700" cap="flat" cmpd="sng" algn="ctr">
                      <a:solidFill>
                        <a:srgbClr val="D7E6F5"/>
                      </a:solidFill>
                      <a:prstDash val="solid"/>
                      <a:round/>
                      <a:headEnd type="none" w="med" len="med"/>
                      <a:tailEnd type="none" w="med" len="med"/>
                    </a:lnL>
                    <a:lnR w="12700" cap="flat" cmpd="sng" algn="ctr">
                      <a:solidFill>
                        <a:srgbClr val="D7E6F5"/>
                      </a:solidFill>
                      <a:prstDash val="solid"/>
                      <a:round/>
                      <a:headEnd type="none" w="med" len="med"/>
                      <a:tailEnd type="none" w="med" len="med"/>
                    </a:lnR>
                    <a:lnT w="12700" cap="flat" cmpd="sng" algn="ctr">
                      <a:solidFill>
                        <a:srgbClr val="D7E6F5"/>
                      </a:solidFill>
                      <a:prstDash val="solid"/>
                      <a:round/>
                      <a:headEnd type="none" w="med" len="med"/>
                      <a:tailEnd type="none" w="med" len="med"/>
                    </a:lnT>
                    <a:lnB w="12700" cap="flat" cmpd="sng" algn="ctr">
                      <a:solidFill>
                        <a:srgbClr val="D7E6F5"/>
                      </a:solidFill>
                      <a:prstDash val="solid"/>
                      <a:round/>
                      <a:headEnd type="none" w="med" len="med"/>
                      <a:tailEnd type="none" w="med" len="med"/>
                    </a:lnB>
                    <a:solidFill>
                      <a:srgbClr val="FFFFFF"/>
                    </a:solidFill>
                  </a:tcPr>
                </a:tc>
                <a:tc>
                  <a:txBody>
                    <a:bodyPr/>
                    <a:lstStyle/>
                    <a:p>
                      <a:pPr algn="l" indent="0" marL="0">
                        <a:buNone/>
                      </a:pPr>
                      <a:r>
                        <a:rPr lang="en-US" sz="1250" dirty="0">
                          <a:solidFill>
                            <a:srgbClr val="1B2A3C"/>
                          </a:solidFill>
                          <a:latin typeface="Calibri" pitchFamily="34" charset="0"/>
                          <a:ea typeface="Calibri" pitchFamily="34" charset="-122"/>
                          <a:cs typeface="Calibri" pitchFamily="34" charset="-120"/>
                        </a:rPr>
                        <a:t>Frequent read / write</a:t>
                      </a:r>
                      <a:endParaRPr lang="en-US" sz="1250" dirty="0">
                        <a:latin typeface="Calibri" charset="0"/>
                        <a:ea typeface="Calibri" charset="0"/>
                        <a:cs typeface="Calibri" charset="0"/>
                      </a:endParaRPr>
                    </a:p>
                  </a:txBody>
                  <a:tcPr marL="91440" marR="91440" marT="45720" marB="45720" anchor="ctr">
                    <a:lnL w="12700" cap="flat" cmpd="sng" algn="ctr">
                      <a:solidFill>
                        <a:srgbClr val="D7E6F5"/>
                      </a:solidFill>
                      <a:prstDash val="solid"/>
                      <a:round/>
                      <a:headEnd type="none" w="med" len="med"/>
                      <a:tailEnd type="none" w="med" len="med"/>
                    </a:lnL>
                    <a:lnR w="12700" cap="flat" cmpd="sng" algn="ctr">
                      <a:solidFill>
                        <a:srgbClr val="D7E6F5"/>
                      </a:solidFill>
                      <a:prstDash val="solid"/>
                      <a:round/>
                      <a:headEnd type="none" w="med" len="med"/>
                      <a:tailEnd type="none" w="med" len="med"/>
                    </a:lnR>
                    <a:lnT w="12700" cap="flat" cmpd="sng" algn="ctr">
                      <a:solidFill>
                        <a:srgbClr val="D7E6F5"/>
                      </a:solidFill>
                      <a:prstDash val="solid"/>
                      <a:round/>
                      <a:headEnd type="none" w="med" len="med"/>
                      <a:tailEnd type="none" w="med" len="med"/>
                    </a:lnT>
                    <a:lnB w="12700" cap="flat" cmpd="sng" algn="ctr">
                      <a:solidFill>
                        <a:srgbClr val="D7E6F5"/>
                      </a:solidFill>
                      <a:prstDash val="solid"/>
                      <a:round/>
                      <a:headEnd type="none" w="med" len="med"/>
                      <a:tailEnd type="none" w="med" len="med"/>
                    </a:lnB>
                    <a:solidFill>
                      <a:srgbClr val="FFFFFF"/>
                    </a:solidFill>
                  </a:tcPr>
                </a:tc>
              </a:tr>
              <a:tr h="489204">
                <a:tc>
                  <a:txBody>
                    <a:bodyPr/>
                    <a:lstStyle/>
                    <a:p>
                      <a:pPr algn="l" indent="0" marL="0">
                        <a:buNone/>
                      </a:pPr>
                      <a:r>
                        <a:rPr lang="en-US" sz="1250" dirty="0">
                          <a:solidFill>
                            <a:srgbClr val="1B2A3C"/>
                          </a:solidFill>
                          <a:latin typeface="Calibri" pitchFamily="34" charset="0"/>
                          <a:ea typeface="Calibri" pitchFamily="34" charset="-122"/>
                          <a:cs typeface="Calibri" pitchFamily="34" charset="-120"/>
                        </a:rPr>
                        <a:t>Latency</a:t>
                      </a:r>
                      <a:endParaRPr lang="en-US" sz="1250" dirty="0">
                        <a:latin typeface="Calibri" charset="0"/>
                        <a:ea typeface="Calibri" charset="0"/>
                        <a:cs typeface="Calibri" charset="0"/>
                      </a:endParaRPr>
                    </a:p>
                  </a:txBody>
                  <a:tcPr marL="91440" marR="91440" marT="45720" marB="45720" anchor="ctr">
                    <a:lnL w="12700" cap="flat" cmpd="sng" algn="ctr">
                      <a:solidFill>
                        <a:srgbClr val="D7E6F5"/>
                      </a:solidFill>
                      <a:prstDash val="solid"/>
                      <a:round/>
                      <a:headEnd type="none" w="med" len="med"/>
                      <a:tailEnd type="none" w="med" len="med"/>
                    </a:lnL>
                    <a:lnR w="12700" cap="flat" cmpd="sng" algn="ctr">
                      <a:solidFill>
                        <a:srgbClr val="D7E6F5"/>
                      </a:solidFill>
                      <a:prstDash val="solid"/>
                      <a:round/>
                      <a:headEnd type="none" w="med" len="med"/>
                      <a:tailEnd type="none" w="med" len="med"/>
                    </a:lnR>
                    <a:lnT w="12700" cap="flat" cmpd="sng" algn="ctr">
                      <a:solidFill>
                        <a:srgbClr val="D7E6F5"/>
                      </a:solidFill>
                      <a:prstDash val="solid"/>
                      <a:round/>
                      <a:headEnd type="none" w="med" len="med"/>
                      <a:tailEnd type="none" w="med" len="med"/>
                    </a:lnT>
                    <a:lnB w="12700" cap="flat" cmpd="sng" algn="ctr">
                      <a:solidFill>
                        <a:srgbClr val="D7E6F5"/>
                      </a:solidFill>
                      <a:prstDash val="solid"/>
                      <a:round/>
                      <a:headEnd type="none" w="med" len="med"/>
                      <a:tailEnd type="none" w="med" len="med"/>
                    </a:lnB>
                    <a:solidFill>
                      <a:srgbClr val="F4F9FD"/>
                    </a:solidFill>
                  </a:tcPr>
                </a:tc>
                <a:tc>
                  <a:txBody>
                    <a:bodyPr/>
                    <a:lstStyle/>
                    <a:p>
                      <a:pPr algn="l" indent="0" marL="0">
                        <a:buNone/>
                      </a:pPr>
                      <a:r>
                        <a:rPr lang="en-US" sz="1250" b="1" dirty="0">
                          <a:solidFill>
                            <a:srgbClr val="1B2A3C"/>
                          </a:solidFill>
                          <a:latin typeface="Calibri" pitchFamily="34" charset="0"/>
                          <a:ea typeface="Calibri" pitchFamily="34" charset="-122"/>
                          <a:cs typeface="Calibri" pitchFamily="34" charset="-120"/>
                        </a:rPr>
                        <a:t>Low</a:t>
                      </a:r>
                      <a:endParaRPr lang="en-US" sz="1250" dirty="0">
                        <a:latin typeface="Calibri" charset="0"/>
                        <a:ea typeface="Calibri" charset="0"/>
                        <a:cs typeface="Calibri" charset="0"/>
                      </a:endParaRPr>
                    </a:p>
                  </a:txBody>
                  <a:tcPr marL="91440" marR="91440" marT="45720" marB="45720" anchor="ctr">
                    <a:lnL w="12700" cap="flat" cmpd="sng" algn="ctr">
                      <a:solidFill>
                        <a:srgbClr val="D7E6F5"/>
                      </a:solidFill>
                      <a:prstDash val="solid"/>
                      <a:round/>
                      <a:headEnd type="none" w="med" len="med"/>
                      <a:tailEnd type="none" w="med" len="med"/>
                    </a:lnL>
                    <a:lnR w="12700" cap="flat" cmpd="sng" algn="ctr">
                      <a:solidFill>
                        <a:srgbClr val="D7E6F5"/>
                      </a:solidFill>
                      <a:prstDash val="solid"/>
                      <a:round/>
                      <a:headEnd type="none" w="med" len="med"/>
                      <a:tailEnd type="none" w="med" len="med"/>
                    </a:lnR>
                    <a:lnT w="12700" cap="flat" cmpd="sng" algn="ctr">
                      <a:solidFill>
                        <a:srgbClr val="D7E6F5"/>
                      </a:solidFill>
                      <a:prstDash val="solid"/>
                      <a:round/>
                      <a:headEnd type="none" w="med" len="med"/>
                      <a:tailEnd type="none" w="med" len="med"/>
                    </a:lnT>
                    <a:lnB w="12700" cap="flat" cmpd="sng" algn="ctr">
                      <a:solidFill>
                        <a:srgbClr val="D7E6F5"/>
                      </a:solidFill>
                      <a:prstDash val="solid"/>
                      <a:round/>
                      <a:headEnd type="none" w="med" len="med"/>
                      <a:tailEnd type="none" w="med" len="med"/>
                    </a:lnB>
                    <a:solidFill>
                      <a:srgbClr val="F4F9FD"/>
                    </a:solidFill>
                  </a:tcPr>
                </a:tc>
              </a:tr>
              <a:tr h="489204">
                <a:tc>
                  <a:txBody>
                    <a:bodyPr/>
                    <a:lstStyle/>
                    <a:p>
                      <a:pPr algn="l" indent="0" marL="0">
                        <a:buNone/>
                      </a:pPr>
                      <a:r>
                        <a:rPr lang="en-US" sz="1250" dirty="0">
                          <a:solidFill>
                            <a:srgbClr val="1B2A3C"/>
                          </a:solidFill>
                          <a:latin typeface="Calibri" pitchFamily="34" charset="0"/>
                          <a:ea typeface="Calibri" pitchFamily="34" charset="-122"/>
                          <a:cs typeface="Calibri" pitchFamily="34" charset="-120"/>
                        </a:rPr>
                        <a:t>IOPS</a:t>
                      </a:r>
                      <a:endParaRPr lang="en-US" sz="1250" dirty="0">
                        <a:latin typeface="Calibri" charset="0"/>
                        <a:ea typeface="Calibri" charset="0"/>
                        <a:cs typeface="Calibri" charset="0"/>
                      </a:endParaRPr>
                    </a:p>
                  </a:txBody>
                  <a:tcPr marL="91440" marR="91440" marT="45720" marB="45720" anchor="ctr">
                    <a:lnL w="12700" cap="flat" cmpd="sng" algn="ctr">
                      <a:solidFill>
                        <a:srgbClr val="D7E6F5"/>
                      </a:solidFill>
                      <a:prstDash val="solid"/>
                      <a:round/>
                      <a:headEnd type="none" w="med" len="med"/>
                      <a:tailEnd type="none" w="med" len="med"/>
                    </a:lnL>
                    <a:lnR w="12700" cap="flat" cmpd="sng" algn="ctr">
                      <a:solidFill>
                        <a:srgbClr val="D7E6F5"/>
                      </a:solidFill>
                      <a:prstDash val="solid"/>
                      <a:round/>
                      <a:headEnd type="none" w="med" len="med"/>
                      <a:tailEnd type="none" w="med" len="med"/>
                    </a:lnR>
                    <a:lnT w="12700" cap="flat" cmpd="sng" algn="ctr">
                      <a:solidFill>
                        <a:srgbClr val="D7E6F5"/>
                      </a:solidFill>
                      <a:prstDash val="solid"/>
                      <a:round/>
                      <a:headEnd type="none" w="med" len="med"/>
                      <a:tailEnd type="none" w="med" len="med"/>
                    </a:lnT>
                    <a:lnB w="12700" cap="flat" cmpd="sng" algn="ctr">
                      <a:solidFill>
                        <a:srgbClr val="D7E6F5"/>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1B2A3C"/>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marL="91440" marR="91440" marT="45720" marB="45720" anchor="ctr">
                    <a:lnL w="12700" cap="flat" cmpd="sng" algn="ctr">
                      <a:solidFill>
                        <a:srgbClr val="D7E6F5"/>
                      </a:solidFill>
                      <a:prstDash val="solid"/>
                      <a:round/>
                      <a:headEnd type="none" w="med" len="med"/>
                      <a:tailEnd type="none" w="med" len="med"/>
                    </a:lnL>
                    <a:lnR w="12700" cap="flat" cmpd="sng" algn="ctr">
                      <a:solidFill>
                        <a:srgbClr val="D7E6F5"/>
                      </a:solidFill>
                      <a:prstDash val="solid"/>
                      <a:round/>
                      <a:headEnd type="none" w="med" len="med"/>
                      <a:tailEnd type="none" w="med" len="med"/>
                    </a:lnR>
                    <a:lnT w="12700" cap="flat" cmpd="sng" algn="ctr">
                      <a:solidFill>
                        <a:srgbClr val="D7E6F5"/>
                      </a:solidFill>
                      <a:prstDash val="solid"/>
                      <a:round/>
                      <a:headEnd type="none" w="med" len="med"/>
                      <a:tailEnd type="none" w="med" len="med"/>
                    </a:lnT>
                    <a:lnB w="12700" cap="flat" cmpd="sng" algn="ctr">
                      <a:solidFill>
                        <a:srgbClr val="D7E6F5"/>
                      </a:solidFill>
                      <a:prstDash val="solid"/>
                      <a:round/>
                      <a:headEnd type="none" w="med" len="med"/>
                      <a:tailEnd type="none" w="med" len="med"/>
                    </a:lnB>
                    <a:solidFill>
                      <a:srgbClr val="FFFFFF"/>
                    </a:solidFill>
                  </a:tcPr>
                </a:tc>
              </a:tr>
              <a:tr h="489204">
                <a:tc>
                  <a:txBody>
                    <a:bodyPr/>
                    <a:lstStyle/>
                    <a:p>
                      <a:pPr algn="l" indent="0" marL="0">
                        <a:buNone/>
                      </a:pPr>
                      <a:r>
                        <a:rPr lang="en-US" sz="1250" dirty="0">
                          <a:solidFill>
                            <a:srgbClr val="1B2A3C"/>
                          </a:solidFill>
                          <a:latin typeface="Calibri" pitchFamily="34" charset="0"/>
                          <a:ea typeface="Calibri" pitchFamily="34" charset="-122"/>
                          <a:cs typeface="Calibri" pitchFamily="34" charset="-120"/>
                        </a:rPr>
                        <a:t>Throughput</a:t>
                      </a:r>
                      <a:endParaRPr lang="en-US" sz="1250" dirty="0">
                        <a:latin typeface="Calibri" charset="0"/>
                        <a:ea typeface="Calibri" charset="0"/>
                        <a:cs typeface="Calibri" charset="0"/>
                      </a:endParaRPr>
                    </a:p>
                  </a:txBody>
                  <a:tcPr marL="91440" marR="91440" marT="45720" marB="45720" anchor="ctr">
                    <a:lnL w="12700" cap="flat" cmpd="sng" algn="ctr">
                      <a:solidFill>
                        <a:srgbClr val="D7E6F5"/>
                      </a:solidFill>
                      <a:prstDash val="solid"/>
                      <a:round/>
                      <a:headEnd type="none" w="med" len="med"/>
                      <a:tailEnd type="none" w="med" len="med"/>
                    </a:lnL>
                    <a:lnR w="12700" cap="flat" cmpd="sng" algn="ctr">
                      <a:solidFill>
                        <a:srgbClr val="D7E6F5"/>
                      </a:solidFill>
                      <a:prstDash val="solid"/>
                      <a:round/>
                      <a:headEnd type="none" w="med" len="med"/>
                      <a:tailEnd type="none" w="med" len="med"/>
                    </a:lnR>
                    <a:lnT w="12700" cap="flat" cmpd="sng" algn="ctr">
                      <a:solidFill>
                        <a:srgbClr val="D7E6F5"/>
                      </a:solidFill>
                      <a:prstDash val="solid"/>
                      <a:round/>
                      <a:headEnd type="none" w="med" len="med"/>
                      <a:tailEnd type="none" w="med" len="med"/>
                    </a:lnT>
                    <a:lnB w="12700" cap="flat" cmpd="sng" algn="ctr">
                      <a:solidFill>
                        <a:srgbClr val="D7E6F5"/>
                      </a:solidFill>
                      <a:prstDash val="solid"/>
                      <a:round/>
                      <a:headEnd type="none" w="med" len="med"/>
                      <a:tailEnd type="none" w="med" len="med"/>
                    </a:lnB>
                    <a:solidFill>
                      <a:srgbClr val="F4F9FD"/>
                    </a:solidFill>
                  </a:tcPr>
                </a:tc>
                <a:tc>
                  <a:txBody>
                    <a:bodyPr/>
                    <a:lstStyle/>
                    <a:p>
                      <a:pPr algn="l" indent="0" marL="0">
                        <a:buNone/>
                      </a:pPr>
                      <a:r>
                        <a:rPr lang="en-US" sz="1250" b="1" dirty="0">
                          <a:solidFill>
                            <a:srgbClr val="1B2A3C"/>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marL="91440" marR="91440" marT="45720" marB="45720" anchor="ctr">
                    <a:lnL w="12700" cap="flat" cmpd="sng" algn="ctr">
                      <a:solidFill>
                        <a:srgbClr val="D7E6F5"/>
                      </a:solidFill>
                      <a:prstDash val="solid"/>
                      <a:round/>
                      <a:headEnd type="none" w="med" len="med"/>
                      <a:tailEnd type="none" w="med" len="med"/>
                    </a:lnL>
                    <a:lnR w="12700" cap="flat" cmpd="sng" algn="ctr">
                      <a:solidFill>
                        <a:srgbClr val="D7E6F5"/>
                      </a:solidFill>
                      <a:prstDash val="solid"/>
                      <a:round/>
                      <a:headEnd type="none" w="med" len="med"/>
                      <a:tailEnd type="none" w="med" len="med"/>
                    </a:lnR>
                    <a:lnT w="12700" cap="flat" cmpd="sng" algn="ctr">
                      <a:solidFill>
                        <a:srgbClr val="D7E6F5"/>
                      </a:solidFill>
                      <a:prstDash val="solid"/>
                      <a:round/>
                      <a:headEnd type="none" w="med" len="med"/>
                      <a:tailEnd type="none" w="med" len="med"/>
                    </a:lnT>
                    <a:lnB w="12700" cap="flat" cmpd="sng" algn="ctr">
                      <a:solidFill>
                        <a:srgbClr val="D7E6F5"/>
                      </a:solidFill>
                      <a:prstDash val="solid"/>
                      <a:round/>
                      <a:headEnd type="none" w="med" len="med"/>
                      <a:tailEnd type="none" w="med" len="med"/>
                    </a:lnB>
                    <a:solidFill>
                      <a:srgbClr val="F4F9FD"/>
                    </a:solidFill>
                  </a:tcPr>
                </a:tc>
              </a:tr>
              <a:tr h="489204">
                <a:tc>
                  <a:txBody>
                    <a:bodyPr/>
                    <a:lstStyle/>
                    <a:p>
                      <a:pPr algn="l" indent="0" marL="0">
                        <a:buNone/>
                      </a:pPr>
                      <a:r>
                        <a:rPr lang="en-US" sz="1250" dirty="0">
                          <a:solidFill>
                            <a:srgbClr val="1B2A3C"/>
                          </a:solidFill>
                          <a:latin typeface="Calibri" pitchFamily="34" charset="0"/>
                          <a:ea typeface="Calibri" pitchFamily="34" charset="-122"/>
                          <a:cs typeface="Calibri" pitchFamily="34" charset="-120"/>
                        </a:rPr>
                        <a:t>Availability</a:t>
                      </a:r>
                      <a:endParaRPr lang="en-US" sz="1250" dirty="0">
                        <a:latin typeface="Calibri" charset="0"/>
                        <a:ea typeface="Calibri" charset="0"/>
                        <a:cs typeface="Calibri" charset="0"/>
                      </a:endParaRPr>
                    </a:p>
                  </a:txBody>
                  <a:tcPr marL="91440" marR="91440" marT="45720" marB="45720" anchor="ctr">
                    <a:lnL w="12700" cap="flat" cmpd="sng" algn="ctr">
                      <a:solidFill>
                        <a:srgbClr val="D7E6F5"/>
                      </a:solidFill>
                      <a:prstDash val="solid"/>
                      <a:round/>
                      <a:headEnd type="none" w="med" len="med"/>
                      <a:tailEnd type="none" w="med" len="med"/>
                    </a:lnL>
                    <a:lnR w="12700" cap="flat" cmpd="sng" algn="ctr">
                      <a:solidFill>
                        <a:srgbClr val="D7E6F5"/>
                      </a:solidFill>
                      <a:prstDash val="solid"/>
                      <a:round/>
                      <a:headEnd type="none" w="med" len="med"/>
                      <a:tailEnd type="none" w="med" len="med"/>
                    </a:lnR>
                    <a:lnT w="12700" cap="flat" cmpd="sng" algn="ctr">
                      <a:solidFill>
                        <a:srgbClr val="D7E6F5"/>
                      </a:solidFill>
                      <a:prstDash val="solid"/>
                      <a:round/>
                      <a:headEnd type="none" w="med" len="med"/>
                      <a:tailEnd type="none" w="med" len="med"/>
                    </a:lnT>
                    <a:lnB w="12700" cap="flat" cmpd="sng" algn="ctr">
                      <a:solidFill>
                        <a:srgbClr val="D7E6F5"/>
                      </a:solidFill>
                      <a:prstDash val="solid"/>
                      <a:round/>
                      <a:headEnd type="none" w="med" len="med"/>
                      <a:tailEnd type="none" w="med" len="med"/>
                    </a:lnB>
                    <a:solidFill>
                      <a:srgbClr val="FFFFFF"/>
                    </a:solidFill>
                  </a:tcPr>
                </a:tc>
                <a:tc>
                  <a:txBody>
                    <a:bodyPr/>
                    <a:lstStyle/>
                    <a:p>
                      <a:pPr algn="l" indent="0" marL="0">
                        <a:buNone/>
                      </a:pPr>
                      <a:r>
                        <a:rPr lang="en-US" sz="1250" b="1" dirty="0">
                          <a:solidFill>
                            <a:srgbClr val="1B2A3C"/>
                          </a:solidFill>
                          <a:latin typeface="Calibri" pitchFamily="34" charset="0"/>
                          <a:ea typeface="Calibri" pitchFamily="34" charset="-122"/>
                          <a:cs typeface="Calibri" pitchFamily="34" charset="-120"/>
                        </a:rPr>
                        <a:t>High</a:t>
                      </a:r>
                      <a:endParaRPr lang="en-US" sz="1250" dirty="0">
                        <a:latin typeface="Calibri" charset="0"/>
                        <a:ea typeface="Calibri" charset="0"/>
                        <a:cs typeface="Calibri" charset="0"/>
                      </a:endParaRPr>
                    </a:p>
                  </a:txBody>
                  <a:tcPr marL="91440" marR="91440" marT="45720" marB="45720" anchor="ctr">
                    <a:lnL w="12700" cap="flat" cmpd="sng" algn="ctr">
                      <a:solidFill>
                        <a:srgbClr val="D7E6F5"/>
                      </a:solidFill>
                      <a:prstDash val="solid"/>
                      <a:round/>
                      <a:headEnd type="none" w="med" len="med"/>
                      <a:tailEnd type="none" w="med" len="med"/>
                    </a:lnL>
                    <a:lnR w="12700" cap="flat" cmpd="sng" algn="ctr">
                      <a:solidFill>
                        <a:srgbClr val="D7E6F5"/>
                      </a:solidFill>
                      <a:prstDash val="solid"/>
                      <a:round/>
                      <a:headEnd type="none" w="med" len="med"/>
                      <a:tailEnd type="none" w="med" len="med"/>
                    </a:lnR>
                    <a:lnT w="12700" cap="flat" cmpd="sng" algn="ctr">
                      <a:solidFill>
                        <a:srgbClr val="D7E6F5"/>
                      </a:solidFill>
                      <a:prstDash val="solid"/>
                      <a:round/>
                      <a:headEnd type="none" w="med" len="med"/>
                      <a:tailEnd type="none" w="med" len="med"/>
                    </a:lnT>
                    <a:lnB w="12700" cap="flat" cmpd="sng" algn="ctr">
                      <a:solidFill>
                        <a:srgbClr val="D7E6F5"/>
                      </a:solidFill>
                      <a:prstDash val="solid"/>
                      <a:round/>
                      <a:headEnd type="none" w="med" len="med"/>
                      <a:tailEnd type="none" w="med" len="med"/>
                    </a:lnB>
                    <a:solidFill>
                      <a:srgbClr val="FFFFFF"/>
                    </a:solidFill>
                  </a:tcPr>
                </a:tc>
              </a:tr>
              <a:tr h="489204">
                <a:tc>
                  <a:txBody>
                    <a:bodyPr/>
                    <a:lstStyle/>
                    <a:p>
                      <a:pPr algn="l" indent="0" marL="0">
                        <a:buNone/>
                      </a:pPr>
                      <a:r>
                        <a:rPr lang="en-US" sz="1250" dirty="0">
                          <a:solidFill>
                            <a:srgbClr val="1B2A3C"/>
                          </a:solidFill>
                          <a:latin typeface="Calibri" pitchFamily="34" charset="0"/>
                          <a:ea typeface="Calibri" pitchFamily="34" charset="-122"/>
                          <a:cs typeface="Calibri" pitchFamily="34" charset="-120"/>
                        </a:rPr>
                        <a:t>Cost</a:t>
                      </a:r>
                      <a:endParaRPr lang="en-US" sz="1250" dirty="0">
                        <a:latin typeface="Calibri" charset="0"/>
                        <a:ea typeface="Calibri" charset="0"/>
                        <a:cs typeface="Calibri" charset="0"/>
                      </a:endParaRPr>
                    </a:p>
                  </a:txBody>
                  <a:tcPr marL="91440" marR="91440" marT="45720" marB="45720" anchor="ctr">
                    <a:lnL w="12700" cap="flat" cmpd="sng" algn="ctr">
                      <a:solidFill>
                        <a:srgbClr val="D7E6F5"/>
                      </a:solidFill>
                      <a:prstDash val="solid"/>
                      <a:round/>
                      <a:headEnd type="none" w="med" len="med"/>
                      <a:tailEnd type="none" w="med" len="med"/>
                    </a:lnL>
                    <a:lnR w="12700" cap="flat" cmpd="sng" algn="ctr">
                      <a:solidFill>
                        <a:srgbClr val="D7E6F5"/>
                      </a:solidFill>
                      <a:prstDash val="solid"/>
                      <a:round/>
                      <a:headEnd type="none" w="med" len="med"/>
                      <a:tailEnd type="none" w="med" len="med"/>
                    </a:lnR>
                    <a:lnT w="12700" cap="flat" cmpd="sng" algn="ctr">
                      <a:solidFill>
                        <a:srgbClr val="D7E6F5"/>
                      </a:solidFill>
                      <a:prstDash val="solid"/>
                      <a:round/>
                      <a:headEnd type="none" w="med" len="med"/>
                      <a:tailEnd type="none" w="med" len="med"/>
                    </a:lnT>
                    <a:lnB w="12700" cap="flat" cmpd="sng" algn="ctr">
                      <a:solidFill>
                        <a:srgbClr val="D7E6F5"/>
                      </a:solidFill>
                      <a:prstDash val="solid"/>
                      <a:round/>
                      <a:headEnd type="none" w="med" len="med"/>
                      <a:tailEnd type="none" w="med" len="med"/>
                    </a:lnB>
                    <a:solidFill>
                      <a:srgbClr val="F4F9FD"/>
                    </a:solidFill>
                  </a:tcPr>
                </a:tc>
                <a:tc>
                  <a:txBody>
                    <a:bodyPr/>
                    <a:lstStyle/>
                    <a:p>
                      <a:pPr algn="l" indent="0" marL="0">
                        <a:buNone/>
                      </a:pPr>
                      <a:r>
                        <a:rPr lang="en-US" sz="1250" b="1" dirty="0">
                          <a:solidFill>
                            <a:srgbClr val="1B2A3C"/>
                          </a:solidFill>
                          <a:latin typeface="Calibri" pitchFamily="34" charset="0"/>
                          <a:ea typeface="Calibri" pitchFamily="34" charset="-122"/>
                          <a:cs typeface="Calibri" pitchFamily="34" charset="-120"/>
                        </a:rPr>
                        <a:t>Optimized</a:t>
                      </a:r>
                      <a:endParaRPr lang="en-US" sz="1250" dirty="0">
                        <a:latin typeface="Calibri" charset="0"/>
                        <a:ea typeface="Calibri" charset="0"/>
                        <a:cs typeface="Calibri" charset="0"/>
                      </a:endParaRPr>
                    </a:p>
                  </a:txBody>
                  <a:tcPr marL="91440" marR="91440" marT="45720" marB="45720" anchor="ctr">
                    <a:lnL w="12700" cap="flat" cmpd="sng" algn="ctr">
                      <a:solidFill>
                        <a:srgbClr val="D7E6F5"/>
                      </a:solidFill>
                      <a:prstDash val="solid"/>
                      <a:round/>
                      <a:headEnd type="none" w="med" len="med"/>
                      <a:tailEnd type="none" w="med" len="med"/>
                    </a:lnL>
                    <a:lnR w="12700" cap="flat" cmpd="sng" algn="ctr">
                      <a:solidFill>
                        <a:srgbClr val="D7E6F5"/>
                      </a:solidFill>
                      <a:prstDash val="solid"/>
                      <a:round/>
                      <a:headEnd type="none" w="med" len="med"/>
                      <a:tailEnd type="none" w="med" len="med"/>
                    </a:lnR>
                    <a:lnT w="12700" cap="flat" cmpd="sng" algn="ctr">
                      <a:solidFill>
                        <a:srgbClr val="D7E6F5"/>
                      </a:solidFill>
                      <a:prstDash val="solid"/>
                      <a:round/>
                      <a:headEnd type="none" w="med" len="med"/>
                      <a:tailEnd type="none" w="med" len="med"/>
                    </a:lnT>
                    <a:lnB w="12700" cap="flat" cmpd="sng" algn="ctr">
                      <a:solidFill>
                        <a:srgbClr val="D7E6F5"/>
                      </a:solidFill>
                      <a:prstDash val="solid"/>
                      <a:round/>
                      <a:headEnd type="none" w="med" len="med"/>
                      <a:tailEnd type="none" w="med" len="med"/>
                    </a:lnB>
                    <a:solidFill>
                      <a:srgbClr val="F4F9FD"/>
                    </a:solidFill>
                  </a:tcPr>
                </a:tc>
              </a:tr>
            </a:tbl>
          </a:graphicData>
        </a:graphic>
      </p:graphicFrame>
      <p:sp>
        <p:nvSpPr>
          <p:cNvPr id="5" name="Text 2"/>
          <p:cNvSpPr/>
          <p:nvPr/>
        </p:nvSpPr>
        <p:spPr>
          <a:xfrm>
            <a:off x="548640" y="5166360"/>
            <a:ext cx="6492240" cy="292608"/>
          </a:xfrm>
          <a:prstGeom prst="rect">
            <a:avLst/>
          </a:prstGeom>
          <a:noFill/>
          <a:ln/>
        </p:spPr>
        <p:txBody>
          <a:bodyPr wrap="square" rtlCol="0" anchor="ctr"/>
          <a:lstStyle/>
          <a:p>
            <a:pPr indent="0" marL="0">
              <a:buNone/>
            </a:pPr>
            <a:r>
              <a:rPr lang="en-US" sz="1350" b="1" dirty="0">
                <a:solidFill>
                  <a:srgbClr val="002050"/>
                </a:solidFill>
                <a:latin typeface="Cambria" pitchFamily="34" charset="0"/>
                <a:ea typeface="Cambria" pitchFamily="34" charset="-122"/>
                <a:cs typeface="Cambria" pitchFamily="34" charset="-120"/>
              </a:rPr>
              <a:t>Requirements shape the decision</a:t>
            </a:r>
            <a:endParaRPr lang="en-US" sz="1350" dirty="0"/>
          </a:p>
        </p:txBody>
      </p:sp>
      <p:sp>
        <p:nvSpPr>
          <p:cNvPr id="6" name="Text 3"/>
          <p:cNvSpPr/>
          <p:nvPr/>
        </p:nvSpPr>
        <p:spPr>
          <a:xfrm>
            <a:off x="548640" y="5486400"/>
            <a:ext cx="6492240" cy="822960"/>
          </a:xfrm>
          <a:prstGeom prst="rect">
            <a:avLst/>
          </a:prstGeom>
          <a:noFill/>
          <a:ln/>
        </p:spPr>
        <p:txBody>
          <a:bodyPr wrap="square" rtlCol="0" anchor="ctr"/>
          <a:lstStyle/>
          <a:p>
            <a:pPr indent="0" marL="0">
              <a:lnSpc>
                <a:spcPct val="120000"/>
              </a:lnSpc>
              <a:buNone/>
            </a:pPr>
            <a:r>
              <a:rPr lang="en-US" sz="1150" dirty="0">
                <a:solidFill>
                  <a:srgbClr val="5B6B7C"/>
                </a:solidFill>
                <a:latin typeface="Calibri" pitchFamily="34" charset="0"/>
                <a:ea typeface="Calibri" pitchFamily="34" charset="-122"/>
                <a:cs typeface="Calibri" pitchFamily="34" charset="-120"/>
              </a:rPr>
              <a:t>Frequent transactional access combined with strict low-latency and high-IOPS needs rules out low-cost, low-performance storage tiers — directly steering the selection toward a premium, high-performance option.</a:t>
            </a:r>
            <a:endParaRPr lang="en-US" sz="1150" dirty="0"/>
          </a:p>
        </p:txBody>
      </p:sp>
      <p:sp>
        <p:nvSpPr>
          <p:cNvPr id="7" name="Shape 4"/>
          <p:cNvSpPr/>
          <p:nvPr/>
        </p:nvSpPr>
        <p:spPr>
          <a:xfrm>
            <a:off x="7315200" y="1554480"/>
            <a:ext cx="4343400" cy="4480560"/>
          </a:xfrm>
          <a:prstGeom prst="roundRect">
            <a:avLst>
              <a:gd name="adj" fmla="val 1684"/>
            </a:avLst>
          </a:prstGeom>
          <a:solidFill>
            <a:srgbClr val="002050"/>
          </a:solidFill>
          <a:ln w="12700">
            <a:solidFill>
              <a:srgbClr val="002050"/>
            </a:solidFill>
            <a:prstDash val="solid"/>
          </a:ln>
        </p:spPr>
      </p:sp>
      <p:sp>
        <p:nvSpPr>
          <p:cNvPr id="8" name="Shape 5"/>
          <p:cNvSpPr/>
          <p:nvPr/>
        </p:nvSpPr>
        <p:spPr>
          <a:xfrm>
            <a:off x="7589520" y="1810512"/>
            <a:ext cx="777240" cy="777240"/>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9" name="Image 0" descr="/home/claude/azure-ppt/icons/chart_white.png">    </p:cNvPr>
          <p:cNvPicPr>
            <a:picLocks noChangeAspect="1"/>
          </p:cNvPicPr>
          <p:nvPr/>
        </p:nvPicPr>
        <p:blipFill>
          <a:blip r:embed="rId1"/>
          <a:stretch>
            <a:fillRect/>
          </a:stretch>
        </p:blipFill>
        <p:spPr>
          <a:xfrm>
            <a:off x="7690561" y="1911553"/>
            <a:ext cx="575158" cy="575158"/>
          </a:xfrm>
          <a:prstGeom prst="rect">
            <a:avLst/>
          </a:prstGeom>
        </p:spPr>
      </p:pic>
      <p:sp>
        <p:nvSpPr>
          <p:cNvPr id="10" name="Text 6"/>
          <p:cNvSpPr/>
          <p:nvPr/>
        </p:nvSpPr>
        <p:spPr>
          <a:xfrm>
            <a:off x="7589520" y="2651760"/>
            <a:ext cx="3840480" cy="548640"/>
          </a:xfrm>
          <a:prstGeom prst="rect">
            <a:avLst/>
          </a:prstGeom>
          <a:noFill/>
          <a:ln/>
        </p:spPr>
        <p:txBody>
          <a:bodyPr wrap="square" rtlCol="0" anchor="ctr"/>
          <a:lstStyle/>
          <a:p>
            <a:pPr indent="0" marL="0">
              <a:lnSpc>
                <a:spcPct val="105000"/>
              </a:lnSpc>
              <a:buNone/>
            </a:pPr>
            <a:r>
              <a:rPr lang="en-US" sz="1500" b="1" dirty="0">
                <a:solidFill>
                  <a:srgbClr val="FFFFFF"/>
                </a:solidFill>
                <a:latin typeface="Cambria" pitchFamily="34" charset="0"/>
                <a:ea typeface="Cambria" pitchFamily="34" charset="-122"/>
                <a:cs typeface="Cambria" pitchFamily="34" charset="-120"/>
              </a:rPr>
              <a:t>How Requirements Drive Selection</a:t>
            </a:r>
            <a:endParaRPr lang="en-US" sz="1500" dirty="0"/>
          </a:p>
        </p:txBody>
      </p:sp>
      <p:sp>
        <p:nvSpPr>
          <p:cNvPr id="11" name="Shape 7"/>
          <p:cNvSpPr/>
          <p:nvPr/>
        </p:nvSpPr>
        <p:spPr>
          <a:xfrm>
            <a:off x="7635240" y="3383280"/>
            <a:ext cx="109728" cy="109728"/>
          </a:xfrm>
          <a:prstGeom prst="ellipse">
            <a:avLst/>
          </a:prstGeom>
          <a:solidFill>
            <a:srgbClr val="50E6FF"/>
          </a:solidFill>
          <a:ln/>
        </p:spPr>
      </p:sp>
      <p:sp>
        <p:nvSpPr>
          <p:cNvPr id="12" name="Text 8"/>
          <p:cNvSpPr/>
          <p:nvPr/>
        </p:nvSpPr>
        <p:spPr>
          <a:xfrm>
            <a:off x="7909560" y="3246120"/>
            <a:ext cx="3657600" cy="502920"/>
          </a:xfrm>
          <a:prstGeom prst="rect">
            <a:avLst/>
          </a:prstGeom>
          <a:noFill/>
          <a:ln/>
        </p:spPr>
        <p:txBody>
          <a:bodyPr wrap="square" rtlCol="0" anchor="ctr"/>
          <a:lstStyle/>
          <a:p>
            <a:pPr indent="0" marL="0">
              <a:lnSpc>
                <a:spcPct val="110000"/>
              </a:lnSpc>
              <a:buNone/>
            </a:pPr>
            <a:r>
              <a:rPr lang="en-US" sz="1100" dirty="0">
                <a:solidFill>
                  <a:srgbClr val="E4EFFB"/>
                </a:solidFill>
                <a:latin typeface="Calibri" pitchFamily="34" charset="0"/>
                <a:ea typeface="Calibri" pitchFamily="34" charset="-122"/>
                <a:cs typeface="Calibri" pitchFamily="34" charset="-120"/>
              </a:rPr>
              <a:t>High IOPS + Low Latency  →  Eliminates HDD-class storage</a:t>
            </a:r>
            <a:endParaRPr lang="en-US" sz="1100" dirty="0"/>
          </a:p>
        </p:txBody>
      </p:sp>
      <p:sp>
        <p:nvSpPr>
          <p:cNvPr id="13" name="Shape 9"/>
          <p:cNvSpPr/>
          <p:nvPr/>
        </p:nvSpPr>
        <p:spPr>
          <a:xfrm>
            <a:off x="7635240" y="3950208"/>
            <a:ext cx="109728" cy="109728"/>
          </a:xfrm>
          <a:prstGeom prst="ellipse">
            <a:avLst/>
          </a:prstGeom>
          <a:solidFill>
            <a:srgbClr val="50E6FF"/>
          </a:solidFill>
          <a:ln/>
        </p:spPr>
      </p:sp>
      <p:sp>
        <p:nvSpPr>
          <p:cNvPr id="14" name="Text 10"/>
          <p:cNvSpPr/>
          <p:nvPr/>
        </p:nvSpPr>
        <p:spPr>
          <a:xfrm>
            <a:off x="7909560" y="3813048"/>
            <a:ext cx="3657600" cy="502920"/>
          </a:xfrm>
          <a:prstGeom prst="rect">
            <a:avLst/>
          </a:prstGeom>
          <a:noFill/>
          <a:ln/>
        </p:spPr>
        <p:txBody>
          <a:bodyPr wrap="square" rtlCol="0" anchor="ctr"/>
          <a:lstStyle/>
          <a:p>
            <a:pPr indent="0" marL="0">
              <a:lnSpc>
                <a:spcPct val="110000"/>
              </a:lnSpc>
              <a:buNone/>
            </a:pPr>
            <a:r>
              <a:rPr lang="en-US" sz="1100" dirty="0">
                <a:solidFill>
                  <a:srgbClr val="E4EFFB"/>
                </a:solidFill>
                <a:latin typeface="Calibri" pitchFamily="34" charset="0"/>
                <a:ea typeface="Calibri" pitchFamily="34" charset="-122"/>
                <a:cs typeface="Calibri" pitchFamily="34" charset="-120"/>
              </a:rPr>
              <a:t>High Throughput  →  Requires SSD-backed disks</a:t>
            </a:r>
            <a:endParaRPr lang="en-US" sz="1100" dirty="0"/>
          </a:p>
        </p:txBody>
      </p:sp>
      <p:sp>
        <p:nvSpPr>
          <p:cNvPr id="15" name="Shape 11"/>
          <p:cNvSpPr/>
          <p:nvPr/>
        </p:nvSpPr>
        <p:spPr>
          <a:xfrm>
            <a:off x="7635240" y="4517136"/>
            <a:ext cx="109728" cy="109728"/>
          </a:xfrm>
          <a:prstGeom prst="ellipse">
            <a:avLst/>
          </a:prstGeom>
          <a:solidFill>
            <a:srgbClr val="50E6FF"/>
          </a:solidFill>
          <a:ln/>
        </p:spPr>
      </p:sp>
      <p:sp>
        <p:nvSpPr>
          <p:cNvPr id="16" name="Text 12"/>
          <p:cNvSpPr/>
          <p:nvPr/>
        </p:nvSpPr>
        <p:spPr>
          <a:xfrm>
            <a:off x="7909560" y="4379976"/>
            <a:ext cx="3657600" cy="502920"/>
          </a:xfrm>
          <a:prstGeom prst="rect">
            <a:avLst/>
          </a:prstGeom>
          <a:noFill/>
          <a:ln/>
        </p:spPr>
        <p:txBody>
          <a:bodyPr wrap="square" rtlCol="0" anchor="ctr"/>
          <a:lstStyle/>
          <a:p>
            <a:pPr indent="0" marL="0">
              <a:lnSpc>
                <a:spcPct val="110000"/>
              </a:lnSpc>
              <a:buNone/>
            </a:pPr>
            <a:r>
              <a:rPr lang="en-US" sz="1100" dirty="0">
                <a:solidFill>
                  <a:srgbClr val="E4EFFB"/>
                </a:solidFill>
                <a:latin typeface="Calibri" pitchFamily="34" charset="0"/>
                <a:ea typeface="Calibri" pitchFamily="34" charset="-122"/>
                <a:cs typeface="Calibri" pitchFamily="34" charset="-120"/>
              </a:rPr>
              <a:t>High Availability  →  Managed, redundant storage tier</a:t>
            </a:r>
            <a:endParaRPr lang="en-US" sz="1100" dirty="0"/>
          </a:p>
        </p:txBody>
      </p:sp>
      <p:sp>
        <p:nvSpPr>
          <p:cNvPr id="17" name="Shape 13"/>
          <p:cNvSpPr/>
          <p:nvPr/>
        </p:nvSpPr>
        <p:spPr>
          <a:xfrm>
            <a:off x="7635240" y="5084064"/>
            <a:ext cx="109728" cy="109728"/>
          </a:xfrm>
          <a:prstGeom prst="ellipse">
            <a:avLst/>
          </a:prstGeom>
          <a:solidFill>
            <a:srgbClr val="50E6FF"/>
          </a:solidFill>
          <a:ln/>
        </p:spPr>
      </p:sp>
      <p:sp>
        <p:nvSpPr>
          <p:cNvPr id="18" name="Text 14"/>
          <p:cNvSpPr/>
          <p:nvPr/>
        </p:nvSpPr>
        <p:spPr>
          <a:xfrm>
            <a:off x="7909560" y="4946904"/>
            <a:ext cx="3657600" cy="502920"/>
          </a:xfrm>
          <a:prstGeom prst="rect">
            <a:avLst/>
          </a:prstGeom>
          <a:noFill/>
          <a:ln/>
        </p:spPr>
        <p:txBody>
          <a:bodyPr wrap="square" rtlCol="0" anchor="ctr"/>
          <a:lstStyle/>
          <a:p>
            <a:pPr indent="0" marL="0">
              <a:lnSpc>
                <a:spcPct val="110000"/>
              </a:lnSpc>
              <a:buNone/>
            </a:pPr>
            <a:r>
              <a:rPr lang="en-US" sz="1100" dirty="0">
                <a:solidFill>
                  <a:srgbClr val="E4EFFB"/>
                </a:solidFill>
                <a:latin typeface="Calibri" pitchFamily="34" charset="0"/>
                <a:ea typeface="Calibri" pitchFamily="34" charset="-122"/>
                <a:cs typeface="Calibri" pitchFamily="34" charset="-120"/>
              </a:rPr>
              <a:t>Cost Optimization  →  Right-size tier, avoid over-provisioning</a:t>
            </a:r>
            <a:endParaRPr lang="en-US" sz="1100" dirty="0"/>
          </a:p>
        </p:txBody>
      </p:sp>
      <p:sp>
        <p:nvSpPr>
          <p:cNvPr id="19" name="Text 15"/>
          <p:cNvSpPr/>
          <p:nvPr/>
        </p:nvSpPr>
        <p:spPr>
          <a:xfrm>
            <a:off x="457200" y="6547104"/>
            <a:ext cx="7315200" cy="256032"/>
          </a:xfrm>
          <a:prstGeom prst="rect">
            <a:avLst/>
          </a:prstGeom>
          <a:noFill/>
          <a:ln/>
        </p:spPr>
        <p:txBody>
          <a:bodyPr wrap="square" rtlCol="0" anchor="ctr"/>
          <a:lstStyle/>
          <a:p>
            <a:pPr algn="l" indent="0" marL="0">
              <a:buNone/>
            </a:pPr>
            <a:r>
              <a:rPr lang="en-US" sz="850" spc="100" kern="0" dirty="0">
                <a:solidFill>
                  <a:srgbClr val="5B6B7C"/>
                </a:solidFill>
                <a:latin typeface="Calibri" pitchFamily="34" charset="0"/>
                <a:ea typeface="Calibri" pitchFamily="34" charset="-122"/>
                <a:cs typeface="Calibri" pitchFamily="34" charset="-120"/>
              </a:rPr>
              <a:t>AZURE STORAGE PERFORMANCE TIER SELECTION</a:t>
            </a:r>
            <a:endParaRPr lang="en-US" sz="850" dirty="0"/>
          </a:p>
        </p:txBody>
      </p:sp>
      <p:sp>
        <p:nvSpPr>
          <p:cNvPr id="20" name="Shape 16"/>
          <p:cNvSpPr/>
          <p:nvPr/>
        </p:nvSpPr>
        <p:spPr>
          <a:xfrm>
            <a:off x="11414455" y="6492240"/>
            <a:ext cx="329184" cy="329184"/>
          </a:xfrm>
          <a:prstGeom prst="ellipse">
            <a:avLst/>
          </a:prstGeom>
          <a:solidFill>
            <a:srgbClr val="0078D4"/>
          </a:solidFill>
          <a:ln/>
        </p:spPr>
      </p:sp>
      <p:sp>
        <p:nvSpPr>
          <p:cNvPr id="21" name="Text 17"/>
          <p:cNvSpPr/>
          <p:nvPr/>
        </p:nvSpPr>
        <p:spPr>
          <a:xfrm>
            <a:off x="11414455" y="6492240"/>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9FD"/>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algn="l" indent="0" marL="0">
              <a:buNone/>
            </a:pPr>
            <a:r>
              <a:rPr lang="en-US" sz="1250" b="1" spc="220" kern="0" dirty="0">
                <a:solidFill>
                  <a:srgbClr val="0078D4"/>
                </a:solidFill>
                <a:latin typeface="Calibri" pitchFamily="34" charset="0"/>
                <a:ea typeface="Calibri" pitchFamily="34" charset="-122"/>
                <a:cs typeface="Calibri" pitchFamily="34" charset="-120"/>
              </a:rPr>
              <a:t>STORAGE OPTIONS</a:t>
            </a:r>
            <a:endParaRPr lang="en-US" sz="1250" dirty="0"/>
          </a:p>
        </p:txBody>
      </p:sp>
      <p:sp>
        <p:nvSpPr>
          <p:cNvPr id="3" name="Text 1"/>
          <p:cNvSpPr/>
          <p:nvPr/>
        </p:nvSpPr>
        <p:spPr>
          <a:xfrm>
            <a:off x="548640" y="658368"/>
            <a:ext cx="10789920" cy="640080"/>
          </a:xfrm>
          <a:prstGeom prst="rect">
            <a:avLst/>
          </a:prstGeom>
          <a:noFill/>
          <a:ln/>
        </p:spPr>
        <p:txBody>
          <a:bodyPr wrap="square" rtlCol="0" anchor="ctr"/>
          <a:lstStyle/>
          <a:p>
            <a:pPr algn="l" indent="0" marL="0">
              <a:buNone/>
            </a:pPr>
            <a:r>
              <a:rPr lang="en-US" sz="3000" b="1" dirty="0">
                <a:solidFill>
                  <a:srgbClr val="002050"/>
                </a:solidFill>
                <a:latin typeface="Cambria" pitchFamily="34" charset="0"/>
                <a:ea typeface="Cambria" pitchFamily="34" charset="-122"/>
                <a:cs typeface="Cambria" pitchFamily="34" charset="-120"/>
              </a:rPr>
              <a:t>Azure Storage Performance Options</a:t>
            </a:r>
            <a:endParaRPr lang="en-US" sz="3000" dirty="0"/>
          </a:p>
        </p:txBody>
      </p:sp>
      <p:sp>
        <p:nvSpPr>
          <p:cNvPr id="4" name="Shape 2"/>
          <p:cNvSpPr/>
          <p:nvPr/>
        </p:nvSpPr>
        <p:spPr>
          <a:xfrm>
            <a:off x="548640" y="1691640"/>
            <a:ext cx="3520440" cy="3749040"/>
          </a:xfrm>
          <a:prstGeom prst="roundRect">
            <a:avLst>
              <a:gd name="adj" fmla="val 2078"/>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5" name="Shape 3"/>
          <p:cNvSpPr/>
          <p:nvPr/>
        </p:nvSpPr>
        <p:spPr>
          <a:xfrm>
            <a:off x="1851660" y="1984248"/>
            <a:ext cx="914400" cy="914400"/>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6" name="Image 0" descr="/home/claude/azure-ppt/icons/hdd_white.png">    </p:cNvPr>
          <p:cNvPicPr>
            <a:picLocks noChangeAspect="1"/>
          </p:cNvPicPr>
          <p:nvPr/>
        </p:nvPicPr>
        <p:blipFill>
          <a:blip r:embed="rId1"/>
          <a:stretch>
            <a:fillRect/>
          </a:stretch>
        </p:blipFill>
        <p:spPr>
          <a:xfrm>
            <a:off x="1979676" y="2112264"/>
            <a:ext cx="658368" cy="658368"/>
          </a:xfrm>
          <a:prstGeom prst="rect">
            <a:avLst/>
          </a:prstGeom>
        </p:spPr>
      </p:pic>
      <p:sp>
        <p:nvSpPr>
          <p:cNvPr id="7" name="Text 4"/>
          <p:cNvSpPr/>
          <p:nvPr/>
        </p:nvSpPr>
        <p:spPr>
          <a:xfrm>
            <a:off x="731520" y="2990088"/>
            <a:ext cx="3154680" cy="411480"/>
          </a:xfrm>
          <a:prstGeom prst="rect">
            <a:avLst/>
          </a:prstGeom>
          <a:noFill/>
          <a:ln/>
        </p:spPr>
        <p:txBody>
          <a:bodyPr wrap="square" rtlCol="0" anchor="ctr"/>
          <a:lstStyle/>
          <a:p>
            <a:pPr algn="ctr" indent="0" marL="0">
              <a:buNone/>
            </a:pPr>
            <a:r>
              <a:rPr lang="en-US" sz="1800" b="1" dirty="0">
                <a:solidFill>
                  <a:srgbClr val="002050"/>
                </a:solidFill>
                <a:latin typeface="Cambria" pitchFamily="34" charset="0"/>
                <a:ea typeface="Cambria" pitchFamily="34" charset="-122"/>
                <a:cs typeface="Cambria" pitchFamily="34" charset="-120"/>
              </a:rPr>
              <a:t>Standard HDD</a:t>
            </a:r>
            <a:endParaRPr lang="en-US" sz="1800" dirty="0"/>
          </a:p>
        </p:txBody>
      </p:sp>
      <p:sp>
        <p:nvSpPr>
          <p:cNvPr id="8" name="Text 5"/>
          <p:cNvSpPr/>
          <p:nvPr/>
        </p:nvSpPr>
        <p:spPr>
          <a:xfrm>
            <a:off x="731520" y="3429000"/>
            <a:ext cx="3154680" cy="365760"/>
          </a:xfrm>
          <a:prstGeom prst="rect">
            <a:avLst/>
          </a:prstGeom>
          <a:noFill/>
          <a:ln/>
        </p:spPr>
        <p:txBody>
          <a:bodyPr wrap="square" rtlCol="0" anchor="ctr"/>
          <a:lstStyle/>
          <a:p>
            <a:pPr algn="ctr" indent="0" marL="0">
              <a:buNone/>
            </a:pPr>
            <a:r>
              <a:rPr lang="en-US" sz="1200" b="1" i="1" dirty="0">
                <a:solidFill>
                  <a:srgbClr val="0078D4"/>
                </a:solidFill>
                <a:latin typeface="Calibri" pitchFamily="34" charset="0"/>
                <a:ea typeface="Calibri" pitchFamily="34" charset="-122"/>
                <a:cs typeface="Calibri" pitchFamily="34" charset="-120"/>
              </a:rPr>
              <a:t>Low-cost workloads</a:t>
            </a:r>
            <a:endParaRPr lang="en-US" sz="1200" dirty="0"/>
          </a:p>
        </p:txBody>
      </p:sp>
      <p:sp>
        <p:nvSpPr>
          <p:cNvPr id="9" name="Text 6"/>
          <p:cNvSpPr/>
          <p:nvPr/>
        </p:nvSpPr>
        <p:spPr>
          <a:xfrm>
            <a:off x="822960" y="3886200"/>
            <a:ext cx="2971800" cy="1005840"/>
          </a:xfrm>
          <a:prstGeom prst="rect">
            <a:avLst/>
          </a:prstGeom>
          <a:noFill/>
          <a:ln/>
        </p:spPr>
        <p:txBody>
          <a:bodyPr wrap="square" rtlCol="0" anchor="ctr"/>
          <a:lstStyle/>
          <a:p>
            <a:pPr algn="ctr" indent="0" marL="0">
              <a:lnSpc>
                <a:spcPct val="120000"/>
              </a:lnSpc>
              <a:buNone/>
            </a:pPr>
            <a:r>
              <a:rPr lang="en-US" sz="1100" dirty="0">
                <a:solidFill>
                  <a:srgbClr val="5B6B7C"/>
                </a:solidFill>
                <a:latin typeface="Calibri" pitchFamily="34" charset="0"/>
                <a:ea typeface="Calibri" pitchFamily="34" charset="-122"/>
                <a:cs typeface="Calibri" pitchFamily="34" charset="-120"/>
              </a:rPr>
              <a:t>Backup, archival, infrequent access. Lowest IOPS &amp; throughput.</a:t>
            </a:r>
            <a:endParaRPr lang="en-US" sz="1100" dirty="0"/>
          </a:p>
        </p:txBody>
      </p:sp>
      <p:sp>
        <p:nvSpPr>
          <p:cNvPr id="10" name="Shape 7"/>
          <p:cNvSpPr/>
          <p:nvPr/>
        </p:nvSpPr>
        <p:spPr>
          <a:xfrm>
            <a:off x="4343400" y="1691640"/>
            <a:ext cx="3520440" cy="3749040"/>
          </a:xfrm>
          <a:prstGeom prst="roundRect">
            <a:avLst>
              <a:gd name="adj" fmla="val 2078"/>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11" name="Shape 8"/>
          <p:cNvSpPr/>
          <p:nvPr/>
        </p:nvSpPr>
        <p:spPr>
          <a:xfrm>
            <a:off x="5646420" y="1984248"/>
            <a:ext cx="914400" cy="914400"/>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12" name="Image 1" descr="/home/claude/azure-ppt/icons/hdd_white.png">    </p:cNvPr>
          <p:cNvPicPr>
            <a:picLocks noChangeAspect="1"/>
          </p:cNvPicPr>
          <p:nvPr/>
        </p:nvPicPr>
        <p:blipFill>
          <a:blip r:embed="rId2"/>
          <a:stretch>
            <a:fillRect/>
          </a:stretch>
        </p:blipFill>
        <p:spPr>
          <a:xfrm>
            <a:off x="5774436" y="2112264"/>
            <a:ext cx="658368" cy="658368"/>
          </a:xfrm>
          <a:prstGeom prst="rect">
            <a:avLst/>
          </a:prstGeom>
        </p:spPr>
      </p:pic>
      <p:sp>
        <p:nvSpPr>
          <p:cNvPr id="13" name="Text 9"/>
          <p:cNvSpPr/>
          <p:nvPr/>
        </p:nvSpPr>
        <p:spPr>
          <a:xfrm>
            <a:off x="4526280" y="2990088"/>
            <a:ext cx="3154680" cy="411480"/>
          </a:xfrm>
          <a:prstGeom prst="rect">
            <a:avLst/>
          </a:prstGeom>
          <a:noFill/>
          <a:ln/>
        </p:spPr>
        <p:txBody>
          <a:bodyPr wrap="square" rtlCol="0" anchor="ctr"/>
          <a:lstStyle/>
          <a:p>
            <a:pPr algn="ctr" indent="0" marL="0">
              <a:buNone/>
            </a:pPr>
            <a:r>
              <a:rPr lang="en-US" sz="1800" b="1" dirty="0">
                <a:solidFill>
                  <a:srgbClr val="002050"/>
                </a:solidFill>
                <a:latin typeface="Cambria" pitchFamily="34" charset="0"/>
                <a:ea typeface="Cambria" pitchFamily="34" charset="-122"/>
                <a:cs typeface="Cambria" pitchFamily="34" charset="-120"/>
              </a:rPr>
              <a:t>Standard SSD</a:t>
            </a:r>
            <a:endParaRPr lang="en-US" sz="1800" dirty="0"/>
          </a:p>
        </p:txBody>
      </p:sp>
      <p:sp>
        <p:nvSpPr>
          <p:cNvPr id="14" name="Text 10"/>
          <p:cNvSpPr/>
          <p:nvPr/>
        </p:nvSpPr>
        <p:spPr>
          <a:xfrm>
            <a:off x="4526280" y="3429000"/>
            <a:ext cx="3154680" cy="365760"/>
          </a:xfrm>
          <a:prstGeom prst="rect">
            <a:avLst/>
          </a:prstGeom>
          <a:noFill/>
          <a:ln/>
        </p:spPr>
        <p:txBody>
          <a:bodyPr wrap="square" rtlCol="0" anchor="ctr"/>
          <a:lstStyle/>
          <a:p>
            <a:pPr algn="ctr" indent="0" marL="0">
              <a:buNone/>
            </a:pPr>
            <a:r>
              <a:rPr lang="en-US" sz="1200" b="1" i="1" dirty="0">
                <a:solidFill>
                  <a:srgbClr val="0078D4"/>
                </a:solidFill>
                <a:latin typeface="Calibri" pitchFamily="34" charset="0"/>
                <a:ea typeface="Calibri" pitchFamily="34" charset="-122"/>
                <a:cs typeface="Calibri" pitchFamily="34" charset="-120"/>
              </a:rPr>
              <a:t>General applications</a:t>
            </a:r>
            <a:endParaRPr lang="en-US" sz="1200" dirty="0"/>
          </a:p>
        </p:txBody>
      </p:sp>
      <p:sp>
        <p:nvSpPr>
          <p:cNvPr id="15" name="Text 11"/>
          <p:cNvSpPr/>
          <p:nvPr/>
        </p:nvSpPr>
        <p:spPr>
          <a:xfrm>
            <a:off x="4617720" y="3886200"/>
            <a:ext cx="2971800" cy="1005840"/>
          </a:xfrm>
          <a:prstGeom prst="rect">
            <a:avLst/>
          </a:prstGeom>
          <a:noFill/>
          <a:ln/>
        </p:spPr>
        <p:txBody>
          <a:bodyPr wrap="square" rtlCol="0" anchor="ctr"/>
          <a:lstStyle/>
          <a:p>
            <a:pPr algn="ctr" indent="0" marL="0">
              <a:lnSpc>
                <a:spcPct val="120000"/>
              </a:lnSpc>
              <a:buNone/>
            </a:pPr>
            <a:r>
              <a:rPr lang="en-US" sz="1100" dirty="0">
                <a:solidFill>
                  <a:srgbClr val="5B6B7C"/>
                </a:solidFill>
                <a:latin typeface="Calibri" pitchFamily="34" charset="0"/>
                <a:ea typeface="Calibri" pitchFamily="34" charset="-122"/>
                <a:cs typeface="Calibri" pitchFamily="34" charset="-120"/>
              </a:rPr>
              <a:t>Balanced cost and performance for typical business applications.</a:t>
            </a:r>
            <a:endParaRPr lang="en-US" sz="1100" dirty="0"/>
          </a:p>
        </p:txBody>
      </p:sp>
      <p:sp>
        <p:nvSpPr>
          <p:cNvPr id="16" name="Shape 12"/>
          <p:cNvSpPr/>
          <p:nvPr/>
        </p:nvSpPr>
        <p:spPr>
          <a:xfrm>
            <a:off x="8138160" y="1581912"/>
            <a:ext cx="3520440" cy="3968496"/>
          </a:xfrm>
          <a:prstGeom prst="roundRect">
            <a:avLst>
              <a:gd name="adj" fmla="val 2597"/>
            </a:avLst>
          </a:prstGeom>
          <a:solidFill>
            <a:srgbClr val="0078D4"/>
          </a:solidFill>
          <a:ln w="12700">
            <a:solidFill>
              <a:srgbClr val="0078D4"/>
            </a:solidFill>
            <a:prstDash val="solid"/>
          </a:ln>
          <a:effectLst>
            <a:outerShdw sx="100000" sy="100000" kx="0" ky="0" algn="bl" rotWithShape="0" blurRad="101600" dist="25400" dir="5400000">
              <a:srgbClr val="1B2A3C">
                <a:alpha val="10000"/>
              </a:srgbClr>
            </a:outerShdw>
          </a:effectLst>
        </p:spPr>
      </p:sp>
      <p:sp>
        <p:nvSpPr>
          <p:cNvPr id="17" name="Shape 13"/>
          <p:cNvSpPr/>
          <p:nvPr/>
        </p:nvSpPr>
        <p:spPr>
          <a:xfrm>
            <a:off x="9441180" y="1874520"/>
            <a:ext cx="914400" cy="914400"/>
          </a:xfrm>
          <a:prstGeom prst="ellipse">
            <a:avLst/>
          </a:prstGeom>
          <a:solidFill>
            <a:srgbClr val="FFFFFF"/>
          </a:solidFill>
          <a:ln/>
          <a:effectLst>
            <a:outerShdw sx="100000" sy="100000" kx="0" ky="0" algn="bl" rotWithShape="0" blurRad="76200" dist="25400" dir="5400000">
              <a:srgbClr val="1B2A3C">
                <a:alpha val="18000"/>
              </a:srgbClr>
            </a:outerShdw>
          </a:effectLst>
        </p:spPr>
      </p:sp>
      <p:pic>
        <p:nvPicPr>
          <p:cNvPr id="18" name="Image 2" descr="/home/claude/azure-ppt/icons/bolt.png">    </p:cNvPr>
          <p:cNvPicPr>
            <a:picLocks noChangeAspect="1"/>
          </p:cNvPicPr>
          <p:nvPr/>
        </p:nvPicPr>
        <p:blipFill>
          <a:blip r:embed="rId3"/>
          <a:stretch>
            <a:fillRect/>
          </a:stretch>
        </p:blipFill>
        <p:spPr>
          <a:xfrm>
            <a:off x="9569196" y="2002536"/>
            <a:ext cx="658368" cy="658368"/>
          </a:xfrm>
          <a:prstGeom prst="rect">
            <a:avLst/>
          </a:prstGeom>
        </p:spPr>
      </p:pic>
      <p:sp>
        <p:nvSpPr>
          <p:cNvPr id="19" name="Text 14"/>
          <p:cNvSpPr/>
          <p:nvPr/>
        </p:nvSpPr>
        <p:spPr>
          <a:xfrm>
            <a:off x="8321040" y="2926080"/>
            <a:ext cx="3154680" cy="41148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Premium SSD</a:t>
            </a:r>
            <a:endParaRPr lang="en-US" sz="1800" dirty="0"/>
          </a:p>
        </p:txBody>
      </p:sp>
      <p:sp>
        <p:nvSpPr>
          <p:cNvPr id="20" name="Text 15"/>
          <p:cNvSpPr/>
          <p:nvPr/>
        </p:nvSpPr>
        <p:spPr>
          <a:xfrm>
            <a:off x="8321040" y="3355848"/>
            <a:ext cx="3154680" cy="365760"/>
          </a:xfrm>
          <a:prstGeom prst="rect">
            <a:avLst/>
          </a:prstGeom>
          <a:noFill/>
          <a:ln/>
        </p:spPr>
        <p:txBody>
          <a:bodyPr wrap="square" rtlCol="0" anchor="ctr"/>
          <a:lstStyle/>
          <a:p>
            <a:pPr algn="ctr" indent="0" marL="0">
              <a:buNone/>
            </a:pPr>
            <a:r>
              <a:rPr lang="en-US" sz="1200" b="1" i="1" dirty="0">
                <a:solidFill>
                  <a:srgbClr val="50E6FF"/>
                </a:solidFill>
                <a:latin typeface="Calibri" pitchFamily="34" charset="0"/>
                <a:ea typeface="Calibri" pitchFamily="34" charset="-122"/>
                <a:cs typeface="Calibri" pitchFamily="34" charset="-120"/>
              </a:rPr>
              <a:t>High-performance applications</a:t>
            </a:r>
            <a:endParaRPr lang="en-US" sz="1200" dirty="0"/>
          </a:p>
        </p:txBody>
      </p:sp>
      <p:sp>
        <p:nvSpPr>
          <p:cNvPr id="21" name="Text 16"/>
          <p:cNvSpPr/>
          <p:nvPr/>
        </p:nvSpPr>
        <p:spPr>
          <a:xfrm>
            <a:off x="8412480" y="3794760"/>
            <a:ext cx="2971800" cy="1005840"/>
          </a:xfrm>
          <a:prstGeom prst="rect">
            <a:avLst/>
          </a:prstGeom>
          <a:noFill/>
          <a:ln/>
        </p:spPr>
        <p:txBody>
          <a:bodyPr wrap="square" rtlCol="0" anchor="ctr"/>
          <a:lstStyle/>
          <a:p>
            <a:pPr algn="ctr" indent="0" marL="0">
              <a:lnSpc>
                <a:spcPct val="120000"/>
              </a:lnSpc>
              <a:buNone/>
            </a:pPr>
            <a:r>
              <a:rPr lang="en-US" sz="1100" dirty="0">
                <a:solidFill>
                  <a:srgbClr val="E4EFFB"/>
                </a:solidFill>
                <a:latin typeface="Calibri" pitchFamily="34" charset="0"/>
                <a:ea typeface="Calibri" pitchFamily="34" charset="-122"/>
                <a:cs typeface="Calibri" pitchFamily="34" charset="-120"/>
              </a:rPr>
              <a:t>Low latency, high IOPS &amp; throughput for transactional workloads.</a:t>
            </a:r>
            <a:endParaRPr lang="en-US" sz="1100" dirty="0"/>
          </a:p>
        </p:txBody>
      </p:sp>
      <p:sp>
        <p:nvSpPr>
          <p:cNvPr id="22" name="Shape 17"/>
          <p:cNvSpPr/>
          <p:nvPr/>
        </p:nvSpPr>
        <p:spPr>
          <a:xfrm>
            <a:off x="9121140" y="5330952"/>
            <a:ext cx="1554480" cy="347472"/>
          </a:xfrm>
          <a:prstGeom prst="roundRect">
            <a:avLst>
              <a:gd name="adj" fmla="val 50000"/>
            </a:avLst>
          </a:prstGeom>
          <a:solidFill>
            <a:srgbClr val="FFB900"/>
          </a:solidFill>
          <a:ln/>
        </p:spPr>
      </p:sp>
      <p:sp>
        <p:nvSpPr>
          <p:cNvPr id="23" name="Text 18"/>
          <p:cNvSpPr/>
          <p:nvPr/>
        </p:nvSpPr>
        <p:spPr>
          <a:xfrm>
            <a:off x="9121140" y="5330952"/>
            <a:ext cx="1554480" cy="347472"/>
          </a:xfrm>
          <a:prstGeom prst="rect">
            <a:avLst/>
          </a:prstGeom>
          <a:noFill/>
          <a:ln/>
        </p:spPr>
        <p:txBody>
          <a:bodyPr wrap="square" rtlCol="0" anchor="ctr"/>
          <a:lstStyle/>
          <a:p>
            <a:pPr algn="ctr" indent="0" marL="0">
              <a:buNone/>
            </a:pPr>
            <a:r>
              <a:rPr lang="en-US" sz="1050" b="1" spc="150" kern="0" dirty="0">
                <a:solidFill>
                  <a:srgbClr val="002050"/>
                </a:solidFill>
                <a:latin typeface="Calibri" pitchFamily="34" charset="0"/>
                <a:ea typeface="Calibri" pitchFamily="34" charset="-122"/>
                <a:cs typeface="Calibri" pitchFamily="34" charset="-120"/>
              </a:rPr>
              <a:t>SELECTED</a:t>
            </a:r>
            <a:endParaRPr lang="en-US" sz="1050" dirty="0"/>
          </a:p>
        </p:txBody>
      </p:sp>
      <p:sp>
        <p:nvSpPr>
          <p:cNvPr id="24" name="Text 19"/>
          <p:cNvSpPr/>
          <p:nvPr/>
        </p:nvSpPr>
        <p:spPr>
          <a:xfrm>
            <a:off x="548640" y="5623560"/>
            <a:ext cx="11064240" cy="502920"/>
          </a:xfrm>
          <a:prstGeom prst="rect">
            <a:avLst/>
          </a:prstGeom>
          <a:noFill/>
          <a:ln/>
        </p:spPr>
        <p:txBody>
          <a:bodyPr wrap="square" rtlCol="0" anchor="ctr"/>
          <a:lstStyle/>
          <a:p>
            <a:pPr algn="ctr" indent="0" marL="0">
              <a:buNone/>
            </a:pPr>
            <a:r>
              <a:rPr lang="en-US" sz="1200" i="1" dirty="0">
                <a:solidFill>
                  <a:srgbClr val="5B6B7C"/>
                </a:solidFill>
                <a:latin typeface="Calibri" pitchFamily="34" charset="0"/>
                <a:ea typeface="Calibri" pitchFamily="34" charset="-122"/>
                <a:cs typeface="Calibri" pitchFamily="34" charset="-120"/>
              </a:rPr>
              <a:t>Premium SSD is selected for this workload — it is purpose-built for latency-sensitive, high-IOPS transactional applications like the assumed online shopping scenario.</a:t>
            </a:r>
            <a:endParaRPr lang="en-US" sz="1200" dirty="0"/>
          </a:p>
        </p:txBody>
      </p:sp>
      <p:sp>
        <p:nvSpPr>
          <p:cNvPr id="25" name="Text 20"/>
          <p:cNvSpPr/>
          <p:nvPr/>
        </p:nvSpPr>
        <p:spPr>
          <a:xfrm>
            <a:off x="457200" y="6547104"/>
            <a:ext cx="7315200" cy="256032"/>
          </a:xfrm>
          <a:prstGeom prst="rect">
            <a:avLst/>
          </a:prstGeom>
          <a:noFill/>
          <a:ln/>
        </p:spPr>
        <p:txBody>
          <a:bodyPr wrap="square" rtlCol="0" anchor="ctr"/>
          <a:lstStyle/>
          <a:p>
            <a:pPr algn="l" indent="0" marL="0">
              <a:buNone/>
            </a:pPr>
            <a:r>
              <a:rPr lang="en-US" sz="850" spc="100" kern="0" dirty="0">
                <a:solidFill>
                  <a:srgbClr val="5B6B7C"/>
                </a:solidFill>
                <a:latin typeface="Calibri" pitchFamily="34" charset="0"/>
                <a:ea typeface="Calibri" pitchFamily="34" charset="-122"/>
                <a:cs typeface="Calibri" pitchFamily="34" charset="-120"/>
              </a:rPr>
              <a:t>AZURE STORAGE PERFORMANCE TIER SELECTION</a:t>
            </a:r>
            <a:endParaRPr lang="en-US" sz="850" dirty="0"/>
          </a:p>
        </p:txBody>
      </p:sp>
      <p:sp>
        <p:nvSpPr>
          <p:cNvPr id="26" name="Shape 21"/>
          <p:cNvSpPr/>
          <p:nvPr/>
        </p:nvSpPr>
        <p:spPr>
          <a:xfrm>
            <a:off x="11414455" y="6492240"/>
            <a:ext cx="329184" cy="329184"/>
          </a:xfrm>
          <a:prstGeom prst="ellipse">
            <a:avLst/>
          </a:prstGeom>
          <a:solidFill>
            <a:srgbClr val="0078D4"/>
          </a:solidFill>
          <a:ln/>
        </p:spPr>
      </p:sp>
      <p:sp>
        <p:nvSpPr>
          <p:cNvPr id="27" name="Text 22"/>
          <p:cNvSpPr/>
          <p:nvPr/>
        </p:nvSpPr>
        <p:spPr>
          <a:xfrm>
            <a:off x="11414455" y="6492240"/>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9FD"/>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algn="l" indent="0" marL="0">
              <a:buNone/>
            </a:pPr>
            <a:r>
              <a:rPr lang="en-US" sz="1250" b="1" spc="220" kern="0" dirty="0">
                <a:solidFill>
                  <a:srgbClr val="0078D4"/>
                </a:solidFill>
                <a:latin typeface="Calibri" pitchFamily="34" charset="0"/>
                <a:ea typeface="Calibri" pitchFamily="34" charset="-122"/>
                <a:cs typeface="Calibri" pitchFamily="34" charset="-120"/>
              </a:rPr>
              <a:t>PREMIUM SSD TIERS</a:t>
            </a:r>
            <a:endParaRPr lang="en-US" sz="1250" dirty="0"/>
          </a:p>
        </p:txBody>
      </p:sp>
      <p:sp>
        <p:nvSpPr>
          <p:cNvPr id="3" name="Text 1"/>
          <p:cNvSpPr/>
          <p:nvPr/>
        </p:nvSpPr>
        <p:spPr>
          <a:xfrm>
            <a:off x="548640" y="658368"/>
            <a:ext cx="10789920" cy="640080"/>
          </a:xfrm>
          <a:prstGeom prst="rect">
            <a:avLst/>
          </a:prstGeom>
          <a:noFill/>
          <a:ln/>
        </p:spPr>
        <p:txBody>
          <a:bodyPr wrap="square" rtlCol="0" anchor="ctr"/>
          <a:lstStyle/>
          <a:p>
            <a:pPr algn="l" indent="0" marL="0">
              <a:buNone/>
            </a:pPr>
            <a:r>
              <a:rPr lang="en-US" sz="3000" b="1" dirty="0">
                <a:solidFill>
                  <a:srgbClr val="002050"/>
                </a:solidFill>
                <a:latin typeface="Cambria" pitchFamily="34" charset="0"/>
                <a:ea typeface="Cambria" pitchFamily="34" charset="-122"/>
                <a:cs typeface="Cambria" pitchFamily="34" charset="-120"/>
              </a:rPr>
              <a:t>Azure Premium SSD Performance Tiers</a:t>
            </a:r>
            <a:endParaRPr lang="en-US" sz="3000" dirty="0"/>
          </a:p>
        </p:txBody>
      </p:sp>
      <p:sp>
        <p:nvSpPr>
          <p:cNvPr id="4" name="Text 2"/>
          <p:cNvSpPr/>
          <p:nvPr/>
        </p:nvSpPr>
        <p:spPr>
          <a:xfrm>
            <a:off x="548640" y="1234440"/>
            <a:ext cx="5120640" cy="292608"/>
          </a:xfrm>
          <a:prstGeom prst="rect">
            <a:avLst/>
          </a:prstGeom>
          <a:noFill/>
          <a:ln/>
        </p:spPr>
        <p:txBody>
          <a:bodyPr wrap="square" rtlCol="0" anchor="ctr"/>
          <a:lstStyle/>
          <a:p>
            <a:pPr indent="0" marL="0">
              <a:buNone/>
            </a:pPr>
            <a:r>
              <a:rPr lang="en-US" sz="1350" b="1" dirty="0">
                <a:solidFill>
                  <a:srgbClr val="002050"/>
                </a:solidFill>
                <a:latin typeface="Cambria" pitchFamily="34" charset="0"/>
                <a:ea typeface="Cambria" pitchFamily="34" charset="-122"/>
                <a:cs typeface="Cambria" pitchFamily="34" charset="-120"/>
              </a:rPr>
              <a:t>Performance tier determines:</a:t>
            </a:r>
            <a:endParaRPr lang="en-US" sz="1350" dirty="0"/>
          </a:p>
        </p:txBody>
      </p:sp>
      <p:sp>
        <p:nvSpPr>
          <p:cNvPr id="5" name="Shape 3"/>
          <p:cNvSpPr/>
          <p:nvPr/>
        </p:nvSpPr>
        <p:spPr>
          <a:xfrm>
            <a:off x="548640" y="1600200"/>
            <a:ext cx="365760" cy="365760"/>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6" name="Image 0" descr="/home/claude/azure-ppt/icons/check_white.png">    </p:cNvPr>
          <p:cNvPicPr>
            <a:picLocks noChangeAspect="1"/>
          </p:cNvPicPr>
          <p:nvPr/>
        </p:nvPicPr>
        <p:blipFill>
          <a:blip r:embed="rId1"/>
          <a:stretch>
            <a:fillRect/>
          </a:stretch>
        </p:blipFill>
        <p:spPr>
          <a:xfrm>
            <a:off x="588874" y="1640434"/>
            <a:ext cx="285293" cy="285293"/>
          </a:xfrm>
          <a:prstGeom prst="rect">
            <a:avLst/>
          </a:prstGeom>
        </p:spPr>
      </p:pic>
      <p:sp>
        <p:nvSpPr>
          <p:cNvPr id="7" name="Text 4"/>
          <p:cNvSpPr/>
          <p:nvPr/>
        </p:nvSpPr>
        <p:spPr>
          <a:xfrm>
            <a:off x="1005840" y="1572768"/>
            <a:ext cx="4663440" cy="365760"/>
          </a:xfrm>
          <a:prstGeom prst="rect">
            <a:avLst/>
          </a:prstGeom>
          <a:noFill/>
          <a:ln/>
        </p:spPr>
        <p:txBody>
          <a:bodyPr wrap="square" rtlCol="0" anchor="ctr"/>
          <a:lstStyle/>
          <a:p>
            <a:pPr indent="0" marL="0">
              <a:buNone/>
            </a:pPr>
            <a:r>
              <a:rPr lang="en-US" sz="1150" dirty="0">
                <a:solidFill>
                  <a:srgbClr val="5B6B7C"/>
                </a:solidFill>
                <a:latin typeface="Calibri" pitchFamily="34" charset="0"/>
                <a:ea typeface="Calibri" pitchFamily="34" charset="-122"/>
                <a:cs typeface="Calibri" pitchFamily="34" charset="-120"/>
              </a:rPr>
              <a:t>IOPS (input/output operations per second)</a:t>
            </a:r>
            <a:endParaRPr lang="en-US" sz="1150" dirty="0"/>
          </a:p>
        </p:txBody>
      </p:sp>
      <p:sp>
        <p:nvSpPr>
          <p:cNvPr id="8" name="Shape 5"/>
          <p:cNvSpPr/>
          <p:nvPr/>
        </p:nvSpPr>
        <p:spPr>
          <a:xfrm>
            <a:off x="548640" y="2057400"/>
            <a:ext cx="365760" cy="365760"/>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9" name="Image 1" descr="/home/claude/azure-ppt/icons/check_white.png">    </p:cNvPr>
          <p:cNvPicPr>
            <a:picLocks noChangeAspect="1"/>
          </p:cNvPicPr>
          <p:nvPr/>
        </p:nvPicPr>
        <p:blipFill>
          <a:blip r:embed="rId2"/>
          <a:stretch>
            <a:fillRect/>
          </a:stretch>
        </p:blipFill>
        <p:spPr>
          <a:xfrm>
            <a:off x="588874" y="2097634"/>
            <a:ext cx="285293" cy="285293"/>
          </a:xfrm>
          <a:prstGeom prst="rect">
            <a:avLst/>
          </a:prstGeom>
        </p:spPr>
      </p:pic>
      <p:sp>
        <p:nvSpPr>
          <p:cNvPr id="10" name="Text 6"/>
          <p:cNvSpPr/>
          <p:nvPr/>
        </p:nvSpPr>
        <p:spPr>
          <a:xfrm>
            <a:off x="1005840" y="2029968"/>
            <a:ext cx="4663440" cy="365760"/>
          </a:xfrm>
          <a:prstGeom prst="rect">
            <a:avLst/>
          </a:prstGeom>
          <a:noFill/>
          <a:ln/>
        </p:spPr>
        <p:txBody>
          <a:bodyPr wrap="square" rtlCol="0" anchor="ctr"/>
          <a:lstStyle/>
          <a:p>
            <a:pPr indent="0" marL="0">
              <a:buNone/>
            </a:pPr>
            <a:r>
              <a:rPr lang="en-US" sz="1150" dirty="0">
                <a:solidFill>
                  <a:srgbClr val="5B6B7C"/>
                </a:solidFill>
                <a:latin typeface="Calibri" pitchFamily="34" charset="0"/>
                <a:ea typeface="Calibri" pitchFamily="34" charset="-122"/>
                <a:cs typeface="Calibri" pitchFamily="34" charset="-120"/>
              </a:rPr>
              <a:t>Throughput (data transfer rate, MB/s)</a:t>
            </a:r>
            <a:endParaRPr lang="en-US" sz="1150" dirty="0"/>
          </a:p>
        </p:txBody>
      </p:sp>
      <p:sp>
        <p:nvSpPr>
          <p:cNvPr id="11" name="Shape 7"/>
          <p:cNvSpPr/>
          <p:nvPr/>
        </p:nvSpPr>
        <p:spPr>
          <a:xfrm>
            <a:off x="548640" y="2514600"/>
            <a:ext cx="365760" cy="365760"/>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12" name="Image 2" descr="/home/claude/azure-ppt/icons/check_white.png">    </p:cNvPr>
          <p:cNvPicPr>
            <a:picLocks noChangeAspect="1"/>
          </p:cNvPicPr>
          <p:nvPr/>
        </p:nvPicPr>
        <p:blipFill>
          <a:blip r:embed="rId3"/>
          <a:stretch>
            <a:fillRect/>
          </a:stretch>
        </p:blipFill>
        <p:spPr>
          <a:xfrm>
            <a:off x="588874" y="2554834"/>
            <a:ext cx="285293" cy="285293"/>
          </a:xfrm>
          <a:prstGeom prst="rect">
            <a:avLst/>
          </a:prstGeom>
        </p:spPr>
      </p:pic>
      <p:sp>
        <p:nvSpPr>
          <p:cNvPr id="13" name="Text 8"/>
          <p:cNvSpPr/>
          <p:nvPr/>
        </p:nvSpPr>
        <p:spPr>
          <a:xfrm>
            <a:off x="1005840" y="2487168"/>
            <a:ext cx="4663440" cy="365760"/>
          </a:xfrm>
          <a:prstGeom prst="rect">
            <a:avLst/>
          </a:prstGeom>
          <a:noFill/>
          <a:ln/>
        </p:spPr>
        <p:txBody>
          <a:bodyPr wrap="square" rtlCol="0" anchor="ctr"/>
          <a:lstStyle/>
          <a:p>
            <a:pPr indent="0" marL="0">
              <a:buNone/>
            </a:pPr>
            <a:r>
              <a:rPr lang="en-US" sz="1150" dirty="0">
                <a:solidFill>
                  <a:srgbClr val="5B6B7C"/>
                </a:solidFill>
                <a:latin typeface="Calibri" pitchFamily="34" charset="0"/>
                <a:ea typeface="Calibri" pitchFamily="34" charset="-122"/>
                <a:cs typeface="Calibri" pitchFamily="34" charset="-120"/>
              </a:rPr>
              <a:t>Overall disk performance ceiling</a:t>
            </a:r>
            <a:endParaRPr lang="en-US" sz="1150" dirty="0"/>
          </a:p>
        </p:txBody>
      </p:sp>
      <p:sp>
        <p:nvSpPr>
          <p:cNvPr id="14" name="Shape 9"/>
          <p:cNvSpPr/>
          <p:nvPr/>
        </p:nvSpPr>
        <p:spPr>
          <a:xfrm>
            <a:off x="548640" y="3246120"/>
            <a:ext cx="5212080" cy="1874520"/>
          </a:xfrm>
          <a:prstGeom prst="roundRect">
            <a:avLst>
              <a:gd name="adj" fmla="val 3902"/>
            </a:avLst>
          </a:prstGeom>
          <a:solidFill>
            <a:srgbClr val="002050"/>
          </a:solidFill>
          <a:ln w="12700">
            <a:solidFill>
              <a:srgbClr val="002050"/>
            </a:solidFill>
            <a:prstDash val="solid"/>
          </a:ln>
        </p:spPr>
      </p:sp>
      <p:sp>
        <p:nvSpPr>
          <p:cNvPr id="15" name="Text 10"/>
          <p:cNvSpPr/>
          <p:nvPr/>
        </p:nvSpPr>
        <p:spPr>
          <a:xfrm>
            <a:off x="822960" y="3401568"/>
            <a:ext cx="2743200" cy="256032"/>
          </a:xfrm>
          <a:prstGeom prst="rect">
            <a:avLst/>
          </a:prstGeom>
          <a:noFill/>
          <a:ln/>
        </p:spPr>
        <p:txBody>
          <a:bodyPr wrap="square" rtlCol="0" anchor="ctr"/>
          <a:lstStyle/>
          <a:p>
            <a:pPr indent="0" marL="0">
              <a:buNone/>
            </a:pPr>
            <a:r>
              <a:rPr lang="en-US" sz="1000" b="1" spc="150" kern="0" dirty="0">
                <a:solidFill>
                  <a:srgbClr val="50E6FF"/>
                </a:solidFill>
                <a:latin typeface="Calibri" pitchFamily="34" charset="0"/>
                <a:ea typeface="Calibri" pitchFamily="34" charset="-122"/>
                <a:cs typeface="Calibri" pitchFamily="34" charset="-120"/>
              </a:rPr>
              <a:t>EXAMPLE TIER</a:t>
            </a:r>
            <a:endParaRPr lang="en-US" sz="1000" dirty="0"/>
          </a:p>
        </p:txBody>
      </p:sp>
      <p:sp>
        <p:nvSpPr>
          <p:cNvPr id="16" name="Text 11"/>
          <p:cNvSpPr/>
          <p:nvPr/>
        </p:nvSpPr>
        <p:spPr>
          <a:xfrm>
            <a:off x="822960" y="3611880"/>
            <a:ext cx="1828800" cy="73152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P10</a:t>
            </a:r>
            <a:endParaRPr lang="en-US" sz="4000" dirty="0"/>
          </a:p>
        </p:txBody>
      </p:sp>
      <p:sp>
        <p:nvSpPr>
          <p:cNvPr id="17" name="Shape 12"/>
          <p:cNvSpPr/>
          <p:nvPr/>
        </p:nvSpPr>
        <p:spPr>
          <a:xfrm>
            <a:off x="2606040" y="3703320"/>
            <a:ext cx="0" cy="1234440"/>
          </a:xfrm>
          <a:prstGeom prst="line">
            <a:avLst/>
          </a:prstGeom>
          <a:noFill/>
          <a:ln w="19050">
            <a:solidFill>
              <a:srgbClr val="15477F"/>
            </a:solidFill>
            <a:prstDash val="solid"/>
          </a:ln>
        </p:spPr>
      </p:sp>
      <p:sp>
        <p:nvSpPr>
          <p:cNvPr id="18" name="Text 13"/>
          <p:cNvSpPr/>
          <p:nvPr/>
        </p:nvSpPr>
        <p:spPr>
          <a:xfrm>
            <a:off x="2834640" y="3611880"/>
            <a:ext cx="1371600" cy="502920"/>
          </a:xfrm>
          <a:prstGeom prst="rect">
            <a:avLst/>
          </a:prstGeom>
          <a:noFill/>
          <a:ln/>
        </p:spPr>
        <p:txBody>
          <a:bodyPr wrap="square" rtlCol="0" anchor="ctr"/>
          <a:lstStyle/>
          <a:p>
            <a:pPr indent="0" marL="0">
              <a:buNone/>
            </a:pPr>
            <a:r>
              <a:rPr lang="en-US" sz="2600" b="1" dirty="0">
                <a:solidFill>
                  <a:srgbClr val="50E6FF"/>
                </a:solidFill>
                <a:latin typeface="Cambria" pitchFamily="34" charset="0"/>
                <a:ea typeface="Cambria" pitchFamily="34" charset="-122"/>
                <a:cs typeface="Cambria" pitchFamily="34" charset="-120"/>
              </a:rPr>
              <a:t>500</a:t>
            </a:r>
            <a:endParaRPr lang="en-US" sz="2600" dirty="0"/>
          </a:p>
        </p:txBody>
      </p:sp>
      <p:sp>
        <p:nvSpPr>
          <p:cNvPr id="19" name="Text 14"/>
          <p:cNvSpPr/>
          <p:nvPr/>
        </p:nvSpPr>
        <p:spPr>
          <a:xfrm>
            <a:off x="2834640" y="4114800"/>
            <a:ext cx="1371600" cy="274320"/>
          </a:xfrm>
          <a:prstGeom prst="rect">
            <a:avLst/>
          </a:prstGeom>
          <a:noFill/>
          <a:ln/>
        </p:spPr>
        <p:txBody>
          <a:bodyPr wrap="square" rtlCol="0" anchor="ctr"/>
          <a:lstStyle/>
          <a:p>
            <a:pPr indent="0" marL="0">
              <a:buNone/>
            </a:pPr>
            <a:r>
              <a:rPr lang="en-US" sz="1050" spc="100" kern="0" dirty="0">
                <a:solidFill>
                  <a:srgbClr val="CFE3F7"/>
                </a:solidFill>
                <a:latin typeface="Calibri" pitchFamily="34" charset="0"/>
                <a:ea typeface="Calibri" pitchFamily="34" charset="-122"/>
                <a:cs typeface="Calibri" pitchFamily="34" charset="-120"/>
              </a:rPr>
              <a:t>IOPS</a:t>
            </a:r>
            <a:endParaRPr lang="en-US" sz="1050" dirty="0"/>
          </a:p>
        </p:txBody>
      </p:sp>
      <p:sp>
        <p:nvSpPr>
          <p:cNvPr id="20" name="Text 15"/>
          <p:cNvSpPr/>
          <p:nvPr/>
        </p:nvSpPr>
        <p:spPr>
          <a:xfrm>
            <a:off x="4251960" y="3611880"/>
            <a:ext cx="1463040" cy="502920"/>
          </a:xfrm>
          <a:prstGeom prst="rect">
            <a:avLst/>
          </a:prstGeom>
          <a:noFill/>
          <a:ln/>
        </p:spPr>
        <p:txBody>
          <a:bodyPr wrap="square" rtlCol="0" anchor="ctr"/>
          <a:lstStyle/>
          <a:p>
            <a:pPr indent="0" marL="0">
              <a:buNone/>
            </a:pPr>
            <a:r>
              <a:rPr lang="en-US" sz="2200" b="1" dirty="0">
                <a:solidFill>
                  <a:srgbClr val="50E6FF"/>
                </a:solidFill>
                <a:latin typeface="Cambria" pitchFamily="34" charset="0"/>
                <a:ea typeface="Cambria" pitchFamily="34" charset="-122"/>
                <a:cs typeface="Cambria" pitchFamily="34" charset="-120"/>
              </a:rPr>
              <a:t>100 MB/s</a:t>
            </a:r>
            <a:endParaRPr lang="en-US" sz="2200" dirty="0"/>
          </a:p>
        </p:txBody>
      </p:sp>
      <p:sp>
        <p:nvSpPr>
          <p:cNvPr id="21" name="Text 16"/>
          <p:cNvSpPr/>
          <p:nvPr/>
        </p:nvSpPr>
        <p:spPr>
          <a:xfrm>
            <a:off x="4251960" y="4114800"/>
            <a:ext cx="1463040" cy="274320"/>
          </a:xfrm>
          <a:prstGeom prst="rect">
            <a:avLst/>
          </a:prstGeom>
          <a:noFill/>
          <a:ln/>
        </p:spPr>
        <p:txBody>
          <a:bodyPr wrap="square" rtlCol="0" anchor="ctr"/>
          <a:lstStyle/>
          <a:p>
            <a:pPr indent="0" marL="0">
              <a:buNone/>
            </a:pPr>
            <a:r>
              <a:rPr lang="en-US" sz="1050" spc="100" kern="0" dirty="0">
                <a:solidFill>
                  <a:srgbClr val="CFE3F7"/>
                </a:solidFill>
                <a:latin typeface="Calibri" pitchFamily="34" charset="0"/>
                <a:ea typeface="Calibri" pitchFamily="34" charset="-122"/>
                <a:cs typeface="Calibri" pitchFamily="34" charset="-120"/>
              </a:rPr>
              <a:t>THROUGHPUT</a:t>
            </a:r>
            <a:endParaRPr lang="en-US" sz="1050" dirty="0"/>
          </a:p>
        </p:txBody>
      </p:sp>
      <p:sp>
        <p:nvSpPr>
          <p:cNvPr id="22" name="Text 17"/>
          <p:cNvSpPr/>
          <p:nvPr/>
        </p:nvSpPr>
        <p:spPr>
          <a:xfrm>
            <a:off x="548640" y="5257800"/>
            <a:ext cx="5212080" cy="365760"/>
          </a:xfrm>
          <a:prstGeom prst="rect">
            <a:avLst/>
          </a:prstGeom>
          <a:noFill/>
          <a:ln/>
        </p:spPr>
        <p:txBody>
          <a:bodyPr wrap="square" rtlCol="0" anchor="ctr"/>
          <a:lstStyle/>
          <a:p>
            <a:pPr indent="0" marL="0">
              <a:buNone/>
            </a:pPr>
            <a:r>
              <a:rPr lang="en-US" sz="1150" i="1" dirty="0">
                <a:solidFill>
                  <a:srgbClr val="5B6B7C"/>
                </a:solidFill>
                <a:latin typeface="Calibri" pitchFamily="34" charset="0"/>
                <a:ea typeface="Calibri" pitchFamily="34" charset="-122"/>
                <a:cs typeface="Calibri" pitchFamily="34" charset="-120"/>
              </a:rPr>
              <a:t>Higher tiers increase performance — and cost — proportionally.</a:t>
            </a:r>
            <a:endParaRPr lang="en-US" sz="1150" dirty="0"/>
          </a:p>
        </p:txBody>
      </p:sp>
      <p:sp>
        <p:nvSpPr>
          <p:cNvPr id="23" name="Shape 18"/>
          <p:cNvSpPr/>
          <p:nvPr/>
        </p:nvSpPr>
        <p:spPr>
          <a:xfrm>
            <a:off x="6035040" y="1234440"/>
            <a:ext cx="5623560" cy="4983480"/>
          </a:xfrm>
          <a:prstGeom prst="roundRect">
            <a:avLst>
              <a:gd name="adj" fmla="val 1468"/>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24" name="Text 19"/>
          <p:cNvSpPr/>
          <p:nvPr/>
        </p:nvSpPr>
        <p:spPr>
          <a:xfrm>
            <a:off x="6309360" y="1417320"/>
            <a:ext cx="5120640" cy="274320"/>
          </a:xfrm>
          <a:prstGeom prst="rect">
            <a:avLst/>
          </a:prstGeom>
          <a:noFill/>
          <a:ln/>
        </p:spPr>
        <p:txBody>
          <a:bodyPr wrap="square" rtlCol="0" anchor="ctr"/>
          <a:lstStyle/>
          <a:p>
            <a:pPr indent="0" marL="0">
              <a:buNone/>
            </a:pPr>
            <a:r>
              <a:rPr lang="en-US" sz="1100" b="1" spc="120" kern="0" dirty="0">
                <a:solidFill>
                  <a:srgbClr val="0078D4"/>
                </a:solidFill>
                <a:latin typeface="Calibri" pitchFamily="34" charset="0"/>
                <a:ea typeface="Calibri" pitchFamily="34" charset="-122"/>
                <a:cs typeface="Calibri" pitchFamily="34" charset="-120"/>
              </a:rPr>
              <a:t>PERFORMANCE TIER COMPARISON</a:t>
            </a:r>
            <a:endParaRPr lang="en-US" sz="1100" dirty="0"/>
          </a:p>
        </p:txBody>
      </p:sp>
      <p:sp>
        <p:nvSpPr>
          <p:cNvPr id="25" name="Shape 20"/>
          <p:cNvSpPr/>
          <p:nvPr/>
        </p:nvSpPr>
        <p:spPr>
          <a:xfrm>
            <a:off x="6400800" y="4777740"/>
            <a:ext cx="685800" cy="1028700"/>
          </a:xfrm>
          <a:prstGeom prst="roundRect">
            <a:avLst>
              <a:gd name="adj" fmla="val 6667"/>
            </a:avLst>
          </a:prstGeom>
          <a:solidFill>
            <a:srgbClr val="FFB900"/>
          </a:solidFill>
          <a:ln/>
        </p:spPr>
      </p:sp>
      <p:sp>
        <p:nvSpPr>
          <p:cNvPr id="26" name="Text 21"/>
          <p:cNvSpPr/>
          <p:nvPr/>
        </p:nvSpPr>
        <p:spPr>
          <a:xfrm>
            <a:off x="6355080" y="5861304"/>
            <a:ext cx="777240" cy="274320"/>
          </a:xfrm>
          <a:prstGeom prst="rect">
            <a:avLst/>
          </a:prstGeom>
          <a:noFill/>
          <a:ln/>
        </p:spPr>
        <p:txBody>
          <a:bodyPr wrap="square" rtlCol="0" anchor="ctr"/>
          <a:lstStyle/>
          <a:p>
            <a:pPr algn="ctr" indent="0" marL="0">
              <a:buNone/>
            </a:pPr>
            <a:r>
              <a:rPr lang="en-US" sz="1150" b="1" dirty="0">
                <a:solidFill>
                  <a:srgbClr val="002050"/>
                </a:solidFill>
                <a:latin typeface="Calibri" pitchFamily="34" charset="0"/>
                <a:ea typeface="Calibri" pitchFamily="34" charset="-122"/>
                <a:cs typeface="Calibri" pitchFamily="34" charset="-120"/>
              </a:rPr>
              <a:t>P10</a:t>
            </a:r>
            <a:endParaRPr lang="en-US" sz="1150" dirty="0"/>
          </a:p>
        </p:txBody>
      </p:sp>
      <p:sp>
        <p:nvSpPr>
          <p:cNvPr id="27" name="Text 22"/>
          <p:cNvSpPr/>
          <p:nvPr/>
        </p:nvSpPr>
        <p:spPr>
          <a:xfrm>
            <a:off x="6263640" y="4521708"/>
            <a:ext cx="960120" cy="237744"/>
          </a:xfrm>
          <a:prstGeom prst="rect">
            <a:avLst/>
          </a:prstGeom>
          <a:noFill/>
          <a:ln/>
        </p:spPr>
        <p:txBody>
          <a:bodyPr wrap="square" rtlCol="0" anchor="ctr"/>
          <a:lstStyle/>
          <a:p>
            <a:pPr algn="ctr" indent="0" marL="0">
              <a:buNone/>
            </a:pPr>
            <a:r>
              <a:rPr lang="en-US" sz="950" b="1" dirty="0">
                <a:solidFill>
                  <a:srgbClr val="002050"/>
                </a:solidFill>
                <a:latin typeface="Calibri" pitchFamily="34" charset="0"/>
                <a:ea typeface="Calibri" pitchFamily="34" charset="-122"/>
                <a:cs typeface="Calibri" pitchFamily="34" charset="-120"/>
              </a:rPr>
              <a:t>500</a:t>
            </a:r>
            <a:endParaRPr lang="en-US" sz="950" dirty="0"/>
          </a:p>
        </p:txBody>
      </p:sp>
      <p:sp>
        <p:nvSpPr>
          <p:cNvPr id="28" name="Shape 23"/>
          <p:cNvSpPr/>
          <p:nvPr/>
        </p:nvSpPr>
        <p:spPr>
          <a:xfrm>
            <a:off x="7379208" y="4377690"/>
            <a:ext cx="685800" cy="1428750"/>
          </a:xfrm>
          <a:prstGeom prst="roundRect">
            <a:avLst>
              <a:gd name="adj" fmla="val 6667"/>
            </a:avLst>
          </a:prstGeom>
          <a:solidFill>
            <a:srgbClr val="0078D4"/>
          </a:solidFill>
          <a:ln/>
        </p:spPr>
      </p:sp>
      <p:sp>
        <p:nvSpPr>
          <p:cNvPr id="29" name="Text 24"/>
          <p:cNvSpPr/>
          <p:nvPr/>
        </p:nvSpPr>
        <p:spPr>
          <a:xfrm>
            <a:off x="7333488" y="5861304"/>
            <a:ext cx="777240" cy="274320"/>
          </a:xfrm>
          <a:prstGeom prst="rect">
            <a:avLst/>
          </a:prstGeom>
          <a:noFill/>
          <a:ln/>
        </p:spPr>
        <p:txBody>
          <a:bodyPr wrap="square" rtlCol="0" anchor="ctr"/>
          <a:lstStyle/>
          <a:p>
            <a:pPr algn="ctr" indent="0" marL="0">
              <a:buNone/>
            </a:pPr>
            <a:r>
              <a:rPr lang="en-US" sz="1150" b="1" dirty="0">
                <a:solidFill>
                  <a:srgbClr val="002050"/>
                </a:solidFill>
                <a:latin typeface="Calibri" pitchFamily="34" charset="0"/>
                <a:ea typeface="Calibri" pitchFamily="34" charset="-122"/>
                <a:cs typeface="Calibri" pitchFamily="34" charset="-120"/>
              </a:rPr>
              <a:t>P15</a:t>
            </a:r>
            <a:endParaRPr lang="en-US" sz="1150" dirty="0"/>
          </a:p>
        </p:txBody>
      </p:sp>
      <p:sp>
        <p:nvSpPr>
          <p:cNvPr id="30" name="Text 25"/>
          <p:cNvSpPr/>
          <p:nvPr/>
        </p:nvSpPr>
        <p:spPr>
          <a:xfrm>
            <a:off x="7242048" y="4121658"/>
            <a:ext cx="960120" cy="237744"/>
          </a:xfrm>
          <a:prstGeom prst="rect">
            <a:avLst/>
          </a:prstGeom>
          <a:noFill/>
          <a:ln/>
        </p:spPr>
        <p:txBody>
          <a:bodyPr wrap="square" rtlCol="0" anchor="ctr"/>
          <a:lstStyle/>
          <a:p>
            <a:pPr algn="ctr" indent="0" marL="0">
              <a:buNone/>
            </a:pPr>
            <a:r>
              <a:rPr lang="en-US" sz="950" b="1" dirty="0">
                <a:solidFill>
                  <a:srgbClr val="002050"/>
                </a:solidFill>
                <a:latin typeface="Calibri" pitchFamily="34" charset="0"/>
                <a:ea typeface="Calibri" pitchFamily="34" charset="-122"/>
                <a:cs typeface="Calibri" pitchFamily="34" charset="-120"/>
              </a:rPr>
              <a:t>1100</a:t>
            </a:r>
            <a:endParaRPr lang="en-US" sz="950" dirty="0"/>
          </a:p>
        </p:txBody>
      </p:sp>
      <p:sp>
        <p:nvSpPr>
          <p:cNvPr id="31" name="Shape 26"/>
          <p:cNvSpPr/>
          <p:nvPr/>
        </p:nvSpPr>
        <p:spPr>
          <a:xfrm>
            <a:off x="8357616" y="3977640"/>
            <a:ext cx="685800" cy="1828800"/>
          </a:xfrm>
          <a:prstGeom prst="roundRect">
            <a:avLst>
              <a:gd name="adj" fmla="val 6667"/>
            </a:avLst>
          </a:prstGeom>
          <a:solidFill>
            <a:srgbClr val="0078D4"/>
          </a:solidFill>
          <a:ln/>
        </p:spPr>
      </p:sp>
      <p:sp>
        <p:nvSpPr>
          <p:cNvPr id="32" name="Text 27"/>
          <p:cNvSpPr/>
          <p:nvPr/>
        </p:nvSpPr>
        <p:spPr>
          <a:xfrm>
            <a:off x="8311896" y="5861304"/>
            <a:ext cx="777240" cy="274320"/>
          </a:xfrm>
          <a:prstGeom prst="rect">
            <a:avLst/>
          </a:prstGeom>
          <a:noFill/>
          <a:ln/>
        </p:spPr>
        <p:txBody>
          <a:bodyPr wrap="square" rtlCol="0" anchor="ctr"/>
          <a:lstStyle/>
          <a:p>
            <a:pPr algn="ctr" indent="0" marL="0">
              <a:buNone/>
            </a:pPr>
            <a:r>
              <a:rPr lang="en-US" sz="1150" b="1" dirty="0">
                <a:solidFill>
                  <a:srgbClr val="002050"/>
                </a:solidFill>
                <a:latin typeface="Calibri" pitchFamily="34" charset="0"/>
                <a:ea typeface="Calibri" pitchFamily="34" charset="-122"/>
                <a:cs typeface="Calibri" pitchFamily="34" charset="-120"/>
              </a:rPr>
              <a:t>P20</a:t>
            </a:r>
            <a:endParaRPr lang="en-US" sz="1150" dirty="0"/>
          </a:p>
        </p:txBody>
      </p:sp>
      <p:sp>
        <p:nvSpPr>
          <p:cNvPr id="33" name="Text 28"/>
          <p:cNvSpPr/>
          <p:nvPr/>
        </p:nvSpPr>
        <p:spPr>
          <a:xfrm>
            <a:off x="8220456" y="3721608"/>
            <a:ext cx="960120" cy="237744"/>
          </a:xfrm>
          <a:prstGeom prst="rect">
            <a:avLst/>
          </a:prstGeom>
          <a:noFill/>
          <a:ln/>
        </p:spPr>
        <p:txBody>
          <a:bodyPr wrap="square" rtlCol="0" anchor="ctr"/>
          <a:lstStyle/>
          <a:p>
            <a:pPr algn="ctr" indent="0" marL="0">
              <a:buNone/>
            </a:pPr>
            <a:r>
              <a:rPr lang="en-US" sz="950" b="1" dirty="0">
                <a:solidFill>
                  <a:srgbClr val="002050"/>
                </a:solidFill>
                <a:latin typeface="Calibri" pitchFamily="34" charset="0"/>
                <a:ea typeface="Calibri" pitchFamily="34" charset="-122"/>
                <a:cs typeface="Calibri" pitchFamily="34" charset="-120"/>
              </a:rPr>
              <a:t>2300</a:t>
            </a:r>
            <a:endParaRPr lang="en-US" sz="950" dirty="0"/>
          </a:p>
        </p:txBody>
      </p:sp>
      <p:sp>
        <p:nvSpPr>
          <p:cNvPr id="34" name="Shape 29"/>
          <p:cNvSpPr/>
          <p:nvPr/>
        </p:nvSpPr>
        <p:spPr>
          <a:xfrm>
            <a:off x="9336024" y="3520440"/>
            <a:ext cx="685800" cy="2286000"/>
          </a:xfrm>
          <a:prstGeom prst="roundRect">
            <a:avLst>
              <a:gd name="adj" fmla="val 6667"/>
            </a:avLst>
          </a:prstGeom>
          <a:solidFill>
            <a:srgbClr val="0078D4"/>
          </a:solidFill>
          <a:ln/>
        </p:spPr>
      </p:sp>
      <p:sp>
        <p:nvSpPr>
          <p:cNvPr id="35" name="Text 30"/>
          <p:cNvSpPr/>
          <p:nvPr/>
        </p:nvSpPr>
        <p:spPr>
          <a:xfrm>
            <a:off x="9290304" y="5861304"/>
            <a:ext cx="777240" cy="274320"/>
          </a:xfrm>
          <a:prstGeom prst="rect">
            <a:avLst/>
          </a:prstGeom>
          <a:noFill/>
          <a:ln/>
        </p:spPr>
        <p:txBody>
          <a:bodyPr wrap="square" rtlCol="0" anchor="ctr"/>
          <a:lstStyle/>
          <a:p>
            <a:pPr algn="ctr" indent="0" marL="0">
              <a:buNone/>
            </a:pPr>
            <a:r>
              <a:rPr lang="en-US" sz="1150" b="1" dirty="0">
                <a:solidFill>
                  <a:srgbClr val="002050"/>
                </a:solidFill>
                <a:latin typeface="Calibri" pitchFamily="34" charset="0"/>
                <a:ea typeface="Calibri" pitchFamily="34" charset="-122"/>
                <a:cs typeface="Calibri" pitchFamily="34" charset="-120"/>
              </a:rPr>
              <a:t>P30</a:t>
            </a:r>
            <a:endParaRPr lang="en-US" sz="1150" dirty="0"/>
          </a:p>
        </p:txBody>
      </p:sp>
      <p:sp>
        <p:nvSpPr>
          <p:cNvPr id="36" name="Text 31"/>
          <p:cNvSpPr/>
          <p:nvPr/>
        </p:nvSpPr>
        <p:spPr>
          <a:xfrm>
            <a:off x="9198864" y="3264408"/>
            <a:ext cx="960120" cy="237744"/>
          </a:xfrm>
          <a:prstGeom prst="rect">
            <a:avLst/>
          </a:prstGeom>
          <a:noFill/>
          <a:ln/>
        </p:spPr>
        <p:txBody>
          <a:bodyPr wrap="square" rtlCol="0" anchor="ctr"/>
          <a:lstStyle/>
          <a:p>
            <a:pPr algn="ctr" indent="0" marL="0">
              <a:buNone/>
            </a:pPr>
            <a:r>
              <a:rPr lang="en-US" sz="950" b="1" dirty="0">
                <a:solidFill>
                  <a:srgbClr val="002050"/>
                </a:solidFill>
                <a:latin typeface="Calibri" pitchFamily="34" charset="0"/>
                <a:ea typeface="Calibri" pitchFamily="34" charset="-122"/>
                <a:cs typeface="Calibri" pitchFamily="34" charset="-120"/>
              </a:rPr>
              <a:t>5000</a:t>
            </a:r>
            <a:endParaRPr lang="en-US" sz="950" dirty="0"/>
          </a:p>
        </p:txBody>
      </p:sp>
      <p:sp>
        <p:nvSpPr>
          <p:cNvPr id="37" name="Shape 32"/>
          <p:cNvSpPr/>
          <p:nvPr/>
        </p:nvSpPr>
        <p:spPr>
          <a:xfrm>
            <a:off x="10314432" y="3063240"/>
            <a:ext cx="685800" cy="2743200"/>
          </a:xfrm>
          <a:prstGeom prst="roundRect">
            <a:avLst>
              <a:gd name="adj" fmla="val 6667"/>
            </a:avLst>
          </a:prstGeom>
          <a:solidFill>
            <a:srgbClr val="0078D4"/>
          </a:solidFill>
          <a:ln/>
        </p:spPr>
      </p:sp>
      <p:sp>
        <p:nvSpPr>
          <p:cNvPr id="38" name="Text 33"/>
          <p:cNvSpPr/>
          <p:nvPr/>
        </p:nvSpPr>
        <p:spPr>
          <a:xfrm>
            <a:off x="10268712" y="5861304"/>
            <a:ext cx="777240" cy="274320"/>
          </a:xfrm>
          <a:prstGeom prst="rect">
            <a:avLst/>
          </a:prstGeom>
          <a:noFill/>
          <a:ln/>
        </p:spPr>
        <p:txBody>
          <a:bodyPr wrap="square" rtlCol="0" anchor="ctr"/>
          <a:lstStyle/>
          <a:p>
            <a:pPr algn="ctr" indent="0" marL="0">
              <a:buNone/>
            </a:pPr>
            <a:r>
              <a:rPr lang="en-US" sz="1150" b="1" dirty="0">
                <a:solidFill>
                  <a:srgbClr val="002050"/>
                </a:solidFill>
                <a:latin typeface="Calibri" pitchFamily="34" charset="0"/>
                <a:ea typeface="Calibri" pitchFamily="34" charset="-122"/>
                <a:cs typeface="Calibri" pitchFamily="34" charset="-120"/>
              </a:rPr>
              <a:t>P40</a:t>
            </a:r>
            <a:endParaRPr lang="en-US" sz="1150" dirty="0"/>
          </a:p>
        </p:txBody>
      </p:sp>
      <p:sp>
        <p:nvSpPr>
          <p:cNvPr id="39" name="Text 34"/>
          <p:cNvSpPr/>
          <p:nvPr/>
        </p:nvSpPr>
        <p:spPr>
          <a:xfrm>
            <a:off x="10177272" y="2807208"/>
            <a:ext cx="960120" cy="237744"/>
          </a:xfrm>
          <a:prstGeom prst="rect">
            <a:avLst/>
          </a:prstGeom>
          <a:noFill/>
          <a:ln/>
        </p:spPr>
        <p:txBody>
          <a:bodyPr wrap="square" rtlCol="0" anchor="ctr"/>
          <a:lstStyle/>
          <a:p>
            <a:pPr algn="ctr" indent="0" marL="0">
              <a:buNone/>
            </a:pPr>
            <a:r>
              <a:rPr lang="en-US" sz="950" b="1" dirty="0">
                <a:solidFill>
                  <a:srgbClr val="002050"/>
                </a:solidFill>
                <a:latin typeface="Calibri" pitchFamily="34" charset="0"/>
                <a:ea typeface="Calibri" pitchFamily="34" charset="-122"/>
                <a:cs typeface="Calibri" pitchFamily="34" charset="-120"/>
              </a:rPr>
              <a:t>7500</a:t>
            </a:r>
            <a:endParaRPr lang="en-US" sz="950" dirty="0"/>
          </a:p>
        </p:txBody>
      </p:sp>
      <p:sp>
        <p:nvSpPr>
          <p:cNvPr id="40" name="Text 35"/>
          <p:cNvSpPr/>
          <p:nvPr/>
        </p:nvSpPr>
        <p:spPr>
          <a:xfrm>
            <a:off x="6309360" y="6190488"/>
            <a:ext cx="5120640" cy="274320"/>
          </a:xfrm>
          <a:prstGeom prst="rect">
            <a:avLst/>
          </a:prstGeom>
          <a:noFill/>
          <a:ln/>
        </p:spPr>
        <p:txBody>
          <a:bodyPr wrap="square" rtlCol="0" anchor="ctr"/>
          <a:lstStyle/>
          <a:p>
            <a:pPr algn="ctr" indent="0" marL="0">
              <a:buNone/>
            </a:pPr>
            <a:r>
              <a:rPr lang="en-US" sz="950" i="1" dirty="0">
                <a:solidFill>
                  <a:srgbClr val="5B6B7C"/>
                </a:solidFill>
                <a:latin typeface="Calibri" pitchFamily="34" charset="0"/>
                <a:ea typeface="Calibri" pitchFamily="34" charset="-122"/>
                <a:cs typeface="Calibri" pitchFamily="34" charset="-120"/>
              </a:rPr>
              <a:t>IOPS by performance tier (illustrative scale)</a:t>
            </a:r>
            <a:endParaRPr lang="en-US" sz="950" dirty="0"/>
          </a:p>
        </p:txBody>
      </p:sp>
      <p:sp>
        <p:nvSpPr>
          <p:cNvPr id="41" name="Text 36"/>
          <p:cNvSpPr/>
          <p:nvPr/>
        </p:nvSpPr>
        <p:spPr>
          <a:xfrm>
            <a:off x="457200" y="6547104"/>
            <a:ext cx="7315200" cy="256032"/>
          </a:xfrm>
          <a:prstGeom prst="rect">
            <a:avLst/>
          </a:prstGeom>
          <a:noFill/>
          <a:ln/>
        </p:spPr>
        <p:txBody>
          <a:bodyPr wrap="square" rtlCol="0" anchor="ctr"/>
          <a:lstStyle/>
          <a:p>
            <a:pPr algn="l" indent="0" marL="0">
              <a:buNone/>
            </a:pPr>
            <a:r>
              <a:rPr lang="en-US" sz="850" spc="100" kern="0" dirty="0">
                <a:solidFill>
                  <a:srgbClr val="5B6B7C"/>
                </a:solidFill>
                <a:latin typeface="Calibri" pitchFamily="34" charset="0"/>
                <a:ea typeface="Calibri" pitchFamily="34" charset="-122"/>
                <a:cs typeface="Calibri" pitchFamily="34" charset="-120"/>
              </a:rPr>
              <a:t>AZURE STORAGE PERFORMANCE TIER SELECTION</a:t>
            </a:r>
            <a:endParaRPr lang="en-US" sz="850" dirty="0"/>
          </a:p>
        </p:txBody>
      </p:sp>
      <p:sp>
        <p:nvSpPr>
          <p:cNvPr id="42" name="Shape 37"/>
          <p:cNvSpPr/>
          <p:nvPr/>
        </p:nvSpPr>
        <p:spPr>
          <a:xfrm>
            <a:off x="11414455" y="6492240"/>
            <a:ext cx="329184" cy="329184"/>
          </a:xfrm>
          <a:prstGeom prst="ellipse">
            <a:avLst/>
          </a:prstGeom>
          <a:solidFill>
            <a:srgbClr val="0078D4"/>
          </a:solidFill>
          <a:ln/>
        </p:spPr>
      </p:sp>
      <p:sp>
        <p:nvSpPr>
          <p:cNvPr id="43" name="Text 38"/>
          <p:cNvSpPr/>
          <p:nvPr/>
        </p:nvSpPr>
        <p:spPr>
          <a:xfrm>
            <a:off x="11414455" y="6492240"/>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8</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9FD"/>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algn="l" indent="0" marL="0">
              <a:buNone/>
            </a:pPr>
            <a:r>
              <a:rPr lang="en-US" sz="1250" b="1" spc="220" kern="0" dirty="0">
                <a:solidFill>
                  <a:srgbClr val="0078D4"/>
                </a:solidFill>
                <a:latin typeface="Calibri" pitchFamily="34" charset="0"/>
                <a:ea typeface="Calibri" pitchFamily="34" charset="-122"/>
                <a:cs typeface="Calibri" pitchFamily="34" charset="-120"/>
              </a:rPr>
              <a:t>IMPLEMENTATION</a:t>
            </a:r>
            <a:endParaRPr lang="en-US" sz="1250" dirty="0"/>
          </a:p>
        </p:txBody>
      </p:sp>
      <p:sp>
        <p:nvSpPr>
          <p:cNvPr id="3" name="Text 1"/>
          <p:cNvSpPr/>
          <p:nvPr/>
        </p:nvSpPr>
        <p:spPr>
          <a:xfrm>
            <a:off x="548640" y="658368"/>
            <a:ext cx="10789920" cy="640080"/>
          </a:xfrm>
          <a:prstGeom prst="rect">
            <a:avLst/>
          </a:prstGeom>
          <a:noFill/>
          <a:ln/>
        </p:spPr>
        <p:txBody>
          <a:bodyPr wrap="square" rtlCol="0" anchor="ctr"/>
          <a:lstStyle/>
          <a:p>
            <a:pPr algn="l" indent="0" marL="0">
              <a:buNone/>
            </a:pPr>
            <a:r>
              <a:rPr lang="en-US" sz="3000" b="1" dirty="0">
                <a:solidFill>
                  <a:srgbClr val="002050"/>
                </a:solidFill>
                <a:latin typeface="Cambria" pitchFamily="34" charset="0"/>
                <a:ea typeface="Cambria" pitchFamily="34" charset="-122"/>
                <a:cs typeface="Cambria" pitchFamily="34" charset="-120"/>
              </a:rPr>
              <a:t>Azure Implementation Steps</a:t>
            </a:r>
            <a:endParaRPr lang="en-US" sz="3000" dirty="0"/>
          </a:p>
        </p:txBody>
      </p:sp>
      <p:sp>
        <p:nvSpPr>
          <p:cNvPr id="4" name="Shape 2"/>
          <p:cNvSpPr/>
          <p:nvPr/>
        </p:nvSpPr>
        <p:spPr>
          <a:xfrm>
            <a:off x="548640" y="1554480"/>
            <a:ext cx="3611880" cy="1965960"/>
          </a:xfrm>
          <a:prstGeom prst="roundRect">
            <a:avLst>
              <a:gd name="adj" fmla="val 3721"/>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5" name="Shape 3"/>
          <p:cNvSpPr/>
          <p:nvPr/>
        </p:nvSpPr>
        <p:spPr>
          <a:xfrm>
            <a:off x="777240" y="1783080"/>
            <a:ext cx="502920" cy="502920"/>
          </a:xfrm>
          <a:prstGeom prst="ellipse">
            <a:avLst/>
          </a:prstGeom>
          <a:solidFill>
            <a:srgbClr val="0078D4"/>
          </a:solidFill>
          <a:ln/>
        </p:spPr>
      </p:sp>
      <p:sp>
        <p:nvSpPr>
          <p:cNvPr id="6" name="Text 4"/>
          <p:cNvSpPr/>
          <p:nvPr/>
        </p:nvSpPr>
        <p:spPr>
          <a:xfrm>
            <a:off x="777240" y="178308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1417320" y="1773936"/>
            <a:ext cx="2560320" cy="548640"/>
          </a:xfrm>
          <a:prstGeom prst="rect">
            <a:avLst/>
          </a:prstGeom>
          <a:noFill/>
          <a:ln/>
        </p:spPr>
        <p:txBody>
          <a:bodyPr wrap="square" rtlCol="0" anchor="ctr"/>
          <a:lstStyle/>
          <a:p>
            <a:pPr indent="0" marL="0">
              <a:lnSpc>
                <a:spcPct val="100000"/>
              </a:lnSpc>
              <a:buNone/>
            </a:pPr>
            <a:r>
              <a:rPr lang="en-US" sz="1350" b="1" dirty="0">
                <a:solidFill>
                  <a:srgbClr val="002050"/>
                </a:solidFill>
                <a:latin typeface="Cambria" pitchFamily="34" charset="0"/>
                <a:ea typeface="Cambria" pitchFamily="34" charset="-122"/>
                <a:cs typeface="Cambria" pitchFamily="34" charset="-120"/>
              </a:rPr>
              <a:t>Create Azure Resource Group</a:t>
            </a:r>
            <a:endParaRPr lang="en-US" sz="1350" dirty="0"/>
          </a:p>
        </p:txBody>
      </p:sp>
      <p:sp>
        <p:nvSpPr>
          <p:cNvPr id="8" name="Text 6"/>
          <p:cNvSpPr/>
          <p:nvPr/>
        </p:nvSpPr>
        <p:spPr>
          <a:xfrm>
            <a:off x="777240" y="2450592"/>
            <a:ext cx="3154680" cy="960120"/>
          </a:xfrm>
          <a:prstGeom prst="rect">
            <a:avLst/>
          </a:prstGeom>
          <a:noFill/>
          <a:ln/>
        </p:spPr>
        <p:txBody>
          <a:bodyPr wrap="square" rtlCol="0" anchor="ctr"/>
          <a:lstStyle/>
          <a:p>
            <a:pPr indent="0" marL="0">
              <a:lnSpc>
                <a:spcPct val="118000"/>
              </a:lnSpc>
              <a:buNone/>
            </a:pPr>
            <a:r>
              <a:rPr lang="en-US" sz="1050" dirty="0">
                <a:solidFill>
                  <a:srgbClr val="5B6B7C"/>
                </a:solidFill>
                <a:latin typeface="Calibri" pitchFamily="34" charset="0"/>
                <a:ea typeface="Calibri" pitchFamily="34" charset="-122"/>
                <a:cs typeface="Calibri" pitchFamily="34" charset="-120"/>
              </a:rPr>
              <a:t>Logical container to organize all related storage &amp; compute resources.</a:t>
            </a:r>
            <a:endParaRPr lang="en-US" sz="1050" dirty="0"/>
          </a:p>
        </p:txBody>
      </p:sp>
      <p:sp>
        <p:nvSpPr>
          <p:cNvPr id="9" name="Text 7"/>
          <p:cNvSpPr/>
          <p:nvPr/>
        </p:nvSpPr>
        <p:spPr>
          <a:xfrm>
            <a:off x="0" y="0"/>
            <a:ext cx="9144000" cy="0"/>
          </a:xfrm>
          <a:prstGeom prst="rect">
            <a:avLst/>
          </a:prstGeom>
          <a:noFill/>
          <a:ln/>
        </p:spPr>
        <p:txBody>
          <a:bodyPr wrap="square" rtlCol="0" anchor="ctr"/>
          <a:lstStyle/>
          <a:p>
            <a:pPr indent="0" marL="0">
              <a:buNone/>
            </a:pPr>
            <a:endParaRPr lang="en-US" dirty="0"/>
          </a:p>
        </p:txBody>
      </p:sp>
      <p:sp>
        <p:nvSpPr>
          <p:cNvPr id="10" name="Shape 8"/>
          <p:cNvSpPr/>
          <p:nvPr/>
        </p:nvSpPr>
        <p:spPr>
          <a:xfrm>
            <a:off x="4389120" y="1554480"/>
            <a:ext cx="3611880" cy="1965960"/>
          </a:xfrm>
          <a:prstGeom prst="roundRect">
            <a:avLst>
              <a:gd name="adj" fmla="val 3721"/>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11" name="Shape 9"/>
          <p:cNvSpPr/>
          <p:nvPr/>
        </p:nvSpPr>
        <p:spPr>
          <a:xfrm>
            <a:off x="4617720" y="1783080"/>
            <a:ext cx="502920" cy="502920"/>
          </a:xfrm>
          <a:prstGeom prst="ellipse">
            <a:avLst/>
          </a:prstGeom>
          <a:solidFill>
            <a:srgbClr val="0078D4"/>
          </a:solidFill>
          <a:ln/>
        </p:spPr>
      </p:sp>
      <p:sp>
        <p:nvSpPr>
          <p:cNvPr id="12" name="Text 10"/>
          <p:cNvSpPr/>
          <p:nvPr/>
        </p:nvSpPr>
        <p:spPr>
          <a:xfrm>
            <a:off x="4617720" y="178308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3" name="Text 11"/>
          <p:cNvSpPr/>
          <p:nvPr/>
        </p:nvSpPr>
        <p:spPr>
          <a:xfrm>
            <a:off x="5257800" y="1773936"/>
            <a:ext cx="2560320" cy="548640"/>
          </a:xfrm>
          <a:prstGeom prst="rect">
            <a:avLst/>
          </a:prstGeom>
          <a:noFill/>
          <a:ln/>
        </p:spPr>
        <p:txBody>
          <a:bodyPr wrap="square" rtlCol="0" anchor="ctr"/>
          <a:lstStyle/>
          <a:p>
            <a:pPr indent="0" marL="0">
              <a:lnSpc>
                <a:spcPct val="100000"/>
              </a:lnSpc>
              <a:buNone/>
            </a:pPr>
            <a:r>
              <a:rPr lang="en-US" sz="1350" b="1" dirty="0">
                <a:solidFill>
                  <a:srgbClr val="002050"/>
                </a:solidFill>
                <a:latin typeface="Cambria" pitchFamily="34" charset="0"/>
                <a:ea typeface="Cambria" pitchFamily="34" charset="-122"/>
                <a:cs typeface="Cambria" pitchFamily="34" charset="-120"/>
              </a:rPr>
              <a:t>Create Managed Disk</a:t>
            </a:r>
            <a:endParaRPr lang="en-US" sz="1350" dirty="0"/>
          </a:p>
        </p:txBody>
      </p:sp>
      <p:sp>
        <p:nvSpPr>
          <p:cNvPr id="14" name="Text 12"/>
          <p:cNvSpPr/>
          <p:nvPr/>
        </p:nvSpPr>
        <p:spPr>
          <a:xfrm>
            <a:off x="4617720" y="2450592"/>
            <a:ext cx="3154680" cy="960120"/>
          </a:xfrm>
          <a:prstGeom prst="rect">
            <a:avLst/>
          </a:prstGeom>
          <a:noFill/>
          <a:ln/>
        </p:spPr>
        <p:txBody>
          <a:bodyPr wrap="square" rtlCol="0" anchor="ctr"/>
          <a:lstStyle/>
          <a:p>
            <a:pPr indent="0" marL="0">
              <a:lnSpc>
                <a:spcPct val="118000"/>
              </a:lnSpc>
              <a:buNone/>
            </a:pPr>
            <a:r>
              <a:rPr lang="en-US" sz="1050" dirty="0">
                <a:solidFill>
                  <a:srgbClr val="5B6B7C"/>
                </a:solidFill>
                <a:latin typeface="Calibri" pitchFamily="34" charset="0"/>
                <a:ea typeface="Calibri" pitchFamily="34" charset="-122"/>
                <a:cs typeface="Calibri" pitchFamily="34" charset="-120"/>
              </a:rPr>
              <a:t>Provision a new managed disk resource within the resource group.</a:t>
            </a:r>
            <a:endParaRPr lang="en-US" sz="1050" dirty="0"/>
          </a:p>
        </p:txBody>
      </p:sp>
      <p:sp>
        <p:nvSpPr>
          <p:cNvPr id="15" name="Text 13"/>
          <p:cNvSpPr/>
          <p:nvPr/>
        </p:nvSpPr>
        <p:spPr>
          <a:xfrm>
            <a:off x="0" y="0"/>
            <a:ext cx="9144000" cy="0"/>
          </a:xfrm>
          <a:prstGeom prst="rect">
            <a:avLst/>
          </a:prstGeom>
          <a:noFill/>
          <a:ln/>
        </p:spPr>
        <p:txBody>
          <a:bodyPr wrap="square" rtlCol="0" anchor="ctr"/>
          <a:lstStyle/>
          <a:p>
            <a:pPr indent="0" marL="0">
              <a:buNone/>
            </a:pPr>
            <a:endParaRPr lang="en-US" dirty="0"/>
          </a:p>
        </p:txBody>
      </p:sp>
      <p:sp>
        <p:nvSpPr>
          <p:cNvPr id="16" name="Shape 14"/>
          <p:cNvSpPr/>
          <p:nvPr/>
        </p:nvSpPr>
        <p:spPr>
          <a:xfrm>
            <a:off x="8229600" y="1554480"/>
            <a:ext cx="3611880" cy="1965960"/>
          </a:xfrm>
          <a:prstGeom prst="roundRect">
            <a:avLst>
              <a:gd name="adj" fmla="val 3721"/>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17" name="Shape 15"/>
          <p:cNvSpPr/>
          <p:nvPr/>
        </p:nvSpPr>
        <p:spPr>
          <a:xfrm>
            <a:off x="8458200" y="1783080"/>
            <a:ext cx="502920" cy="502920"/>
          </a:xfrm>
          <a:prstGeom prst="ellipse">
            <a:avLst/>
          </a:prstGeom>
          <a:solidFill>
            <a:srgbClr val="0078D4"/>
          </a:solidFill>
          <a:ln/>
        </p:spPr>
      </p:sp>
      <p:sp>
        <p:nvSpPr>
          <p:cNvPr id="18" name="Text 16"/>
          <p:cNvSpPr/>
          <p:nvPr/>
        </p:nvSpPr>
        <p:spPr>
          <a:xfrm>
            <a:off x="8458200" y="1783080"/>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9" name="Text 17"/>
          <p:cNvSpPr/>
          <p:nvPr/>
        </p:nvSpPr>
        <p:spPr>
          <a:xfrm>
            <a:off x="9098280" y="1773936"/>
            <a:ext cx="2560320" cy="548640"/>
          </a:xfrm>
          <a:prstGeom prst="rect">
            <a:avLst/>
          </a:prstGeom>
          <a:noFill/>
          <a:ln/>
        </p:spPr>
        <p:txBody>
          <a:bodyPr wrap="square" rtlCol="0" anchor="ctr"/>
          <a:lstStyle/>
          <a:p>
            <a:pPr indent="0" marL="0">
              <a:lnSpc>
                <a:spcPct val="100000"/>
              </a:lnSpc>
              <a:buNone/>
            </a:pPr>
            <a:r>
              <a:rPr lang="en-US" sz="1350" b="1" dirty="0">
                <a:solidFill>
                  <a:srgbClr val="002050"/>
                </a:solidFill>
                <a:latin typeface="Cambria" pitchFamily="34" charset="0"/>
                <a:ea typeface="Cambria" pitchFamily="34" charset="-122"/>
                <a:cs typeface="Cambria" pitchFamily="34" charset="-120"/>
              </a:rPr>
              <a:t>Select Premium SSD</a:t>
            </a:r>
            <a:endParaRPr lang="en-US" sz="1350" dirty="0"/>
          </a:p>
        </p:txBody>
      </p:sp>
      <p:sp>
        <p:nvSpPr>
          <p:cNvPr id="20" name="Text 18"/>
          <p:cNvSpPr/>
          <p:nvPr/>
        </p:nvSpPr>
        <p:spPr>
          <a:xfrm>
            <a:off x="8458200" y="2450592"/>
            <a:ext cx="3154680" cy="960120"/>
          </a:xfrm>
          <a:prstGeom prst="rect">
            <a:avLst/>
          </a:prstGeom>
          <a:noFill/>
          <a:ln/>
        </p:spPr>
        <p:txBody>
          <a:bodyPr wrap="square" rtlCol="0" anchor="ctr"/>
          <a:lstStyle/>
          <a:p>
            <a:pPr indent="0" marL="0">
              <a:lnSpc>
                <a:spcPct val="118000"/>
              </a:lnSpc>
              <a:buNone/>
            </a:pPr>
            <a:r>
              <a:rPr lang="en-US" sz="1050" dirty="0">
                <a:solidFill>
                  <a:srgbClr val="5B6B7C"/>
                </a:solidFill>
                <a:latin typeface="Calibri" pitchFamily="34" charset="0"/>
                <a:ea typeface="Calibri" pitchFamily="34" charset="-122"/>
                <a:cs typeface="Calibri" pitchFamily="34" charset="-120"/>
              </a:rPr>
              <a:t>Choose the Premium SSD disk type for high-performance workloads.</a:t>
            </a:r>
            <a:endParaRPr lang="en-US" sz="1050" dirty="0"/>
          </a:p>
        </p:txBody>
      </p:sp>
      <p:sp>
        <p:nvSpPr>
          <p:cNvPr id="21" name="Shape 19"/>
          <p:cNvSpPr/>
          <p:nvPr/>
        </p:nvSpPr>
        <p:spPr>
          <a:xfrm>
            <a:off x="548640" y="3776472"/>
            <a:ext cx="3611880" cy="1965960"/>
          </a:xfrm>
          <a:prstGeom prst="roundRect">
            <a:avLst>
              <a:gd name="adj" fmla="val 3721"/>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22" name="Shape 20"/>
          <p:cNvSpPr/>
          <p:nvPr/>
        </p:nvSpPr>
        <p:spPr>
          <a:xfrm>
            <a:off x="777240" y="4005072"/>
            <a:ext cx="502920" cy="502920"/>
          </a:xfrm>
          <a:prstGeom prst="ellipse">
            <a:avLst/>
          </a:prstGeom>
          <a:solidFill>
            <a:srgbClr val="0078D4"/>
          </a:solidFill>
          <a:ln/>
        </p:spPr>
      </p:sp>
      <p:sp>
        <p:nvSpPr>
          <p:cNvPr id="23" name="Text 21"/>
          <p:cNvSpPr/>
          <p:nvPr/>
        </p:nvSpPr>
        <p:spPr>
          <a:xfrm>
            <a:off x="777240" y="4005072"/>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4" name="Text 22"/>
          <p:cNvSpPr/>
          <p:nvPr/>
        </p:nvSpPr>
        <p:spPr>
          <a:xfrm>
            <a:off x="1417320" y="3995928"/>
            <a:ext cx="2560320" cy="548640"/>
          </a:xfrm>
          <a:prstGeom prst="rect">
            <a:avLst/>
          </a:prstGeom>
          <a:noFill/>
          <a:ln/>
        </p:spPr>
        <p:txBody>
          <a:bodyPr wrap="square" rtlCol="0" anchor="ctr"/>
          <a:lstStyle/>
          <a:p>
            <a:pPr indent="0" marL="0">
              <a:lnSpc>
                <a:spcPct val="100000"/>
              </a:lnSpc>
              <a:buNone/>
            </a:pPr>
            <a:r>
              <a:rPr lang="en-US" sz="1350" b="1" dirty="0">
                <a:solidFill>
                  <a:srgbClr val="002050"/>
                </a:solidFill>
                <a:latin typeface="Cambria" pitchFamily="34" charset="0"/>
                <a:ea typeface="Cambria" pitchFamily="34" charset="-122"/>
                <a:cs typeface="Cambria" pitchFamily="34" charset="-120"/>
              </a:rPr>
              <a:t>Configure Disk Size</a:t>
            </a:r>
            <a:endParaRPr lang="en-US" sz="1350" dirty="0"/>
          </a:p>
        </p:txBody>
      </p:sp>
      <p:sp>
        <p:nvSpPr>
          <p:cNvPr id="25" name="Text 23"/>
          <p:cNvSpPr/>
          <p:nvPr/>
        </p:nvSpPr>
        <p:spPr>
          <a:xfrm>
            <a:off x="777240" y="4672584"/>
            <a:ext cx="3154680" cy="960120"/>
          </a:xfrm>
          <a:prstGeom prst="rect">
            <a:avLst/>
          </a:prstGeom>
          <a:noFill/>
          <a:ln/>
        </p:spPr>
        <p:txBody>
          <a:bodyPr wrap="square" rtlCol="0" anchor="ctr"/>
          <a:lstStyle/>
          <a:p>
            <a:pPr indent="0" marL="0">
              <a:lnSpc>
                <a:spcPct val="118000"/>
              </a:lnSpc>
              <a:buNone/>
            </a:pPr>
            <a:r>
              <a:rPr lang="en-US" sz="1050" dirty="0">
                <a:solidFill>
                  <a:srgbClr val="5B6B7C"/>
                </a:solidFill>
                <a:latin typeface="Calibri" pitchFamily="34" charset="0"/>
                <a:ea typeface="Calibri" pitchFamily="34" charset="-122"/>
                <a:cs typeface="Calibri" pitchFamily="34" charset="-120"/>
              </a:rPr>
              <a:t>Set capacity based on application data and growth requirements.</a:t>
            </a:r>
            <a:endParaRPr lang="en-US" sz="1050" dirty="0"/>
          </a:p>
        </p:txBody>
      </p:sp>
      <p:sp>
        <p:nvSpPr>
          <p:cNvPr id="26" name="Text 24"/>
          <p:cNvSpPr/>
          <p:nvPr/>
        </p:nvSpPr>
        <p:spPr>
          <a:xfrm>
            <a:off x="0" y="0"/>
            <a:ext cx="9144000" cy="0"/>
          </a:xfrm>
          <a:prstGeom prst="rect">
            <a:avLst/>
          </a:prstGeom>
          <a:noFill/>
          <a:ln/>
        </p:spPr>
        <p:txBody>
          <a:bodyPr wrap="square" rtlCol="0" anchor="ctr"/>
          <a:lstStyle/>
          <a:p>
            <a:pPr indent="0" marL="0">
              <a:buNone/>
            </a:pPr>
            <a:endParaRPr lang="en-US" dirty="0"/>
          </a:p>
        </p:txBody>
      </p:sp>
      <p:sp>
        <p:nvSpPr>
          <p:cNvPr id="27" name="Shape 25"/>
          <p:cNvSpPr/>
          <p:nvPr/>
        </p:nvSpPr>
        <p:spPr>
          <a:xfrm>
            <a:off x="4389120" y="3776472"/>
            <a:ext cx="3611880" cy="1965960"/>
          </a:xfrm>
          <a:prstGeom prst="roundRect">
            <a:avLst>
              <a:gd name="adj" fmla="val 3721"/>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28" name="Shape 26"/>
          <p:cNvSpPr/>
          <p:nvPr/>
        </p:nvSpPr>
        <p:spPr>
          <a:xfrm>
            <a:off x="4617720" y="4005072"/>
            <a:ext cx="502920" cy="502920"/>
          </a:xfrm>
          <a:prstGeom prst="ellipse">
            <a:avLst/>
          </a:prstGeom>
          <a:solidFill>
            <a:srgbClr val="0078D4"/>
          </a:solidFill>
          <a:ln/>
        </p:spPr>
      </p:sp>
      <p:sp>
        <p:nvSpPr>
          <p:cNvPr id="29" name="Text 27"/>
          <p:cNvSpPr/>
          <p:nvPr/>
        </p:nvSpPr>
        <p:spPr>
          <a:xfrm>
            <a:off x="4617720" y="4005072"/>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30" name="Text 28"/>
          <p:cNvSpPr/>
          <p:nvPr/>
        </p:nvSpPr>
        <p:spPr>
          <a:xfrm>
            <a:off x="5257800" y="3995928"/>
            <a:ext cx="2560320" cy="548640"/>
          </a:xfrm>
          <a:prstGeom prst="rect">
            <a:avLst/>
          </a:prstGeom>
          <a:noFill/>
          <a:ln/>
        </p:spPr>
        <p:txBody>
          <a:bodyPr wrap="square" rtlCol="0" anchor="ctr"/>
          <a:lstStyle/>
          <a:p>
            <a:pPr indent="0" marL="0">
              <a:lnSpc>
                <a:spcPct val="100000"/>
              </a:lnSpc>
              <a:buNone/>
            </a:pPr>
            <a:r>
              <a:rPr lang="en-US" sz="1350" b="1" dirty="0">
                <a:solidFill>
                  <a:srgbClr val="002050"/>
                </a:solidFill>
                <a:latin typeface="Cambria" pitchFamily="34" charset="0"/>
                <a:ea typeface="Cambria" pitchFamily="34" charset="-122"/>
                <a:cs typeface="Cambria" pitchFamily="34" charset="-120"/>
              </a:rPr>
              <a:t>Select Performance Tier</a:t>
            </a:r>
            <a:endParaRPr lang="en-US" sz="1350" dirty="0"/>
          </a:p>
        </p:txBody>
      </p:sp>
      <p:sp>
        <p:nvSpPr>
          <p:cNvPr id="31" name="Text 29"/>
          <p:cNvSpPr/>
          <p:nvPr/>
        </p:nvSpPr>
        <p:spPr>
          <a:xfrm>
            <a:off x="4617720" y="4672584"/>
            <a:ext cx="3154680" cy="960120"/>
          </a:xfrm>
          <a:prstGeom prst="rect">
            <a:avLst/>
          </a:prstGeom>
          <a:noFill/>
          <a:ln/>
        </p:spPr>
        <p:txBody>
          <a:bodyPr wrap="square" rtlCol="0" anchor="ctr"/>
          <a:lstStyle/>
          <a:p>
            <a:pPr indent="0" marL="0">
              <a:lnSpc>
                <a:spcPct val="118000"/>
              </a:lnSpc>
              <a:buNone/>
            </a:pPr>
            <a:r>
              <a:rPr lang="en-US" sz="1050" dirty="0">
                <a:solidFill>
                  <a:srgbClr val="5B6B7C"/>
                </a:solidFill>
                <a:latin typeface="Calibri" pitchFamily="34" charset="0"/>
                <a:ea typeface="Calibri" pitchFamily="34" charset="-122"/>
                <a:cs typeface="Calibri" pitchFamily="34" charset="-120"/>
              </a:rPr>
              <a:t>Assign the appropriate tier (e.g., P10) to match workload IOPS/throughput.</a:t>
            </a:r>
            <a:endParaRPr lang="en-US" sz="1050" dirty="0"/>
          </a:p>
        </p:txBody>
      </p:sp>
      <p:sp>
        <p:nvSpPr>
          <p:cNvPr id="32" name="Text 30"/>
          <p:cNvSpPr/>
          <p:nvPr/>
        </p:nvSpPr>
        <p:spPr>
          <a:xfrm>
            <a:off x="0" y="0"/>
            <a:ext cx="9144000" cy="0"/>
          </a:xfrm>
          <a:prstGeom prst="rect">
            <a:avLst/>
          </a:prstGeom>
          <a:noFill/>
          <a:ln/>
        </p:spPr>
        <p:txBody>
          <a:bodyPr wrap="square" rtlCol="0" anchor="ctr"/>
          <a:lstStyle/>
          <a:p>
            <a:pPr indent="0" marL="0">
              <a:buNone/>
            </a:pPr>
            <a:endParaRPr lang="en-US" dirty="0"/>
          </a:p>
        </p:txBody>
      </p:sp>
      <p:sp>
        <p:nvSpPr>
          <p:cNvPr id="33" name="Shape 31"/>
          <p:cNvSpPr/>
          <p:nvPr/>
        </p:nvSpPr>
        <p:spPr>
          <a:xfrm>
            <a:off x="8229600" y="3776472"/>
            <a:ext cx="3611880" cy="1965960"/>
          </a:xfrm>
          <a:prstGeom prst="roundRect">
            <a:avLst>
              <a:gd name="adj" fmla="val 3721"/>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34" name="Shape 32"/>
          <p:cNvSpPr/>
          <p:nvPr/>
        </p:nvSpPr>
        <p:spPr>
          <a:xfrm>
            <a:off x="8458200" y="4005072"/>
            <a:ext cx="502920" cy="502920"/>
          </a:xfrm>
          <a:prstGeom prst="ellipse">
            <a:avLst/>
          </a:prstGeom>
          <a:solidFill>
            <a:srgbClr val="0078D4"/>
          </a:solidFill>
          <a:ln/>
        </p:spPr>
      </p:sp>
      <p:sp>
        <p:nvSpPr>
          <p:cNvPr id="35" name="Text 33"/>
          <p:cNvSpPr/>
          <p:nvPr/>
        </p:nvSpPr>
        <p:spPr>
          <a:xfrm>
            <a:off x="8458200" y="4005072"/>
            <a:ext cx="502920" cy="502920"/>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36" name="Text 34"/>
          <p:cNvSpPr/>
          <p:nvPr/>
        </p:nvSpPr>
        <p:spPr>
          <a:xfrm>
            <a:off x="9098280" y="3995928"/>
            <a:ext cx="2560320" cy="548640"/>
          </a:xfrm>
          <a:prstGeom prst="rect">
            <a:avLst/>
          </a:prstGeom>
          <a:noFill/>
          <a:ln/>
        </p:spPr>
        <p:txBody>
          <a:bodyPr wrap="square" rtlCol="0" anchor="ctr"/>
          <a:lstStyle/>
          <a:p>
            <a:pPr indent="0" marL="0">
              <a:lnSpc>
                <a:spcPct val="100000"/>
              </a:lnSpc>
              <a:buNone/>
            </a:pPr>
            <a:r>
              <a:rPr lang="en-US" sz="1350" b="1" dirty="0">
                <a:solidFill>
                  <a:srgbClr val="002050"/>
                </a:solidFill>
                <a:latin typeface="Cambria" pitchFamily="34" charset="0"/>
                <a:ea typeface="Cambria" pitchFamily="34" charset="-122"/>
                <a:cs typeface="Cambria" pitchFamily="34" charset="-120"/>
              </a:rPr>
              <a:t>Monitor Performance</a:t>
            </a:r>
            <a:endParaRPr lang="en-US" sz="1350" dirty="0"/>
          </a:p>
        </p:txBody>
      </p:sp>
      <p:sp>
        <p:nvSpPr>
          <p:cNvPr id="37" name="Text 35"/>
          <p:cNvSpPr/>
          <p:nvPr/>
        </p:nvSpPr>
        <p:spPr>
          <a:xfrm>
            <a:off x="8458200" y="4672584"/>
            <a:ext cx="3154680" cy="960120"/>
          </a:xfrm>
          <a:prstGeom prst="rect">
            <a:avLst/>
          </a:prstGeom>
          <a:noFill/>
          <a:ln/>
        </p:spPr>
        <p:txBody>
          <a:bodyPr wrap="square" rtlCol="0" anchor="ctr"/>
          <a:lstStyle/>
          <a:p>
            <a:pPr indent="0" marL="0">
              <a:lnSpc>
                <a:spcPct val="118000"/>
              </a:lnSpc>
              <a:buNone/>
            </a:pPr>
            <a:r>
              <a:rPr lang="en-US" sz="1050" dirty="0">
                <a:solidFill>
                  <a:srgbClr val="5B6B7C"/>
                </a:solidFill>
                <a:latin typeface="Calibri" pitchFamily="34" charset="0"/>
                <a:ea typeface="Calibri" pitchFamily="34" charset="-122"/>
                <a:cs typeface="Calibri" pitchFamily="34" charset="-120"/>
              </a:rPr>
              <a:t>Track IOPS, throughput &amp; latency post-deployment via Azure Monitor.</a:t>
            </a:r>
            <a:endParaRPr lang="en-US" sz="1050" dirty="0"/>
          </a:p>
        </p:txBody>
      </p:sp>
      <p:sp>
        <p:nvSpPr>
          <p:cNvPr id="38" name="Text 36"/>
          <p:cNvSpPr/>
          <p:nvPr/>
        </p:nvSpPr>
        <p:spPr>
          <a:xfrm>
            <a:off x="548640" y="5806440"/>
            <a:ext cx="11064240" cy="365760"/>
          </a:xfrm>
          <a:prstGeom prst="rect">
            <a:avLst/>
          </a:prstGeom>
          <a:noFill/>
          <a:ln/>
        </p:spPr>
        <p:txBody>
          <a:bodyPr wrap="square" rtlCol="0" anchor="ctr"/>
          <a:lstStyle/>
          <a:p>
            <a:pPr algn="ctr" indent="0" marL="0">
              <a:buNone/>
            </a:pPr>
            <a:r>
              <a:rPr lang="en-US" sz="1050" i="1" dirty="0">
                <a:solidFill>
                  <a:srgbClr val="5B6B7C"/>
                </a:solidFill>
                <a:latin typeface="Calibri" pitchFamily="34" charset="0"/>
                <a:ea typeface="Calibri" pitchFamily="34" charset="-122"/>
                <a:cs typeface="Calibri" pitchFamily="34" charset="-120"/>
              </a:rPr>
              <a:t>Azure Portal screenshot placeholder — insert deployment screen captures here for the live demo.</a:t>
            </a:r>
            <a:endParaRPr lang="en-US" sz="1050" dirty="0"/>
          </a:p>
        </p:txBody>
      </p:sp>
      <p:sp>
        <p:nvSpPr>
          <p:cNvPr id="39" name="Text 37"/>
          <p:cNvSpPr/>
          <p:nvPr/>
        </p:nvSpPr>
        <p:spPr>
          <a:xfrm>
            <a:off x="457200" y="6547104"/>
            <a:ext cx="7315200" cy="256032"/>
          </a:xfrm>
          <a:prstGeom prst="rect">
            <a:avLst/>
          </a:prstGeom>
          <a:noFill/>
          <a:ln/>
        </p:spPr>
        <p:txBody>
          <a:bodyPr wrap="square" rtlCol="0" anchor="ctr"/>
          <a:lstStyle/>
          <a:p>
            <a:pPr algn="l" indent="0" marL="0">
              <a:buNone/>
            </a:pPr>
            <a:r>
              <a:rPr lang="en-US" sz="850" spc="100" kern="0" dirty="0">
                <a:solidFill>
                  <a:srgbClr val="5B6B7C"/>
                </a:solidFill>
                <a:latin typeface="Calibri" pitchFamily="34" charset="0"/>
                <a:ea typeface="Calibri" pitchFamily="34" charset="-122"/>
                <a:cs typeface="Calibri" pitchFamily="34" charset="-120"/>
              </a:rPr>
              <a:t>AZURE STORAGE PERFORMANCE TIER SELECTION</a:t>
            </a:r>
            <a:endParaRPr lang="en-US" sz="850" dirty="0"/>
          </a:p>
        </p:txBody>
      </p:sp>
      <p:sp>
        <p:nvSpPr>
          <p:cNvPr id="40" name="Shape 38"/>
          <p:cNvSpPr/>
          <p:nvPr/>
        </p:nvSpPr>
        <p:spPr>
          <a:xfrm>
            <a:off x="11414455" y="6492240"/>
            <a:ext cx="329184" cy="329184"/>
          </a:xfrm>
          <a:prstGeom prst="ellipse">
            <a:avLst/>
          </a:prstGeom>
          <a:solidFill>
            <a:srgbClr val="0078D4"/>
          </a:solidFill>
          <a:ln/>
        </p:spPr>
      </p:sp>
      <p:sp>
        <p:nvSpPr>
          <p:cNvPr id="41" name="Text 39"/>
          <p:cNvSpPr/>
          <p:nvPr/>
        </p:nvSpPr>
        <p:spPr>
          <a:xfrm>
            <a:off x="11414455" y="6492240"/>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9</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02050"/>
        </a:solidFill>
      </p:bgPr>
    </p:bg>
    <p:spTree>
      <p:nvGrpSpPr>
        <p:cNvPr id="1" name=""/>
        <p:cNvGrpSpPr/>
        <p:nvPr/>
      </p:nvGrpSpPr>
      <p:grpSpPr>
        <a:xfrm>
          <a:off x="0" y="0"/>
          <a:ext cx="0" cy="0"/>
          <a:chOff x="0" y="0"/>
          <a:chExt cx="0" cy="0"/>
        </a:xfrm>
      </p:grpSpPr>
      <p:sp>
        <p:nvSpPr>
          <p:cNvPr id="2" name="Shape 0"/>
          <p:cNvSpPr/>
          <p:nvPr/>
        </p:nvSpPr>
        <p:spPr>
          <a:xfrm>
            <a:off x="-1645920" y="-1645920"/>
            <a:ext cx="4206240" cy="4206240"/>
          </a:xfrm>
          <a:prstGeom prst="ellipse">
            <a:avLst/>
          </a:prstGeom>
          <a:solidFill>
            <a:srgbClr val="0A2E5C"/>
          </a:solidFill>
          <a:ln/>
        </p:spPr>
      </p:sp>
      <p:sp>
        <p:nvSpPr>
          <p:cNvPr id="3" name="Text 1"/>
          <p:cNvSpPr/>
          <p:nvPr/>
        </p:nvSpPr>
        <p:spPr>
          <a:xfrm>
            <a:off x="548640" y="384048"/>
            <a:ext cx="7315200" cy="292608"/>
          </a:xfrm>
          <a:prstGeom prst="rect">
            <a:avLst/>
          </a:prstGeom>
          <a:noFill/>
          <a:ln/>
        </p:spPr>
        <p:txBody>
          <a:bodyPr wrap="square" rtlCol="0" anchor="ctr"/>
          <a:lstStyle/>
          <a:p>
            <a:pPr algn="l" indent="0" marL="0">
              <a:buNone/>
            </a:pPr>
            <a:r>
              <a:rPr lang="en-US" sz="1250" b="1" spc="220" kern="0" dirty="0">
                <a:solidFill>
                  <a:srgbClr val="50E6FF"/>
                </a:solidFill>
                <a:latin typeface="Calibri" pitchFamily="34" charset="0"/>
                <a:ea typeface="Calibri" pitchFamily="34" charset="-122"/>
                <a:cs typeface="Calibri" pitchFamily="34" charset="-120"/>
              </a:rPr>
              <a:t>SYSTEM ARCHITECTURE</a:t>
            </a:r>
            <a:endParaRPr lang="en-US" sz="1250" dirty="0"/>
          </a:p>
        </p:txBody>
      </p:sp>
      <p:sp>
        <p:nvSpPr>
          <p:cNvPr id="4" name="Text 2"/>
          <p:cNvSpPr/>
          <p:nvPr/>
        </p:nvSpPr>
        <p:spPr>
          <a:xfrm>
            <a:off x="548640" y="658368"/>
            <a:ext cx="10789920" cy="640080"/>
          </a:xfrm>
          <a:prstGeom prst="rect">
            <a:avLst/>
          </a:prstGeom>
          <a:noFill/>
          <a:ln/>
        </p:spPr>
        <p:txBody>
          <a:bodyPr wrap="square"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Proposed Architecture</a:t>
            </a:r>
            <a:endParaRPr lang="en-US" sz="3000" dirty="0"/>
          </a:p>
        </p:txBody>
      </p:sp>
      <p:sp>
        <p:nvSpPr>
          <p:cNvPr id="5" name="Shape 3"/>
          <p:cNvSpPr/>
          <p:nvPr/>
        </p:nvSpPr>
        <p:spPr>
          <a:xfrm>
            <a:off x="3169768" y="1645920"/>
            <a:ext cx="5852160" cy="749808"/>
          </a:xfrm>
          <a:prstGeom prst="roundRect">
            <a:avLst>
              <a:gd name="adj" fmla="val 10976"/>
            </a:avLst>
          </a:prstGeom>
          <a:solidFill>
            <a:srgbClr val="0A2E5C"/>
          </a:solidFill>
          <a:ln w="15875">
            <a:solidFill>
              <a:srgbClr val="2B88D8"/>
            </a:solidFill>
            <a:prstDash val="solid"/>
          </a:ln>
        </p:spPr>
      </p:sp>
      <p:sp>
        <p:nvSpPr>
          <p:cNvPr id="6" name="Shape 4"/>
          <p:cNvSpPr/>
          <p:nvPr/>
        </p:nvSpPr>
        <p:spPr>
          <a:xfrm>
            <a:off x="3316072" y="1764792"/>
            <a:ext cx="512064" cy="512064"/>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7" name="Image 0" descr="/home/claude/azure-ppt/icons/users_white.png">    </p:cNvPr>
          <p:cNvPicPr>
            <a:picLocks noChangeAspect="1"/>
          </p:cNvPicPr>
          <p:nvPr/>
        </p:nvPicPr>
        <p:blipFill>
          <a:blip r:embed="rId1"/>
          <a:stretch>
            <a:fillRect/>
          </a:stretch>
        </p:blipFill>
        <p:spPr>
          <a:xfrm>
            <a:off x="3382640" y="1831360"/>
            <a:ext cx="378927" cy="378927"/>
          </a:xfrm>
          <a:prstGeom prst="rect">
            <a:avLst/>
          </a:prstGeom>
        </p:spPr>
      </p:pic>
      <p:sp>
        <p:nvSpPr>
          <p:cNvPr id="8" name="Text 5"/>
          <p:cNvSpPr/>
          <p:nvPr/>
        </p:nvSpPr>
        <p:spPr>
          <a:xfrm>
            <a:off x="3992728" y="1719072"/>
            <a:ext cx="484632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Users</a:t>
            </a:r>
            <a:endParaRPr lang="en-US" sz="1400" dirty="0"/>
          </a:p>
        </p:txBody>
      </p:sp>
      <p:sp>
        <p:nvSpPr>
          <p:cNvPr id="9" name="Text 6"/>
          <p:cNvSpPr/>
          <p:nvPr/>
        </p:nvSpPr>
        <p:spPr>
          <a:xfrm>
            <a:off x="3992728" y="2048256"/>
            <a:ext cx="4846320" cy="292608"/>
          </a:xfrm>
          <a:prstGeom prst="rect">
            <a:avLst/>
          </a:prstGeom>
          <a:noFill/>
          <a:ln/>
        </p:spPr>
        <p:txBody>
          <a:bodyPr wrap="square" rtlCol="0" anchor="ctr"/>
          <a:lstStyle/>
          <a:p>
            <a:pPr indent="0" marL="0">
              <a:buNone/>
            </a:pPr>
            <a:r>
              <a:rPr lang="en-US" sz="1000" dirty="0">
                <a:solidFill>
                  <a:srgbClr val="CFE3F7"/>
                </a:solidFill>
                <a:latin typeface="Calibri" pitchFamily="34" charset="0"/>
                <a:ea typeface="Calibri" pitchFamily="34" charset="-122"/>
                <a:cs typeface="Calibri" pitchFamily="34" charset="-120"/>
              </a:rPr>
              <a:t>Shoppers accessing the application</a:t>
            </a:r>
            <a:endParaRPr lang="en-US" sz="1000" dirty="0"/>
          </a:p>
        </p:txBody>
      </p:sp>
      <p:sp>
        <p:nvSpPr>
          <p:cNvPr id="10" name="Shape 7"/>
          <p:cNvSpPr/>
          <p:nvPr/>
        </p:nvSpPr>
        <p:spPr>
          <a:xfrm>
            <a:off x="5986120" y="2414016"/>
            <a:ext cx="219456" cy="219456"/>
          </a:xfrm>
          <a:prstGeom prst="downArrow">
            <a:avLst/>
          </a:prstGeom>
          <a:solidFill>
            <a:srgbClr val="50E6FF"/>
          </a:solidFill>
          <a:ln/>
        </p:spPr>
      </p:sp>
      <p:sp>
        <p:nvSpPr>
          <p:cNvPr id="11" name="Shape 8"/>
          <p:cNvSpPr/>
          <p:nvPr/>
        </p:nvSpPr>
        <p:spPr>
          <a:xfrm>
            <a:off x="3169768" y="2633472"/>
            <a:ext cx="5852160" cy="749808"/>
          </a:xfrm>
          <a:prstGeom prst="roundRect">
            <a:avLst>
              <a:gd name="adj" fmla="val 10976"/>
            </a:avLst>
          </a:prstGeom>
          <a:solidFill>
            <a:srgbClr val="0A2E5C"/>
          </a:solidFill>
          <a:ln w="15875">
            <a:solidFill>
              <a:srgbClr val="2B88D8"/>
            </a:solidFill>
            <a:prstDash val="solid"/>
          </a:ln>
        </p:spPr>
      </p:sp>
      <p:sp>
        <p:nvSpPr>
          <p:cNvPr id="12" name="Shape 9"/>
          <p:cNvSpPr/>
          <p:nvPr/>
        </p:nvSpPr>
        <p:spPr>
          <a:xfrm>
            <a:off x="3316072" y="2752344"/>
            <a:ext cx="512064" cy="512064"/>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13" name="Image 1" descr="/home/claude/azure-ppt/icons/cloud_white.png">    </p:cNvPr>
          <p:cNvPicPr>
            <a:picLocks noChangeAspect="1"/>
          </p:cNvPicPr>
          <p:nvPr/>
        </p:nvPicPr>
        <p:blipFill>
          <a:blip r:embed="rId2"/>
          <a:stretch>
            <a:fillRect/>
          </a:stretch>
        </p:blipFill>
        <p:spPr>
          <a:xfrm>
            <a:off x="3382640" y="2818912"/>
            <a:ext cx="378927" cy="378927"/>
          </a:xfrm>
          <a:prstGeom prst="rect">
            <a:avLst/>
          </a:prstGeom>
        </p:spPr>
      </p:pic>
      <p:sp>
        <p:nvSpPr>
          <p:cNvPr id="14" name="Text 10"/>
          <p:cNvSpPr/>
          <p:nvPr/>
        </p:nvSpPr>
        <p:spPr>
          <a:xfrm>
            <a:off x="3992728" y="2706624"/>
            <a:ext cx="484632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Azure Application</a:t>
            </a:r>
            <a:endParaRPr lang="en-US" sz="1400" dirty="0"/>
          </a:p>
        </p:txBody>
      </p:sp>
      <p:sp>
        <p:nvSpPr>
          <p:cNvPr id="15" name="Text 11"/>
          <p:cNvSpPr/>
          <p:nvPr/>
        </p:nvSpPr>
        <p:spPr>
          <a:xfrm>
            <a:off x="3992728" y="3035808"/>
            <a:ext cx="4846320" cy="292608"/>
          </a:xfrm>
          <a:prstGeom prst="rect">
            <a:avLst/>
          </a:prstGeom>
          <a:noFill/>
          <a:ln/>
        </p:spPr>
        <p:txBody>
          <a:bodyPr wrap="square" rtlCol="0" anchor="ctr"/>
          <a:lstStyle/>
          <a:p>
            <a:pPr indent="0" marL="0">
              <a:buNone/>
            </a:pPr>
            <a:r>
              <a:rPr lang="en-US" sz="1000" dirty="0">
                <a:solidFill>
                  <a:srgbClr val="CFE3F7"/>
                </a:solidFill>
                <a:latin typeface="Calibri" pitchFamily="34" charset="0"/>
                <a:ea typeface="Calibri" pitchFamily="34" charset="-122"/>
                <a:cs typeface="Calibri" pitchFamily="34" charset="-120"/>
              </a:rPr>
              <a:t>Web front-end &amp; API services</a:t>
            </a:r>
            <a:endParaRPr lang="en-US" sz="1000" dirty="0"/>
          </a:p>
        </p:txBody>
      </p:sp>
      <p:sp>
        <p:nvSpPr>
          <p:cNvPr id="16" name="Shape 12"/>
          <p:cNvSpPr/>
          <p:nvPr/>
        </p:nvSpPr>
        <p:spPr>
          <a:xfrm>
            <a:off x="5986120" y="3401568"/>
            <a:ext cx="219456" cy="219456"/>
          </a:xfrm>
          <a:prstGeom prst="downArrow">
            <a:avLst/>
          </a:prstGeom>
          <a:solidFill>
            <a:srgbClr val="50E6FF"/>
          </a:solidFill>
          <a:ln/>
        </p:spPr>
      </p:sp>
      <p:sp>
        <p:nvSpPr>
          <p:cNvPr id="17" name="Shape 13"/>
          <p:cNvSpPr/>
          <p:nvPr/>
        </p:nvSpPr>
        <p:spPr>
          <a:xfrm>
            <a:off x="3169768" y="3621024"/>
            <a:ext cx="5852160" cy="749808"/>
          </a:xfrm>
          <a:prstGeom prst="roundRect">
            <a:avLst>
              <a:gd name="adj" fmla="val 10976"/>
            </a:avLst>
          </a:prstGeom>
          <a:solidFill>
            <a:srgbClr val="0A2E5C"/>
          </a:solidFill>
          <a:ln w="15875">
            <a:solidFill>
              <a:srgbClr val="2B88D8"/>
            </a:solidFill>
            <a:prstDash val="solid"/>
          </a:ln>
        </p:spPr>
      </p:sp>
      <p:sp>
        <p:nvSpPr>
          <p:cNvPr id="18" name="Shape 14"/>
          <p:cNvSpPr/>
          <p:nvPr/>
        </p:nvSpPr>
        <p:spPr>
          <a:xfrm>
            <a:off x="3316072" y="3739896"/>
            <a:ext cx="512064" cy="512064"/>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19" name="Image 2" descr="/home/claude/azure-ppt/icons/vm_white.png">    </p:cNvPr>
          <p:cNvPicPr>
            <a:picLocks noChangeAspect="1"/>
          </p:cNvPicPr>
          <p:nvPr/>
        </p:nvPicPr>
        <p:blipFill>
          <a:blip r:embed="rId3"/>
          <a:stretch>
            <a:fillRect/>
          </a:stretch>
        </p:blipFill>
        <p:spPr>
          <a:xfrm>
            <a:off x="3382640" y="3806464"/>
            <a:ext cx="378927" cy="378927"/>
          </a:xfrm>
          <a:prstGeom prst="rect">
            <a:avLst/>
          </a:prstGeom>
        </p:spPr>
      </p:pic>
      <p:sp>
        <p:nvSpPr>
          <p:cNvPr id="20" name="Text 15"/>
          <p:cNvSpPr/>
          <p:nvPr/>
        </p:nvSpPr>
        <p:spPr>
          <a:xfrm>
            <a:off x="3992728" y="3694176"/>
            <a:ext cx="484632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Virtual Machine</a:t>
            </a:r>
            <a:endParaRPr lang="en-US" sz="1400" dirty="0"/>
          </a:p>
        </p:txBody>
      </p:sp>
      <p:sp>
        <p:nvSpPr>
          <p:cNvPr id="21" name="Text 16"/>
          <p:cNvSpPr/>
          <p:nvPr/>
        </p:nvSpPr>
        <p:spPr>
          <a:xfrm>
            <a:off x="3992728" y="4023360"/>
            <a:ext cx="4846320" cy="292608"/>
          </a:xfrm>
          <a:prstGeom prst="rect">
            <a:avLst/>
          </a:prstGeom>
          <a:noFill/>
          <a:ln/>
        </p:spPr>
        <p:txBody>
          <a:bodyPr wrap="square" rtlCol="0" anchor="ctr"/>
          <a:lstStyle/>
          <a:p>
            <a:pPr indent="0" marL="0">
              <a:buNone/>
            </a:pPr>
            <a:r>
              <a:rPr lang="en-US" sz="1000" dirty="0">
                <a:solidFill>
                  <a:srgbClr val="CFE3F7"/>
                </a:solidFill>
                <a:latin typeface="Calibri" pitchFamily="34" charset="0"/>
                <a:ea typeface="Calibri" pitchFamily="34" charset="-122"/>
                <a:cs typeface="Calibri" pitchFamily="34" charset="-120"/>
              </a:rPr>
              <a:t>Compute hosting the application</a:t>
            </a:r>
            <a:endParaRPr lang="en-US" sz="1000" dirty="0"/>
          </a:p>
        </p:txBody>
      </p:sp>
      <p:sp>
        <p:nvSpPr>
          <p:cNvPr id="22" name="Shape 17"/>
          <p:cNvSpPr/>
          <p:nvPr/>
        </p:nvSpPr>
        <p:spPr>
          <a:xfrm>
            <a:off x="5986120" y="4389120"/>
            <a:ext cx="219456" cy="219456"/>
          </a:xfrm>
          <a:prstGeom prst="downArrow">
            <a:avLst/>
          </a:prstGeom>
          <a:solidFill>
            <a:srgbClr val="50E6FF"/>
          </a:solidFill>
          <a:ln/>
        </p:spPr>
      </p:sp>
      <p:sp>
        <p:nvSpPr>
          <p:cNvPr id="23" name="Shape 18"/>
          <p:cNvSpPr/>
          <p:nvPr/>
        </p:nvSpPr>
        <p:spPr>
          <a:xfrm>
            <a:off x="3169768" y="4608576"/>
            <a:ext cx="5852160" cy="749808"/>
          </a:xfrm>
          <a:prstGeom prst="roundRect">
            <a:avLst>
              <a:gd name="adj" fmla="val 10976"/>
            </a:avLst>
          </a:prstGeom>
          <a:solidFill>
            <a:srgbClr val="0A2E5C"/>
          </a:solidFill>
          <a:ln w="15875">
            <a:solidFill>
              <a:srgbClr val="2B88D8"/>
            </a:solidFill>
            <a:prstDash val="solid"/>
          </a:ln>
        </p:spPr>
      </p:sp>
      <p:sp>
        <p:nvSpPr>
          <p:cNvPr id="24" name="Shape 19"/>
          <p:cNvSpPr/>
          <p:nvPr/>
        </p:nvSpPr>
        <p:spPr>
          <a:xfrm>
            <a:off x="3316072" y="4727448"/>
            <a:ext cx="512064" cy="512064"/>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25" name="Image 3" descr="/home/claude/azure-ppt/icons/hdd_white.png">    </p:cNvPr>
          <p:cNvPicPr>
            <a:picLocks noChangeAspect="1"/>
          </p:cNvPicPr>
          <p:nvPr/>
        </p:nvPicPr>
        <p:blipFill>
          <a:blip r:embed="rId4"/>
          <a:stretch>
            <a:fillRect/>
          </a:stretch>
        </p:blipFill>
        <p:spPr>
          <a:xfrm>
            <a:off x="3382640" y="4794016"/>
            <a:ext cx="378927" cy="378927"/>
          </a:xfrm>
          <a:prstGeom prst="rect">
            <a:avLst/>
          </a:prstGeom>
        </p:spPr>
      </p:pic>
      <p:sp>
        <p:nvSpPr>
          <p:cNvPr id="26" name="Text 20"/>
          <p:cNvSpPr/>
          <p:nvPr/>
        </p:nvSpPr>
        <p:spPr>
          <a:xfrm>
            <a:off x="3992728" y="4681728"/>
            <a:ext cx="484632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Premium SSD Managed Disk</a:t>
            </a:r>
            <a:endParaRPr lang="en-US" sz="1400" dirty="0"/>
          </a:p>
        </p:txBody>
      </p:sp>
      <p:sp>
        <p:nvSpPr>
          <p:cNvPr id="27" name="Text 21"/>
          <p:cNvSpPr/>
          <p:nvPr/>
        </p:nvSpPr>
        <p:spPr>
          <a:xfrm>
            <a:off x="3992728" y="5010912"/>
            <a:ext cx="4846320" cy="292608"/>
          </a:xfrm>
          <a:prstGeom prst="rect">
            <a:avLst/>
          </a:prstGeom>
          <a:noFill/>
          <a:ln/>
        </p:spPr>
        <p:txBody>
          <a:bodyPr wrap="square" rtlCol="0" anchor="ctr"/>
          <a:lstStyle/>
          <a:p>
            <a:pPr indent="0" marL="0">
              <a:buNone/>
            </a:pPr>
            <a:r>
              <a:rPr lang="en-US" sz="1000" dirty="0">
                <a:solidFill>
                  <a:srgbClr val="CFE3F7"/>
                </a:solidFill>
                <a:latin typeface="Calibri" pitchFamily="34" charset="0"/>
                <a:ea typeface="Calibri" pitchFamily="34" charset="-122"/>
                <a:cs typeface="Calibri" pitchFamily="34" charset="-120"/>
              </a:rPr>
              <a:t>High-performance disk attached to VM</a:t>
            </a:r>
            <a:endParaRPr lang="en-US" sz="1000" dirty="0"/>
          </a:p>
        </p:txBody>
      </p:sp>
      <p:sp>
        <p:nvSpPr>
          <p:cNvPr id="28" name="Shape 22"/>
          <p:cNvSpPr/>
          <p:nvPr/>
        </p:nvSpPr>
        <p:spPr>
          <a:xfrm>
            <a:off x="5986120" y="5376672"/>
            <a:ext cx="219456" cy="219456"/>
          </a:xfrm>
          <a:prstGeom prst="downArrow">
            <a:avLst/>
          </a:prstGeom>
          <a:solidFill>
            <a:srgbClr val="50E6FF"/>
          </a:solidFill>
          <a:ln/>
        </p:spPr>
      </p:sp>
      <p:sp>
        <p:nvSpPr>
          <p:cNvPr id="29" name="Shape 23"/>
          <p:cNvSpPr/>
          <p:nvPr/>
        </p:nvSpPr>
        <p:spPr>
          <a:xfrm>
            <a:off x="3169768" y="5596128"/>
            <a:ext cx="5852160" cy="749808"/>
          </a:xfrm>
          <a:prstGeom prst="roundRect">
            <a:avLst>
              <a:gd name="adj" fmla="val 10976"/>
            </a:avLst>
          </a:prstGeom>
          <a:solidFill>
            <a:srgbClr val="0A2E5C"/>
          </a:solidFill>
          <a:ln w="15875">
            <a:solidFill>
              <a:srgbClr val="2B88D8"/>
            </a:solidFill>
            <a:prstDash val="solid"/>
          </a:ln>
        </p:spPr>
      </p:sp>
      <p:sp>
        <p:nvSpPr>
          <p:cNvPr id="30" name="Shape 24"/>
          <p:cNvSpPr/>
          <p:nvPr/>
        </p:nvSpPr>
        <p:spPr>
          <a:xfrm>
            <a:off x="3316072" y="5715000"/>
            <a:ext cx="512064" cy="512064"/>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31" name="Image 4" descr="/home/claude/azure-ppt/icons/tachometer_white.png">    </p:cNvPr>
          <p:cNvPicPr>
            <a:picLocks noChangeAspect="1"/>
          </p:cNvPicPr>
          <p:nvPr/>
        </p:nvPicPr>
        <p:blipFill>
          <a:blip r:embed="rId5"/>
          <a:stretch>
            <a:fillRect/>
          </a:stretch>
        </p:blipFill>
        <p:spPr>
          <a:xfrm>
            <a:off x="3382640" y="5781568"/>
            <a:ext cx="378927" cy="378927"/>
          </a:xfrm>
          <a:prstGeom prst="rect">
            <a:avLst/>
          </a:prstGeom>
        </p:spPr>
      </p:pic>
      <p:sp>
        <p:nvSpPr>
          <p:cNvPr id="32" name="Text 25"/>
          <p:cNvSpPr/>
          <p:nvPr/>
        </p:nvSpPr>
        <p:spPr>
          <a:xfrm>
            <a:off x="3992728" y="5669280"/>
            <a:ext cx="484632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Azure Storage Performance Tier</a:t>
            </a:r>
            <a:endParaRPr lang="en-US" sz="1400" dirty="0"/>
          </a:p>
        </p:txBody>
      </p:sp>
      <p:sp>
        <p:nvSpPr>
          <p:cNvPr id="33" name="Text 26"/>
          <p:cNvSpPr/>
          <p:nvPr/>
        </p:nvSpPr>
        <p:spPr>
          <a:xfrm>
            <a:off x="3992728" y="5998464"/>
            <a:ext cx="4846320" cy="292608"/>
          </a:xfrm>
          <a:prstGeom prst="rect">
            <a:avLst/>
          </a:prstGeom>
          <a:noFill/>
          <a:ln/>
        </p:spPr>
        <p:txBody>
          <a:bodyPr wrap="square" rtlCol="0" anchor="ctr"/>
          <a:lstStyle/>
          <a:p>
            <a:pPr indent="0" marL="0">
              <a:buNone/>
            </a:pPr>
            <a:r>
              <a:rPr lang="en-US" sz="1000" dirty="0">
                <a:solidFill>
                  <a:srgbClr val="CFE3F7"/>
                </a:solidFill>
                <a:latin typeface="Calibri" pitchFamily="34" charset="0"/>
                <a:ea typeface="Calibri" pitchFamily="34" charset="-122"/>
                <a:cs typeface="Calibri" pitchFamily="34" charset="-120"/>
              </a:rPr>
              <a:t>Tier configured for workload IOPS &amp; throughput</a:t>
            </a:r>
            <a:endParaRPr lang="en-US" sz="1000" dirty="0"/>
          </a:p>
        </p:txBody>
      </p:sp>
      <p:sp>
        <p:nvSpPr>
          <p:cNvPr id="34" name="Text 27"/>
          <p:cNvSpPr/>
          <p:nvPr/>
        </p:nvSpPr>
        <p:spPr>
          <a:xfrm>
            <a:off x="457200" y="6547104"/>
            <a:ext cx="7315200" cy="256032"/>
          </a:xfrm>
          <a:prstGeom prst="rect">
            <a:avLst/>
          </a:prstGeom>
          <a:noFill/>
          <a:ln/>
        </p:spPr>
        <p:txBody>
          <a:bodyPr wrap="square" rtlCol="0" anchor="ctr"/>
          <a:lstStyle/>
          <a:p>
            <a:pPr algn="l" indent="0" marL="0">
              <a:buNone/>
            </a:pPr>
            <a:r>
              <a:rPr lang="en-US" sz="850" spc="100" kern="0" dirty="0">
                <a:solidFill>
                  <a:srgbClr val="5B6B7C"/>
                </a:solidFill>
                <a:latin typeface="Calibri" pitchFamily="34" charset="0"/>
                <a:ea typeface="Calibri" pitchFamily="34" charset="-122"/>
                <a:cs typeface="Calibri" pitchFamily="34" charset="-120"/>
              </a:rPr>
              <a:t>AZURE STORAGE PERFORMANCE TIER SELECTION</a:t>
            </a:r>
            <a:endParaRPr lang="en-US" sz="850" dirty="0"/>
          </a:p>
        </p:txBody>
      </p:sp>
      <p:sp>
        <p:nvSpPr>
          <p:cNvPr id="35" name="Shape 28"/>
          <p:cNvSpPr/>
          <p:nvPr/>
        </p:nvSpPr>
        <p:spPr>
          <a:xfrm>
            <a:off x="11414455" y="6492240"/>
            <a:ext cx="329184" cy="329184"/>
          </a:xfrm>
          <a:prstGeom prst="ellipse">
            <a:avLst/>
          </a:prstGeom>
          <a:solidFill>
            <a:srgbClr val="0078D4"/>
          </a:solidFill>
          <a:ln/>
        </p:spPr>
      </p:sp>
      <p:sp>
        <p:nvSpPr>
          <p:cNvPr id="36" name="Text 29"/>
          <p:cNvSpPr/>
          <p:nvPr/>
        </p:nvSpPr>
        <p:spPr>
          <a:xfrm>
            <a:off x="11414455" y="6492240"/>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9FD"/>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algn="l" indent="0" marL="0">
              <a:buNone/>
            </a:pPr>
            <a:r>
              <a:rPr lang="en-US" sz="1250" b="1" spc="220" kern="0" dirty="0">
                <a:solidFill>
                  <a:srgbClr val="0078D4"/>
                </a:solidFill>
                <a:latin typeface="Calibri" pitchFamily="34" charset="0"/>
                <a:ea typeface="Calibri" pitchFamily="34" charset="-122"/>
                <a:cs typeface="Calibri" pitchFamily="34" charset="-120"/>
              </a:rPr>
              <a:t>DECISION RATIONALE</a:t>
            </a:r>
            <a:endParaRPr lang="en-US" sz="1250" dirty="0"/>
          </a:p>
        </p:txBody>
      </p:sp>
      <p:sp>
        <p:nvSpPr>
          <p:cNvPr id="3" name="Text 1"/>
          <p:cNvSpPr/>
          <p:nvPr/>
        </p:nvSpPr>
        <p:spPr>
          <a:xfrm>
            <a:off x="548640" y="658368"/>
            <a:ext cx="10789920" cy="640080"/>
          </a:xfrm>
          <a:prstGeom prst="rect">
            <a:avLst/>
          </a:prstGeom>
          <a:noFill/>
          <a:ln/>
        </p:spPr>
        <p:txBody>
          <a:bodyPr wrap="square" rtlCol="0" anchor="ctr"/>
          <a:lstStyle/>
          <a:p>
            <a:pPr algn="l" indent="0" marL="0">
              <a:buNone/>
            </a:pPr>
            <a:r>
              <a:rPr lang="en-US" sz="3000" b="1" dirty="0">
                <a:solidFill>
                  <a:srgbClr val="002050"/>
                </a:solidFill>
                <a:latin typeface="Cambria" pitchFamily="34" charset="0"/>
                <a:ea typeface="Cambria" pitchFamily="34" charset="-122"/>
                <a:cs typeface="Cambria" pitchFamily="34" charset="-120"/>
              </a:rPr>
              <a:t>Performance Tier Selection Decision</a:t>
            </a:r>
            <a:endParaRPr lang="en-US" sz="3000" dirty="0"/>
          </a:p>
        </p:txBody>
      </p:sp>
      <p:sp>
        <p:nvSpPr>
          <p:cNvPr id="4" name="Shape 2"/>
          <p:cNvSpPr/>
          <p:nvPr/>
        </p:nvSpPr>
        <p:spPr>
          <a:xfrm>
            <a:off x="548640" y="1554480"/>
            <a:ext cx="5349240" cy="1965960"/>
          </a:xfrm>
          <a:prstGeom prst="roundRect">
            <a:avLst>
              <a:gd name="adj" fmla="val 3721"/>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5" name="Text 3"/>
          <p:cNvSpPr/>
          <p:nvPr/>
        </p:nvSpPr>
        <p:spPr>
          <a:xfrm>
            <a:off x="822960" y="1737360"/>
            <a:ext cx="4754880" cy="274320"/>
          </a:xfrm>
          <a:prstGeom prst="rect">
            <a:avLst/>
          </a:prstGeom>
          <a:noFill/>
          <a:ln/>
        </p:spPr>
        <p:txBody>
          <a:bodyPr wrap="square" rtlCol="0" anchor="ctr"/>
          <a:lstStyle/>
          <a:p>
            <a:pPr indent="0" marL="0">
              <a:buNone/>
            </a:pPr>
            <a:r>
              <a:rPr lang="en-US" sz="1100" b="1" spc="120" kern="0" dirty="0">
                <a:solidFill>
                  <a:srgbClr val="0078D4"/>
                </a:solidFill>
                <a:latin typeface="Calibri" pitchFamily="34" charset="0"/>
                <a:ea typeface="Calibri" pitchFamily="34" charset="-122"/>
                <a:cs typeface="Calibri" pitchFamily="34" charset="-120"/>
              </a:rPr>
              <a:t>WORKLOAD CHARACTERISTICS</a:t>
            </a:r>
            <a:endParaRPr lang="en-US" sz="1100" dirty="0"/>
          </a:p>
        </p:txBody>
      </p:sp>
      <p:sp>
        <p:nvSpPr>
          <p:cNvPr id="6" name="Shape 4"/>
          <p:cNvSpPr/>
          <p:nvPr/>
        </p:nvSpPr>
        <p:spPr>
          <a:xfrm>
            <a:off x="822960" y="2148840"/>
            <a:ext cx="502920" cy="502920"/>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7" name="Image 0" descr="/home/claude/azure-ppt/icons/bolt_white.png">    </p:cNvPr>
          <p:cNvPicPr>
            <a:picLocks noChangeAspect="1"/>
          </p:cNvPicPr>
          <p:nvPr/>
        </p:nvPicPr>
        <p:blipFill>
          <a:blip r:embed="rId1"/>
          <a:stretch>
            <a:fillRect/>
          </a:stretch>
        </p:blipFill>
        <p:spPr>
          <a:xfrm>
            <a:off x="888340" y="2214220"/>
            <a:ext cx="372161" cy="372161"/>
          </a:xfrm>
          <a:prstGeom prst="rect">
            <a:avLst/>
          </a:prstGeom>
        </p:spPr>
      </p:pic>
      <p:sp>
        <p:nvSpPr>
          <p:cNvPr id="8" name="Text 5"/>
          <p:cNvSpPr/>
          <p:nvPr/>
        </p:nvSpPr>
        <p:spPr>
          <a:xfrm>
            <a:off x="1463040" y="2176272"/>
            <a:ext cx="4206240" cy="457200"/>
          </a:xfrm>
          <a:prstGeom prst="rect">
            <a:avLst/>
          </a:prstGeom>
          <a:noFill/>
          <a:ln/>
        </p:spPr>
        <p:txBody>
          <a:bodyPr wrap="square" rtlCol="0" anchor="ctr"/>
          <a:lstStyle/>
          <a:p>
            <a:pPr indent="0" marL="0">
              <a:buNone/>
            </a:pPr>
            <a:r>
              <a:rPr lang="en-US" sz="1300" b="1" dirty="0">
                <a:solidFill>
                  <a:srgbClr val="1B2A3C"/>
                </a:solidFill>
                <a:latin typeface="Calibri" pitchFamily="34" charset="0"/>
                <a:ea typeface="Calibri" pitchFamily="34" charset="-122"/>
                <a:cs typeface="Calibri" pitchFamily="34" charset="-120"/>
              </a:rPr>
              <a:t>High transaction volume</a:t>
            </a:r>
            <a:endParaRPr lang="en-US" sz="1300" dirty="0"/>
          </a:p>
        </p:txBody>
      </p:sp>
      <p:sp>
        <p:nvSpPr>
          <p:cNvPr id="9" name="Shape 6"/>
          <p:cNvSpPr/>
          <p:nvPr/>
        </p:nvSpPr>
        <p:spPr>
          <a:xfrm>
            <a:off x="822960" y="2770632"/>
            <a:ext cx="502920" cy="502920"/>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10" name="Image 1" descr="/home/claude/azure-ppt/icons/tachometer_white.png">    </p:cNvPr>
          <p:cNvPicPr>
            <a:picLocks noChangeAspect="1"/>
          </p:cNvPicPr>
          <p:nvPr/>
        </p:nvPicPr>
        <p:blipFill>
          <a:blip r:embed="rId2"/>
          <a:stretch>
            <a:fillRect/>
          </a:stretch>
        </p:blipFill>
        <p:spPr>
          <a:xfrm>
            <a:off x="888340" y="2836012"/>
            <a:ext cx="372161" cy="372161"/>
          </a:xfrm>
          <a:prstGeom prst="rect">
            <a:avLst/>
          </a:prstGeom>
        </p:spPr>
      </p:pic>
      <p:sp>
        <p:nvSpPr>
          <p:cNvPr id="11" name="Text 7"/>
          <p:cNvSpPr/>
          <p:nvPr/>
        </p:nvSpPr>
        <p:spPr>
          <a:xfrm>
            <a:off x="1463040" y="2798064"/>
            <a:ext cx="4206240" cy="457200"/>
          </a:xfrm>
          <a:prstGeom prst="rect">
            <a:avLst/>
          </a:prstGeom>
          <a:noFill/>
          <a:ln/>
        </p:spPr>
        <p:txBody>
          <a:bodyPr wrap="square" rtlCol="0" anchor="ctr"/>
          <a:lstStyle/>
          <a:p>
            <a:pPr indent="0" marL="0">
              <a:buNone/>
            </a:pPr>
            <a:r>
              <a:rPr lang="en-US" sz="1300" b="1" dirty="0">
                <a:solidFill>
                  <a:srgbClr val="1B2A3C"/>
                </a:solidFill>
                <a:latin typeface="Calibri" pitchFamily="34" charset="0"/>
                <a:ea typeface="Calibri" pitchFamily="34" charset="-122"/>
                <a:cs typeface="Calibri" pitchFamily="34" charset="-120"/>
              </a:rPr>
              <a:t>Low latency requirement</a:t>
            </a:r>
            <a:endParaRPr lang="en-US" sz="1300" dirty="0"/>
          </a:p>
        </p:txBody>
      </p:sp>
      <p:sp>
        <p:nvSpPr>
          <p:cNvPr id="12" name="Shape 8"/>
          <p:cNvSpPr/>
          <p:nvPr/>
        </p:nvSpPr>
        <p:spPr>
          <a:xfrm>
            <a:off x="548640" y="3657600"/>
            <a:ext cx="5349240" cy="2377440"/>
          </a:xfrm>
          <a:prstGeom prst="roundRect">
            <a:avLst>
              <a:gd name="adj" fmla="val 3077"/>
            </a:avLst>
          </a:prstGeom>
          <a:solidFill>
            <a:srgbClr val="0078D4"/>
          </a:solidFill>
          <a:ln w="12700">
            <a:solidFill>
              <a:srgbClr val="0078D4"/>
            </a:solidFill>
            <a:prstDash val="solid"/>
          </a:ln>
        </p:spPr>
      </p:sp>
      <p:sp>
        <p:nvSpPr>
          <p:cNvPr id="13" name="Text 9"/>
          <p:cNvSpPr/>
          <p:nvPr/>
        </p:nvSpPr>
        <p:spPr>
          <a:xfrm>
            <a:off x="822960" y="3840480"/>
            <a:ext cx="4754880" cy="274320"/>
          </a:xfrm>
          <a:prstGeom prst="rect">
            <a:avLst/>
          </a:prstGeom>
          <a:noFill/>
          <a:ln/>
        </p:spPr>
        <p:txBody>
          <a:bodyPr wrap="square" rtlCol="0" anchor="ctr"/>
          <a:lstStyle/>
          <a:p>
            <a:pPr indent="0" marL="0">
              <a:buNone/>
            </a:pPr>
            <a:r>
              <a:rPr lang="en-US" sz="1100" b="1" spc="120" kern="0" dirty="0">
                <a:solidFill>
                  <a:srgbClr val="50E6FF"/>
                </a:solidFill>
                <a:latin typeface="Calibri" pitchFamily="34" charset="0"/>
                <a:ea typeface="Calibri" pitchFamily="34" charset="-122"/>
                <a:cs typeface="Calibri" pitchFamily="34" charset="-120"/>
              </a:rPr>
              <a:t>DECISION</a:t>
            </a:r>
            <a:endParaRPr lang="en-US" sz="1100" dirty="0"/>
          </a:p>
        </p:txBody>
      </p:sp>
      <p:sp>
        <p:nvSpPr>
          <p:cNvPr id="14" name="Shape 10"/>
          <p:cNvSpPr/>
          <p:nvPr/>
        </p:nvSpPr>
        <p:spPr>
          <a:xfrm>
            <a:off x="822960" y="4251960"/>
            <a:ext cx="128016" cy="128016"/>
          </a:xfrm>
          <a:prstGeom prst="ellipse">
            <a:avLst/>
          </a:prstGeom>
          <a:solidFill>
            <a:srgbClr val="FFFFFF"/>
          </a:solidFill>
          <a:ln/>
        </p:spPr>
      </p:sp>
      <p:sp>
        <p:nvSpPr>
          <p:cNvPr id="15" name="Text 11"/>
          <p:cNvSpPr/>
          <p:nvPr/>
        </p:nvSpPr>
        <p:spPr>
          <a:xfrm>
            <a:off x="1097280" y="4114800"/>
            <a:ext cx="4663440" cy="502920"/>
          </a:xfrm>
          <a:prstGeom prst="rect">
            <a:avLst/>
          </a:prstGeom>
          <a:noFill/>
          <a:ln/>
        </p:spPr>
        <p:txBody>
          <a:bodyPr wrap="square" rtlCol="0" anchor="ctr"/>
          <a:lstStyle/>
          <a:p>
            <a:pPr indent="0" marL="0">
              <a:lnSpc>
                <a:spcPct val="110000"/>
              </a:lnSpc>
              <a:buNone/>
            </a:pPr>
            <a:r>
              <a:rPr lang="en-US" sz="1250" dirty="0">
                <a:solidFill>
                  <a:srgbClr val="FFFFFF"/>
                </a:solidFill>
                <a:latin typeface="Calibri" pitchFamily="34" charset="0"/>
                <a:ea typeface="Calibri" pitchFamily="34" charset="-122"/>
                <a:cs typeface="Calibri" pitchFamily="34" charset="-120"/>
              </a:rPr>
              <a:t>Adopt Premium SSD managed disks</a:t>
            </a:r>
            <a:endParaRPr lang="en-US" sz="1250" dirty="0"/>
          </a:p>
        </p:txBody>
      </p:sp>
      <p:sp>
        <p:nvSpPr>
          <p:cNvPr id="16" name="Shape 12"/>
          <p:cNvSpPr/>
          <p:nvPr/>
        </p:nvSpPr>
        <p:spPr>
          <a:xfrm>
            <a:off x="822960" y="4818888"/>
            <a:ext cx="128016" cy="128016"/>
          </a:xfrm>
          <a:prstGeom prst="ellipse">
            <a:avLst/>
          </a:prstGeom>
          <a:solidFill>
            <a:srgbClr val="FFFFFF"/>
          </a:solidFill>
          <a:ln/>
        </p:spPr>
      </p:sp>
      <p:sp>
        <p:nvSpPr>
          <p:cNvPr id="17" name="Text 13"/>
          <p:cNvSpPr/>
          <p:nvPr/>
        </p:nvSpPr>
        <p:spPr>
          <a:xfrm>
            <a:off x="1097280" y="4681728"/>
            <a:ext cx="4663440" cy="502920"/>
          </a:xfrm>
          <a:prstGeom prst="rect">
            <a:avLst/>
          </a:prstGeom>
          <a:noFill/>
          <a:ln/>
        </p:spPr>
        <p:txBody>
          <a:bodyPr wrap="square" rtlCol="0" anchor="ctr"/>
          <a:lstStyle/>
          <a:p>
            <a:pPr indent="0" marL="0">
              <a:lnSpc>
                <a:spcPct val="110000"/>
              </a:lnSpc>
              <a:buNone/>
            </a:pPr>
            <a:r>
              <a:rPr lang="en-US" sz="1250" dirty="0">
                <a:solidFill>
                  <a:srgbClr val="FFFFFF"/>
                </a:solidFill>
                <a:latin typeface="Calibri" pitchFamily="34" charset="0"/>
                <a:ea typeface="Calibri" pitchFamily="34" charset="-122"/>
                <a:cs typeface="Calibri" pitchFamily="34" charset="-120"/>
              </a:rPr>
              <a:t>Start with P10 performance tier as baseline</a:t>
            </a:r>
            <a:endParaRPr lang="en-US" sz="1250" dirty="0"/>
          </a:p>
        </p:txBody>
      </p:sp>
      <p:sp>
        <p:nvSpPr>
          <p:cNvPr id="18" name="Shape 14"/>
          <p:cNvSpPr/>
          <p:nvPr/>
        </p:nvSpPr>
        <p:spPr>
          <a:xfrm>
            <a:off x="822960" y="5385816"/>
            <a:ext cx="128016" cy="128016"/>
          </a:xfrm>
          <a:prstGeom prst="ellipse">
            <a:avLst/>
          </a:prstGeom>
          <a:solidFill>
            <a:srgbClr val="FFFFFF"/>
          </a:solidFill>
          <a:ln/>
        </p:spPr>
      </p:sp>
      <p:sp>
        <p:nvSpPr>
          <p:cNvPr id="19" name="Text 15"/>
          <p:cNvSpPr/>
          <p:nvPr/>
        </p:nvSpPr>
        <p:spPr>
          <a:xfrm>
            <a:off x="1097280" y="5248656"/>
            <a:ext cx="4663440" cy="502920"/>
          </a:xfrm>
          <a:prstGeom prst="rect">
            <a:avLst/>
          </a:prstGeom>
          <a:noFill/>
          <a:ln/>
        </p:spPr>
        <p:txBody>
          <a:bodyPr wrap="square" rtlCol="0" anchor="ctr"/>
          <a:lstStyle/>
          <a:p>
            <a:pPr indent="0" marL="0">
              <a:lnSpc>
                <a:spcPct val="110000"/>
              </a:lnSpc>
              <a:buNone/>
            </a:pPr>
            <a:r>
              <a:rPr lang="en-US" sz="1250" dirty="0">
                <a:solidFill>
                  <a:srgbClr val="FFFFFF"/>
                </a:solidFill>
                <a:latin typeface="Calibri" pitchFamily="34" charset="0"/>
                <a:ea typeface="Calibri" pitchFamily="34" charset="-122"/>
                <a:cs typeface="Calibri" pitchFamily="34" charset="-120"/>
              </a:rPr>
              <a:t>Upgrade the performance tier as workload grows</a:t>
            </a:r>
            <a:endParaRPr lang="en-US" sz="1250" dirty="0"/>
          </a:p>
        </p:txBody>
      </p:sp>
      <p:sp>
        <p:nvSpPr>
          <p:cNvPr id="20" name="Shape 16"/>
          <p:cNvSpPr/>
          <p:nvPr/>
        </p:nvSpPr>
        <p:spPr>
          <a:xfrm>
            <a:off x="6172200" y="1554480"/>
            <a:ext cx="5486400" cy="4480560"/>
          </a:xfrm>
          <a:prstGeom prst="roundRect">
            <a:avLst>
              <a:gd name="adj" fmla="val 1633"/>
            </a:avLst>
          </a:prstGeom>
          <a:solidFill>
            <a:srgbClr val="002050"/>
          </a:solidFill>
          <a:ln w="12700">
            <a:solidFill>
              <a:srgbClr val="002050"/>
            </a:solidFill>
            <a:prstDash val="solid"/>
          </a:ln>
        </p:spPr>
      </p:sp>
      <p:sp>
        <p:nvSpPr>
          <p:cNvPr id="21" name="Text 17"/>
          <p:cNvSpPr/>
          <p:nvPr/>
        </p:nvSpPr>
        <p:spPr>
          <a:xfrm>
            <a:off x="6446520" y="1737360"/>
            <a:ext cx="4937760" cy="274320"/>
          </a:xfrm>
          <a:prstGeom prst="rect">
            <a:avLst/>
          </a:prstGeom>
          <a:noFill/>
          <a:ln/>
        </p:spPr>
        <p:txBody>
          <a:bodyPr wrap="square" rtlCol="0" anchor="ctr"/>
          <a:lstStyle/>
          <a:p>
            <a:pPr indent="0" marL="0">
              <a:buNone/>
            </a:pPr>
            <a:r>
              <a:rPr lang="en-US" sz="1100" b="1" spc="120" kern="0" dirty="0">
                <a:solidFill>
                  <a:srgbClr val="50E6FF"/>
                </a:solidFill>
                <a:latin typeface="Calibri" pitchFamily="34" charset="0"/>
                <a:ea typeface="Calibri" pitchFamily="34" charset="-122"/>
                <a:cs typeface="Calibri" pitchFamily="34" charset="-120"/>
              </a:rPr>
              <a:t>DECISION PROCESS</a:t>
            </a:r>
            <a:endParaRPr lang="en-US" sz="1100" dirty="0"/>
          </a:p>
        </p:txBody>
      </p:sp>
      <p:sp>
        <p:nvSpPr>
          <p:cNvPr id="22" name="Shape 18"/>
          <p:cNvSpPr/>
          <p:nvPr/>
        </p:nvSpPr>
        <p:spPr>
          <a:xfrm>
            <a:off x="6446520" y="2240280"/>
            <a:ext cx="4937760" cy="960120"/>
          </a:xfrm>
          <a:prstGeom prst="roundRect">
            <a:avLst>
              <a:gd name="adj" fmla="val 7619"/>
            </a:avLst>
          </a:prstGeom>
          <a:solidFill>
            <a:srgbClr val="0A2E5C"/>
          </a:solidFill>
          <a:ln w="12700">
            <a:solidFill>
              <a:srgbClr val="2B88D8"/>
            </a:solidFill>
            <a:prstDash val="solid"/>
          </a:ln>
        </p:spPr>
      </p:sp>
      <p:sp>
        <p:nvSpPr>
          <p:cNvPr id="23" name="Shape 19"/>
          <p:cNvSpPr/>
          <p:nvPr/>
        </p:nvSpPr>
        <p:spPr>
          <a:xfrm>
            <a:off x="6629400" y="2441448"/>
            <a:ext cx="566928" cy="566928"/>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24" name="Image 2" descr="/home/claude/azure-ppt/icons/search_white.png">    </p:cNvPr>
          <p:cNvPicPr>
            <a:picLocks noChangeAspect="1"/>
          </p:cNvPicPr>
          <p:nvPr/>
        </p:nvPicPr>
        <p:blipFill>
          <a:blip r:embed="rId3"/>
          <a:stretch>
            <a:fillRect/>
          </a:stretch>
        </p:blipFill>
        <p:spPr>
          <a:xfrm>
            <a:off x="6703101" y="2515149"/>
            <a:ext cx="419527" cy="419527"/>
          </a:xfrm>
          <a:prstGeom prst="rect">
            <a:avLst/>
          </a:prstGeom>
        </p:spPr>
      </p:pic>
      <p:sp>
        <p:nvSpPr>
          <p:cNvPr id="25" name="Text 20"/>
          <p:cNvSpPr/>
          <p:nvPr/>
        </p:nvSpPr>
        <p:spPr>
          <a:xfrm>
            <a:off x="7360920" y="2368296"/>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Workload Analysis</a:t>
            </a:r>
            <a:endParaRPr lang="en-US" sz="1400" dirty="0"/>
          </a:p>
        </p:txBody>
      </p:sp>
      <p:sp>
        <p:nvSpPr>
          <p:cNvPr id="26" name="Text 21"/>
          <p:cNvSpPr/>
          <p:nvPr/>
        </p:nvSpPr>
        <p:spPr>
          <a:xfrm>
            <a:off x="7360920" y="2715768"/>
            <a:ext cx="3886200" cy="411480"/>
          </a:xfrm>
          <a:prstGeom prst="rect">
            <a:avLst/>
          </a:prstGeom>
          <a:noFill/>
          <a:ln/>
        </p:spPr>
        <p:txBody>
          <a:bodyPr wrap="square" rtlCol="0" anchor="ctr"/>
          <a:lstStyle/>
          <a:p>
            <a:pPr indent="0" marL="0">
              <a:lnSpc>
                <a:spcPct val="115000"/>
              </a:lnSpc>
              <a:buNone/>
            </a:pPr>
            <a:r>
              <a:rPr lang="en-US" sz="1050" dirty="0">
                <a:solidFill>
                  <a:srgbClr val="CFE3F7"/>
                </a:solidFill>
                <a:latin typeface="Calibri" pitchFamily="34" charset="0"/>
                <a:ea typeface="Calibri" pitchFamily="34" charset="-122"/>
                <a:cs typeface="Calibri" pitchFamily="34" charset="-120"/>
              </a:rPr>
              <a:t>Assess access pattern, IOPS, latency needs</a:t>
            </a:r>
            <a:endParaRPr lang="en-US" sz="1050" dirty="0"/>
          </a:p>
        </p:txBody>
      </p:sp>
      <p:sp>
        <p:nvSpPr>
          <p:cNvPr id="27" name="Shape 22"/>
          <p:cNvSpPr/>
          <p:nvPr/>
        </p:nvSpPr>
        <p:spPr>
          <a:xfrm>
            <a:off x="8814816" y="3218688"/>
            <a:ext cx="201168" cy="219456"/>
          </a:xfrm>
          <a:prstGeom prst="downArrow">
            <a:avLst/>
          </a:prstGeom>
          <a:solidFill>
            <a:srgbClr val="50E6FF"/>
          </a:solidFill>
          <a:ln/>
        </p:spPr>
      </p:sp>
      <p:sp>
        <p:nvSpPr>
          <p:cNvPr id="28" name="Shape 23"/>
          <p:cNvSpPr/>
          <p:nvPr/>
        </p:nvSpPr>
        <p:spPr>
          <a:xfrm>
            <a:off x="6446520" y="3456432"/>
            <a:ext cx="4937760" cy="960120"/>
          </a:xfrm>
          <a:prstGeom prst="roundRect">
            <a:avLst>
              <a:gd name="adj" fmla="val 7619"/>
            </a:avLst>
          </a:prstGeom>
          <a:solidFill>
            <a:srgbClr val="0A2E5C"/>
          </a:solidFill>
          <a:ln w="12700">
            <a:solidFill>
              <a:srgbClr val="2B88D8"/>
            </a:solidFill>
            <a:prstDash val="solid"/>
          </a:ln>
        </p:spPr>
      </p:sp>
      <p:sp>
        <p:nvSpPr>
          <p:cNvPr id="29" name="Shape 24"/>
          <p:cNvSpPr/>
          <p:nvPr/>
        </p:nvSpPr>
        <p:spPr>
          <a:xfrm>
            <a:off x="6629400" y="3657600"/>
            <a:ext cx="566928" cy="566928"/>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30" name="Image 3" descr="/home/claude/azure-ppt/icons/layer_white.png">    </p:cNvPr>
          <p:cNvPicPr>
            <a:picLocks noChangeAspect="1"/>
          </p:cNvPicPr>
          <p:nvPr/>
        </p:nvPicPr>
        <p:blipFill>
          <a:blip r:embed="rId4"/>
          <a:stretch>
            <a:fillRect/>
          </a:stretch>
        </p:blipFill>
        <p:spPr>
          <a:xfrm>
            <a:off x="6703101" y="3731301"/>
            <a:ext cx="419527" cy="419527"/>
          </a:xfrm>
          <a:prstGeom prst="rect">
            <a:avLst/>
          </a:prstGeom>
        </p:spPr>
      </p:pic>
      <p:sp>
        <p:nvSpPr>
          <p:cNvPr id="31" name="Text 25"/>
          <p:cNvSpPr/>
          <p:nvPr/>
        </p:nvSpPr>
        <p:spPr>
          <a:xfrm>
            <a:off x="7360920" y="3584448"/>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Storage Selection</a:t>
            </a:r>
            <a:endParaRPr lang="en-US" sz="1400" dirty="0"/>
          </a:p>
        </p:txBody>
      </p:sp>
      <p:sp>
        <p:nvSpPr>
          <p:cNvPr id="32" name="Text 26"/>
          <p:cNvSpPr/>
          <p:nvPr/>
        </p:nvSpPr>
        <p:spPr>
          <a:xfrm>
            <a:off x="7360920" y="3931920"/>
            <a:ext cx="3886200" cy="411480"/>
          </a:xfrm>
          <a:prstGeom prst="rect">
            <a:avLst/>
          </a:prstGeom>
          <a:noFill/>
          <a:ln/>
        </p:spPr>
        <p:txBody>
          <a:bodyPr wrap="square" rtlCol="0" anchor="ctr"/>
          <a:lstStyle/>
          <a:p>
            <a:pPr indent="0" marL="0">
              <a:lnSpc>
                <a:spcPct val="115000"/>
              </a:lnSpc>
              <a:buNone/>
            </a:pPr>
            <a:r>
              <a:rPr lang="en-US" sz="1050" dirty="0">
                <a:solidFill>
                  <a:srgbClr val="CFE3F7"/>
                </a:solidFill>
                <a:latin typeface="Calibri" pitchFamily="34" charset="0"/>
                <a:ea typeface="Calibri" pitchFamily="34" charset="-122"/>
                <a:cs typeface="Calibri" pitchFamily="34" charset="-120"/>
              </a:rPr>
              <a:t>Choose Premium SSD tier (P10 baseline)</a:t>
            </a:r>
            <a:endParaRPr lang="en-US" sz="1050" dirty="0"/>
          </a:p>
        </p:txBody>
      </p:sp>
      <p:sp>
        <p:nvSpPr>
          <p:cNvPr id="33" name="Shape 27"/>
          <p:cNvSpPr/>
          <p:nvPr/>
        </p:nvSpPr>
        <p:spPr>
          <a:xfrm>
            <a:off x="8814816" y="4434840"/>
            <a:ext cx="201168" cy="219456"/>
          </a:xfrm>
          <a:prstGeom prst="downArrow">
            <a:avLst/>
          </a:prstGeom>
          <a:solidFill>
            <a:srgbClr val="50E6FF"/>
          </a:solidFill>
          <a:ln/>
        </p:spPr>
      </p:sp>
      <p:sp>
        <p:nvSpPr>
          <p:cNvPr id="34" name="Shape 28"/>
          <p:cNvSpPr/>
          <p:nvPr/>
        </p:nvSpPr>
        <p:spPr>
          <a:xfrm>
            <a:off x="6446520" y="4672584"/>
            <a:ext cx="4937760" cy="960120"/>
          </a:xfrm>
          <a:prstGeom prst="roundRect">
            <a:avLst>
              <a:gd name="adj" fmla="val 7619"/>
            </a:avLst>
          </a:prstGeom>
          <a:solidFill>
            <a:srgbClr val="0A2E5C"/>
          </a:solidFill>
          <a:ln w="12700">
            <a:solidFill>
              <a:srgbClr val="2B88D8"/>
            </a:solidFill>
            <a:prstDash val="solid"/>
          </a:ln>
        </p:spPr>
      </p:sp>
      <p:sp>
        <p:nvSpPr>
          <p:cNvPr id="35" name="Shape 29"/>
          <p:cNvSpPr/>
          <p:nvPr/>
        </p:nvSpPr>
        <p:spPr>
          <a:xfrm>
            <a:off x="6629400" y="4873752"/>
            <a:ext cx="566928" cy="566928"/>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36" name="Image 4" descr="/home/claude/azure-ppt/icons/chart_white.png">    </p:cNvPr>
          <p:cNvPicPr>
            <a:picLocks noChangeAspect="1"/>
          </p:cNvPicPr>
          <p:nvPr/>
        </p:nvPicPr>
        <p:blipFill>
          <a:blip r:embed="rId5"/>
          <a:stretch>
            <a:fillRect/>
          </a:stretch>
        </p:blipFill>
        <p:spPr>
          <a:xfrm>
            <a:off x="6703101" y="4947453"/>
            <a:ext cx="419527" cy="419527"/>
          </a:xfrm>
          <a:prstGeom prst="rect">
            <a:avLst/>
          </a:prstGeom>
        </p:spPr>
      </p:pic>
      <p:sp>
        <p:nvSpPr>
          <p:cNvPr id="37" name="Text 30"/>
          <p:cNvSpPr/>
          <p:nvPr/>
        </p:nvSpPr>
        <p:spPr>
          <a:xfrm>
            <a:off x="7360920" y="4800600"/>
            <a:ext cx="3886200" cy="347472"/>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Performance Optimization</a:t>
            </a:r>
            <a:endParaRPr lang="en-US" sz="1400" dirty="0"/>
          </a:p>
        </p:txBody>
      </p:sp>
      <p:sp>
        <p:nvSpPr>
          <p:cNvPr id="38" name="Text 31"/>
          <p:cNvSpPr/>
          <p:nvPr/>
        </p:nvSpPr>
        <p:spPr>
          <a:xfrm>
            <a:off x="7360920" y="5148072"/>
            <a:ext cx="3886200" cy="411480"/>
          </a:xfrm>
          <a:prstGeom prst="rect">
            <a:avLst/>
          </a:prstGeom>
          <a:noFill/>
          <a:ln/>
        </p:spPr>
        <p:txBody>
          <a:bodyPr wrap="square" rtlCol="0" anchor="ctr"/>
          <a:lstStyle/>
          <a:p>
            <a:pPr indent="0" marL="0">
              <a:lnSpc>
                <a:spcPct val="115000"/>
              </a:lnSpc>
              <a:buNone/>
            </a:pPr>
            <a:r>
              <a:rPr lang="en-US" sz="1050" dirty="0">
                <a:solidFill>
                  <a:srgbClr val="CFE3F7"/>
                </a:solidFill>
                <a:latin typeface="Calibri" pitchFamily="34" charset="0"/>
                <a:ea typeface="Calibri" pitchFamily="34" charset="-122"/>
                <a:cs typeface="Calibri" pitchFamily="34" charset="-120"/>
              </a:rPr>
              <a:t>Monitor and scale tier as demand increases</a:t>
            </a:r>
            <a:endParaRPr lang="en-US" sz="1050" dirty="0"/>
          </a:p>
        </p:txBody>
      </p:sp>
      <p:sp>
        <p:nvSpPr>
          <p:cNvPr id="39" name="Text 32"/>
          <p:cNvSpPr/>
          <p:nvPr/>
        </p:nvSpPr>
        <p:spPr>
          <a:xfrm>
            <a:off x="457200" y="6547104"/>
            <a:ext cx="7315200" cy="256032"/>
          </a:xfrm>
          <a:prstGeom prst="rect">
            <a:avLst/>
          </a:prstGeom>
          <a:noFill/>
          <a:ln/>
        </p:spPr>
        <p:txBody>
          <a:bodyPr wrap="square" rtlCol="0" anchor="ctr"/>
          <a:lstStyle/>
          <a:p>
            <a:pPr algn="l" indent="0" marL="0">
              <a:buNone/>
            </a:pPr>
            <a:r>
              <a:rPr lang="en-US" sz="850" spc="100" kern="0" dirty="0">
                <a:solidFill>
                  <a:srgbClr val="5B6B7C"/>
                </a:solidFill>
                <a:latin typeface="Calibri" pitchFamily="34" charset="0"/>
                <a:ea typeface="Calibri" pitchFamily="34" charset="-122"/>
                <a:cs typeface="Calibri" pitchFamily="34" charset="-120"/>
              </a:rPr>
              <a:t>AZURE STORAGE PERFORMANCE TIER SELECTION</a:t>
            </a:r>
            <a:endParaRPr lang="en-US" sz="850" dirty="0"/>
          </a:p>
        </p:txBody>
      </p:sp>
      <p:sp>
        <p:nvSpPr>
          <p:cNvPr id="40" name="Shape 33"/>
          <p:cNvSpPr/>
          <p:nvPr/>
        </p:nvSpPr>
        <p:spPr>
          <a:xfrm>
            <a:off x="11414455" y="6492240"/>
            <a:ext cx="329184" cy="329184"/>
          </a:xfrm>
          <a:prstGeom prst="ellipse">
            <a:avLst/>
          </a:prstGeom>
          <a:solidFill>
            <a:srgbClr val="0078D4"/>
          </a:solidFill>
          <a:ln/>
        </p:spPr>
      </p:sp>
      <p:sp>
        <p:nvSpPr>
          <p:cNvPr id="41" name="Text 34"/>
          <p:cNvSpPr/>
          <p:nvPr/>
        </p:nvSpPr>
        <p:spPr>
          <a:xfrm>
            <a:off x="11414455" y="6492240"/>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11</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9FD"/>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algn="l" indent="0" marL="0">
              <a:buNone/>
            </a:pPr>
            <a:r>
              <a:rPr lang="en-US" sz="1250" b="1" spc="220" kern="0" dirty="0">
                <a:solidFill>
                  <a:srgbClr val="0078D4"/>
                </a:solidFill>
                <a:latin typeface="Calibri" pitchFamily="34" charset="0"/>
                <a:ea typeface="Calibri" pitchFamily="34" charset="-122"/>
                <a:cs typeface="Calibri" pitchFamily="34" charset="-120"/>
              </a:rPr>
              <a:t>COST OPTIMIZATION</a:t>
            </a:r>
            <a:endParaRPr lang="en-US" sz="1250" dirty="0"/>
          </a:p>
        </p:txBody>
      </p:sp>
      <p:sp>
        <p:nvSpPr>
          <p:cNvPr id="3" name="Text 1"/>
          <p:cNvSpPr/>
          <p:nvPr/>
        </p:nvSpPr>
        <p:spPr>
          <a:xfrm>
            <a:off x="548640" y="658368"/>
            <a:ext cx="10789920" cy="640080"/>
          </a:xfrm>
          <a:prstGeom prst="rect">
            <a:avLst/>
          </a:prstGeom>
          <a:noFill/>
          <a:ln/>
        </p:spPr>
        <p:txBody>
          <a:bodyPr wrap="square" rtlCol="0" anchor="ctr"/>
          <a:lstStyle/>
          <a:p>
            <a:pPr algn="l" indent="0" marL="0">
              <a:buNone/>
            </a:pPr>
            <a:r>
              <a:rPr lang="en-US" sz="3000" b="1" dirty="0">
                <a:solidFill>
                  <a:srgbClr val="002050"/>
                </a:solidFill>
                <a:latin typeface="Cambria" pitchFamily="34" charset="0"/>
                <a:ea typeface="Cambria" pitchFamily="34" charset="-122"/>
                <a:cs typeface="Cambria" pitchFamily="34" charset="-120"/>
              </a:rPr>
              <a:t>Balancing Performance and Cost</a:t>
            </a:r>
            <a:endParaRPr lang="en-US" sz="3000" dirty="0"/>
          </a:p>
        </p:txBody>
      </p:sp>
      <p:sp>
        <p:nvSpPr>
          <p:cNvPr id="4" name="Shape 2"/>
          <p:cNvSpPr/>
          <p:nvPr/>
        </p:nvSpPr>
        <p:spPr>
          <a:xfrm>
            <a:off x="548640" y="1600200"/>
            <a:ext cx="5349240" cy="1965960"/>
          </a:xfrm>
          <a:prstGeom prst="roundRect">
            <a:avLst>
              <a:gd name="adj" fmla="val 3721"/>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5" name="Shape 3"/>
          <p:cNvSpPr/>
          <p:nvPr/>
        </p:nvSpPr>
        <p:spPr>
          <a:xfrm>
            <a:off x="822960" y="1892808"/>
            <a:ext cx="914400" cy="914400"/>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6" name="Image 0" descr="/home/claude/azure-ppt/icons/question_white.png">    </p:cNvPr>
          <p:cNvPicPr>
            <a:picLocks noChangeAspect="1"/>
          </p:cNvPicPr>
          <p:nvPr/>
        </p:nvPicPr>
        <p:blipFill>
          <a:blip r:embed="rId1"/>
          <a:stretch>
            <a:fillRect/>
          </a:stretch>
        </p:blipFill>
        <p:spPr>
          <a:xfrm>
            <a:off x="950976" y="2020824"/>
            <a:ext cx="658368" cy="658368"/>
          </a:xfrm>
          <a:prstGeom prst="rect">
            <a:avLst/>
          </a:prstGeom>
        </p:spPr>
      </p:pic>
      <p:sp>
        <p:nvSpPr>
          <p:cNvPr id="7" name="Text 4"/>
          <p:cNvSpPr/>
          <p:nvPr/>
        </p:nvSpPr>
        <p:spPr>
          <a:xfrm>
            <a:off x="1920240" y="1856232"/>
            <a:ext cx="3749040" cy="457200"/>
          </a:xfrm>
          <a:prstGeom prst="rect">
            <a:avLst/>
          </a:prstGeom>
          <a:noFill/>
          <a:ln/>
        </p:spPr>
        <p:txBody>
          <a:bodyPr wrap="square" rtlCol="0" anchor="ctr"/>
          <a:lstStyle/>
          <a:p>
            <a:pPr indent="0" marL="0">
              <a:buNone/>
            </a:pPr>
            <a:r>
              <a:rPr lang="en-US" sz="1500" b="1" dirty="0">
                <a:solidFill>
                  <a:srgbClr val="002050"/>
                </a:solidFill>
                <a:latin typeface="Cambria" pitchFamily="34" charset="0"/>
                <a:ea typeface="Cambria" pitchFamily="34" charset="-122"/>
                <a:cs typeface="Cambria" pitchFamily="34" charset="-120"/>
              </a:rPr>
              <a:t>Avoid Over-Provisioning</a:t>
            </a:r>
            <a:endParaRPr lang="en-US" sz="1500" dirty="0"/>
          </a:p>
        </p:txBody>
      </p:sp>
      <p:sp>
        <p:nvSpPr>
          <p:cNvPr id="8" name="Text 5"/>
          <p:cNvSpPr/>
          <p:nvPr/>
        </p:nvSpPr>
        <p:spPr>
          <a:xfrm>
            <a:off x="1920240" y="2350008"/>
            <a:ext cx="3749040" cy="1051560"/>
          </a:xfrm>
          <a:prstGeom prst="rect">
            <a:avLst/>
          </a:prstGeom>
          <a:noFill/>
          <a:ln/>
        </p:spPr>
        <p:txBody>
          <a:bodyPr wrap="square" rtlCol="0" anchor="ctr"/>
          <a:lstStyle/>
          <a:p>
            <a:pPr indent="0" marL="0">
              <a:lnSpc>
                <a:spcPct val="120000"/>
              </a:lnSpc>
              <a:buNone/>
            </a:pPr>
            <a:r>
              <a:rPr lang="en-US" sz="1150" dirty="0">
                <a:solidFill>
                  <a:srgbClr val="5B6B7C"/>
                </a:solidFill>
                <a:latin typeface="Calibri" pitchFamily="34" charset="0"/>
                <a:ea typeface="Calibri" pitchFamily="34" charset="-122"/>
                <a:cs typeface="Calibri" pitchFamily="34" charset="-120"/>
              </a:rPr>
              <a:t>Do not select maximum performance tiers unnecessarily — higher tiers cost more regardless of actual use.</a:t>
            </a:r>
            <a:endParaRPr lang="en-US" sz="1150" dirty="0"/>
          </a:p>
        </p:txBody>
      </p:sp>
      <p:sp>
        <p:nvSpPr>
          <p:cNvPr id="9" name="Shape 6"/>
          <p:cNvSpPr/>
          <p:nvPr/>
        </p:nvSpPr>
        <p:spPr>
          <a:xfrm>
            <a:off x="6217920" y="1600200"/>
            <a:ext cx="5349240" cy="1965960"/>
          </a:xfrm>
          <a:prstGeom prst="roundRect">
            <a:avLst>
              <a:gd name="adj" fmla="val 3721"/>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10" name="Shape 7"/>
          <p:cNvSpPr/>
          <p:nvPr/>
        </p:nvSpPr>
        <p:spPr>
          <a:xfrm>
            <a:off x="6492240" y="1892808"/>
            <a:ext cx="914400" cy="914400"/>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11" name="Image 1" descr="/home/claude/azure-ppt/icons/chart_white.png">    </p:cNvPr>
          <p:cNvPicPr>
            <a:picLocks noChangeAspect="1"/>
          </p:cNvPicPr>
          <p:nvPr/>
        </p:nvPicPr>
        <p:blipFill>
          <a:blip r:embed="rId2"/>
          <a:stretch>
            <a:fillRect/>
          </a:stretch>
        </p:blipFill>
        <p:spPr>
          <a:xfrm>
            <a:off x="6620256" y="2020824"/>
            <a:ext cx="658368" cy="658368"/>
          </a:xfrm>
          <a:prstGeom prst="rect">
            <a:avLst/>
          </a:prstGeom>
        </p:spPr>
      </p:pic>
      <p:sp>
        <p:nvSpPr>
          <p:cNvPr id="12" name="Text 8"/>
          <p:cNvSpPr/>
          <p:nvPr/>
        </p:nvSpPr>
        <p:spPr>
          <a:xfrm>
            <a:off x="7589520" y="1856232"/>
            <a:ext cx="3749040" cy="457200"/>
          </a:xfrm>
          <a:prstGeom prst="rect">
            <a:avLst/>
          </a:prstGeom>
          <a:noFill/>
          <a:ln/>
        </p:spPr>
        <p:txBody>
          <a:bodyPr wrap="square" rtlCol="0" anchor="ctr"/>
          <a:lstStyle/>
          <a:p>
            <a:pPr indent="0" marL="0">
              <a:buNone/>
            </a:pPr>
            <a:r>
              <a:rPr lang="en-US" sz="1500" b="1" dirty="0">
                <a:solidFill>
                  <a:srgbClr val="002050"/>
                </a:solidFill>
                <a:latin typeface="Cambria" pitchFamily="34" charset="0"/>
                <a:ea typeface="Cambria" pitchFamily="34" charset="-122"/>
                <a:cs typeface="Cambria" pitchFamily="34" charset="-120"/>
              </a:rPr>
              <a:t>Monitor Usage Continuously</a:t>
            </a:r>
            <a:endParaRPr lang="en-US" sz="1500" dirty="0"/>
          </a:p>
        </p:txBody>
      </p:sp>
      <p:sp>
        <p:nvSpPr>
          <p:cNvPr id="13" name="Text 9"/>
          <p:cNvSpPr/>
          <p:nvPr/>
        </p:nvSpPr>
        <p:spPr>
          <a:xfrm>
            <a:off x="7589520" y="2350008"/>
            <a:ext cx="3749040" cy="1051560"/>
          </a:xfrm>
          <a:prstGeom prst="rect">
            <a:avLst/>
          </a:prstGeom>
          <a:noFill/>
          <a:ln/>
        </p:spPr>
        <p:txBody>
          <a:bodyPr wrap="square" rtlCol="0" anchor="ctr"/>
          <a:lstStyle/>
          <a:p>
            <a:pPr indent="0" marL="0">
              <a:lnSpc>
                <a:spcPct val="120000"/>
              </a:lnSpc>
              <a:buNone/>
            </a:pPr>
            <a:r>
              <a:rPr lang="en-US" sz="1150" dirty="0">
                <a:solidFill>
                  <a:srgbClr val="5B6B7C"/>
                </a:solidFill>
                <a:latin typeface="Calibri" pitchFamily="34" charset="0"/>
                <a:ea typeface="Calibri" pitchFamily="34" charset="-122"/>
                <a:cs typeface="Calibri" pitchFamily="34" charset="-120"/>
              </a:rPr>
              <a:t>Track real workload usage patterns to validate whether the chosen tier is appropriate.</a:t>
            </a:r>
            <a:endParaRPr lang="en-US" sz="1150" dirty="0"/>
          </a:p>
        </p:txBody>
      </p:sp>
      <p:sp>
        <p:nvSpPr>
          <p:cNvPr id="14" name="Shape 10"/>
          <p:cNvSpPr/>
          <p:nvPr/>
        </p:nvSpPr>
        <p:spPr>
          <a:xfrm>
            <a:off x="548640" y="3840480"/>
            <a:ext cx="5349240" cy="1965960"/>
          </a:xfrm>
          <a:prstGeom prst="roundRect">
            <a:avLst>
              <a:gd name="adj" fmla="val 3721"/>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15" name="Shape 11"/>
          <p:cNvSpPr/>
          <p:nvPr/>
        </p:nvSpPr>
        <p:spPr>
          <a:xfrm>
            <a:off x="822960" y="4133088"/>
            <a:ext cx="914400" cy="914400"/>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16" name="Image 2" descr="/home/claude/azure-ppt/icons/bolt_white.png">    </p:cNvPr>
          <p:cNvPicPr>
            <a:picLocks noChangeAspect="1"/>
          </p:cNvPicPr>
          <p:nvPr/>
        </p:nvPicPr>
        <p:blipFill>
          <a:blip r:embed="rId3"/>
          <a:stretch>
            <a:fillRect/>
          </a:stretch>
        </p:blipFill>
        <p:spPr>
          <a:xfrm>
            <a:off x="950976" y="4261104"/>
            <a:ext cx="658368" cy="658368"/>
          </a:xfrm>
          <a:prstGeom prst="rect">
            <a:avLst/>
          </a:prstGeom>
        </p:spPr>
      </p:pic>
      <p:sp>
        <p:nvSpPr>
          <p:cNvPr id="17" name="Text 12"/>
          <p:cNvSpPr/>
          <p:nvPr/>
        </p:nvSpPr>
        <p:spPr>
          <a:xfrm>
            <a:off x="1920240" y="4096512"/>
            <a:ext cx="3749040" cy="457200"/>
          </a:xfrm>
          <a:prstGeom prst="rect">
            <a:avLst/>
          </a:prstGeom>
          <a:noFill/>
          <a:ln/>
        </p:spPr>
        <p:txBody>
          <a:bodyPr wrap="square" rtlCol="0" anchor="ctr"/>
          <a:lstStyle/>
          <a:p>
            <a:pPr indent="0" marL="0">
              <a:buNone/>
            </a:pPr>
            <a:r>
              <a:rPr lang="en-US" sz="1500" b="1" dirty="0">
                <a:solidFill>
                  <a:srgbClr val="002050"/>
                </a:solidFill>
                <a:latin typeface="Cambria" pitchFamily="34" charset="0"/>
                <a:ea typeface="Cambria" pitchFamily="34" charset="-122"/>
                <a:cs typeface="Cambria" pitchFamily="34" charset="-120"/>
              </a:rPr>
              <a:t>Scale Only When Required</a:t>
            </a:r>
            <a:endParaRPr lang="en-US" sz="1500" dirty="0"/>
          </a:p>
        </p:txBody>
      </p:sp>
      <p:sp>
        <p:nvSpPr>
          <p:cNvPr id="18" name="Text 13"/>
          <p:cNvSpPr/>
          <p:nvPr/>
        </p:nvSpPr>
        <p:spPr>
          <a:xfrm>
            <a:off x="1920240" y="4590288"/>
            <a:ext cx="3749040" cy="1051560"/>
          </a:xfrm>
          <a:prstGeom prst="rect">
            <a:avLst/>
          </a:prstGeom>
          <a:noFill/>
          <a:ln/>
        </p:spPr>
        <p:txBody>
          <a:bodyPr wrap="square" rtlCol="0" anchor="ctr"/>
          <a:lstStyle/>
          <a:p>
            <a:pPr indent="0" marL="0">
              <a:lnSpc>
                <a:spcPct val="120000"/>
              </a:lnSpc>
              <a:buNone/>
            </a:pPr>
            <a:r>
              <a:rPr lang="en-US" sz="1150" dirty="0">
                <a:solidFill>
                  <a:srgbClr val="5B6B7C"/>
                </a:solidFill>
                <a:latin typeface="Calibri" pitchFamily="34" charset="0"/>
                <a:ea typeface="Calibri" pitchFamily="34" charset="-122"/>
                <a:cs typeface="Calibri" pitchFamily="34" charset="-120"/>
              </a:rPr>
              <a:t>Increase performance tier only when monitored data shows genuine demand growth.</a:t>
            </a:r>
            <a:endParaRPr lang="en-US" sz="1150" dirty="0"/>
          </a:p>
        </p:txBody>
      </p:sp>
      <p:sp>
        <p:nvSpPr>
          <p:cNvPr id="19" name="Shape 14"/>
          <p:cNvSpPr/>
          <p:nvPr/>
        </p:nvSpPr>
        <p:spPr>
          <a:xfrm>
            <a:off x="6217920" y="3840480"/>
            <a:ext cx="5349240" cy="1965960"/>
          </a:xfrm>
          <a:prstGeom prst="roundRect">
            <a:avLst>
              <a:gd name="adj" fmla="val 3721"/>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20" name="Shape 15"/>
          <p:cNvSpPr/>
          <p:nvPr/>
        </p:nvSpPr>
        <p:spPr>
          <a:xfrm>
            <a:off x="6492240" y="4133088"/>
            <a:ext cx="914400" cy="914400"/>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21" name="Image 3" descr="/home/claude/azure-ppt/icons/bullseye_white.png">    </p:cNvPr>
          <p:cNvPicPr>
            <a:picLocks noChangeAspect="1"/>
          </p:cNvPicPr>
          <p:nvPr/>
        </p:nvPicPr>
        <p:blipFill>
          <a:blip r:embed="rId4"/>
          <a:stretch>
            <a:fillRect/>
          </a:stretch>
        </p:blipFill>
        <p:spPr>
          <a:xfrm>
            <a:off x="6620256" y="4261104"/>
            <a:ext cx="658368" cy="658368"/>
          </a:xfrm>
          <a:prstGeom prst="rect">
            <a:avLst/>
          </a:prstGeom>
        </p:spPr>
      </p:pic>
      <p:sp>
        <p:nvSpPr>
          <p:cNvPr id="22" name="Text 16"/>
          <p:cNvSpPr/>
          <p:nvPr/>
        </p:nvSpPr>
        <p:spPr>
          <a:xfrm>
            <a:off x="7589520" y="4096512"/>
            <a:ext cx="3749040" cy="457200"/>
          </a:xfrm>
          <a:prstGeom prst="rect">
            <a:avLst/>
          </a:prstGeom>
          <a:noFill/>
          <a:ln/>
        </p:spPr>
        <p:txBody>
          <a:bodyPr wrap="square" rtlCol="0" anchor="ctr"/>
          <a:lstStyle/>
          <a:p>
            <a:pPr indent="0" marL="0">
              <a:buNone/>
            </a:pPr>
            <a:r>
              <a:rPr lang="en-US" sz="1500" b="1" dirty="0">
                <a:solidFill>
                  <a:srgbClr val="002050"/>
                </a:solidFill>
                <a:latin typeface="Cambria" pitchFamily="34" charset="0"/>
                <a:ea typeface="Cambria" pitchFamily="34" charset="-122"/>
                <a:cs typeface="Cambria" pitchFamily="34" charset="-120"/>
              </a:rPr>
              <a:t>Balance Performance &amp; Cost</a:t>
            </a:r>
            <a:endParaRPr lang="en-US" sz="1500" dirty="0"/>
          </a:p>
        </p:txBody>
      </p:sp>
      <p:sp>
        <p:nvSpPr>
          <p:cNvPr id="23" name="Text 17"/>
          <p:cNvSpPr/>
          <p:nvPr/>
        </p:nvSpPr>
        <p:spPr>
          <a:xfrm>
            <a:off x="7589520" y="4590288"/>
            <a:ext cx="3749040" cy="1051560"/>
          </a:xfrm>
          <a:prstGeom prst="rect">
            <a:avLst/>
          </a:prstGeom>
          <a:noFill/>
          <a:ln/>
        </p:spPr>
        <p:txBody>
          <a:bodyPr wrap="square" rtlCol="0" anchor="ctr"/>
          <a:lstStyle/>
          <a:p>
            <a:pPr indent="0" marL="0">
              <a:lnSpc>
                <a:spcPct val="120000"/>
              </a:lnSpc>
              <a:buNone/>
            </a:pPr>
            <a:r>
              <a:rPr lang="en-US" sz="1150" dirty="0">
                <a:solidFill>
                  <a:srgbClr val="5B6B7C"/>
                </a:solidFill>
                <a:latin typeface="Calibri" pitchFamily="34" charset="0"/>
                <a:ea typeface="Calibri" pitchFamily="34" charset="-122"/>
                <a:cs typeface="Calibri" pitchFamily="34" charset="-120"/>
              </a:rPr>
              <a:t>Aim for the lowest-cost tier that still reliably meets application performance targets.</a:t>
            </a:r>
            <a:endParaRPr lang="en-US" sz="1150" dirty="0"/>
          </a:p>
        </p:txBody>
      </p:sp>
      <p:sp>
        <p:nvSpPr>
          <p:cNvPr id="24" name="Text 18"/>
          <p:cNvSpPr/>
          <p:nvPr/>
        </p:nvSpPr>
        <p:spPr>
          <a:xfrm>
            <a:off x="457200" y="6547104"/>
            <a:ext cx="7315200" cy="256032"/>
          </a:xfrm>
          <a:prstGeom prst="rect">
            <a:avLst/>
          </a:prstGeom>
          <a:noFill/>
          <a:ln/>
        </p:spPr>
        <p:txBody>
          <a:bodyPr wrap="square" rtlCol="0" anchor="ctr"/>
          <a:lstStyle/>
          <a:p>
            <a:pPr algn="l" indent="0" marL="0">
              <a:buNone/>
            </a:pPr>
            <a:r>
              <a:rPr lang="en-US" sz="850" spc="100" kern="0" dirty="0">
                <a:solidFill>
                  <a:srgbClr val="5B6B7C"/>
                </a:solidFill>
                <a:latin typeface="Calibri" pitchFamily="34" charset="0"/>
                <a:ea typeface="Calibri" pitchFamily="34" charset="-122"/>
                <a:cs typeface="Calibri" pitchFamily="34" charset="-120"/>
              </a:rPr>
              <a:t>AZURE STORAGE PERFORMANCE TIER SELECTION</a:t>
            </a:r>
            <a:endParaRPr lang="en-US" sz="850" dirty="0"/>
          </a:p>
        </p:txBody>
      </p:sp>
      <p:sp>
        <p:nvSpPr>
          <p:cNvPr id="25" name="Shape 19"/>
          <p:cNvSpPr/>
          <p:nvPr/>
        </p:nvSpPr>
        <p:spPr>
          <a:xfrm>
            <a:off x="11414455" y="6492240"/>
            <a:ext cx="329184" cy="329184"/>
          </a:xfrm>
          <a:prstGeom prst="ellipse">
            <a:avLst/>
          </a:prstGeom>
          <a:solidFill>
            <a:srgbClr val="0078D4"/>
          </a:solidFill>
          <a:ln/>
        </p:spPr>
      </p:sp>
      <p:sp>
        <p:nvSpPr>
          <p:cNvPr id="26" name="Text 20"/>
          <p:cNvSpPr/>
          <p:nvPr/>
        </p:nvSpPr>
        <p:spPr>
          <a:xfrm>
            <a:off x="11414455" y="6492240"/>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12</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02050"/>
        </a:solidFill>
      </p:bgPr>
    </p:bg>
    <p:spTree>
      <p:nvGrpSpPr>
        <p:cNvPr id="1" name=""/>
        <p:cNvGrpSpPr/>
        <p:nvPr/>
      </p:nvGrpSpPr>
      <p:grpSpPr>
        <a:xfrm>
          <a:off x="0" y="0"/>
          <a:ext cx="0" cy="0"/>
          <a:chOff x="0" y="0"/>
          <a:chExt cx="0" cy="0"/>
        </a:xfrm>
      </p:grpSpPr>
      <p:sp>
        <p:nvSpPr>
          <p:cNvPr id="2" name="Shape 0"/>
          <p:cNvSpPr/>
          <p:nvPr/>
        </p:nvSpPr>
        <p:spPr>
          <a:xfrm>
            <a:off x="9875520" y="-1371600"/>
            <a:ext cx="4206240" cy="4206240"/>
          </a:xfrm>
          <a:prstGeom prst="ellipse">
            <a:avLst/>
          </a:prstGeom>
          <a:solidFill>
            <a:srgbClr val="0A2E5C"/>
          </a:solidFill>
          <a:ln/>
        </p:spPr>
      </p:sp>
      <p:sp>
        <p:nvSpPr>
          <p:cNvPr id="3" name="Text 1"/>
          <p:cNvSpPr/>
          <p:nvPr/>
        </p:nvSpPr>
        <p:spPr>
          <a:xfrm>
            <a:off x="548640" y="384048"/>
            <a:ext cx="7315200" cy="292608"/>
          </a:xfrm>
          <a:prstGeom prst="rect">
            <a:avLst/>
          </a:prstGeom>
          <a:noFill/>
          <a:ln/>
        </p:spPr>
        <p:txBody>
          <a:bodyPr wrap="square" rtlCol="0" anchor="ctr"/>
          <a:lstStyle/>
          <a:p>
            <a:pPr algn="l" indent="0" marL="0">
              <a:buNone/>
            </a:pPr>
            <a:r>
              <a:rPr lang="en-US" sz="1250" b="1" spc="220" kern="0" dirty="0">
                <a:solidFill>
                  <a:srgbClr val="50E6FF"/>
                </a:solidFill>
                <a:latin typeface="Calibri" pitchFamily="34" charset="0"/>
                <a:ea typeface="Calibri" pitchFamily="34" charset="-122"/>
                <a:cs typeface="Calibri" pitchFamily="34" charset="-120"/>
              </a:rPr>
              <a:t>SOLUTION BENEFITS</a:t>
            </a:r>
            <a:endParaRPr lang="en-US" sz="1250" dirty="0"/>
          </a:p>
        </p:txBody>
      </p:sp>
      <p:sp>
        <p:nvSpPr>
          <p:cNvPr id="4" name="Text 2"/>
          <p:cNvSpPr/>
          <p:nvPr/>
        </p:nvSpPr>
        <p:spPr>
          <a:xfrm>
            <a:off x="548640" y="658368"/>
            <a:ext cx="10515600" cy="640080"/>
          </a:xfrm>
          <a:prstGeom prst="rect">
            <a:avLst/>
          </a:prstGeom>
          <a:noFill/>
          <a:ln/>
        </p:spPr>
        <p:txBody>
          <a:bodyPr wrap="square"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Advantages of the Selected Solution</a:t>
            </a:r>
            <a:endParaRPr lang="en-US" sz="3000" dirty="0"/>
          </a:p>
        </p:txBody>
      </p:sp>
      <p:sp>
        <p:nvSpPr>
          <p:cNvPr id="5" name="Shape 3"/>
          <p:cNvSpPr/>
          <p:nvPr/>
        </p:nvSpPr>
        <p:spPr>
          <a:xfrm>
            <a:off x="548640" y="2148840"/>
            <a:ext cx="2084832" cy="3383280"/>
          </a:xfrm>
          <a:prstGeom prst="roundRect">
            <a:avLst>
              <a:gd name="adj" fmla="val 4386"/>
            </a:avLst>
          </a:prstGeom>
          <a:solidFill>
            <a:srgbClr val="0A2E5C"/>
          </a:solidFill>
          <a:ln w="12700">
            <a:solidFill>
              <a:srgbClr val="15477F"/>
            </a:solidFill>
            <a:prstDash val="solid"/>
          </a:ln>
        </p:spPr>
      </p:sp>
      <p:sp>
        <p:nvSpPr>
          <p:cNvPr id="6" name="Shape 4"/>
          <p:cNvSpPr/>
          <p:nvPr/>
        </p:nvSpPr>
        <p:spPr>
          <a:xfrm>
            <a:off x="1179576" y="2468880"/>
            <a:ext cx="822960" cy="822960"/>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7" name="Image 0" descr="/home/claude/azure-ppt/icons/bolt_white.png">    </p:cNvPr>
          <p:cNvPicPr>
            <a:picLocks noChangeAspect="1"/>
          </p:cNvPicPr>
          <p:nvPr/>
        </p:nvPicPr>
        <p:blipFill>
          <a:blip r:embed="rId1"/>
          <a:stretch>
            <a:fillRect/>
          </a:stretch>
        </p:blipFill>
        <p:spPr>
          <a:xfrm>
            <a:off x="1294790" y="2584094"/>
            <a:ext cx="592531" cy="592531"/>
          </a:xfrm>
          <a:prstGeom prst="rect">
            <a:avLst/>
          </a:prstGeom>
        </p:spPr>
      </p:pic>
      <p:sp>
        <p:nvSpPr>
          <p:cNvPr id="8" name="Text 5"/>
          <p:cNvSpPr/>
          <p:nvPr/>
        </p:nvSpPr>
        <p:spPr>
          <a:xfrm>
            <a:off x="685800" y="3520440"/>
            <a:ext cx="1810512" cy="685800"/>
          </a:xfrm>
          <a:prstGeom prst="rect">
            <a:avLst/>
          </a:prstGeom>
          <a:noFill/>
          <a:ln/>
        </p:spPr>
        <p:txBody>
          <a:bodyPr wrap="square" rtlCol="0" anchor="ctr"/>
          <a:lstStyle/>
          <a:p>
            <a:pPr algn="ctr" indent="0" marL="0">
              <a:lnSpc>
                <a:spcPct val="100000"/>
              </a:lnSpc>
              <a:buNone/>
            </a:pPr>
            <a:r>
              <a:rPr lang="en-US" sz="1350" b="1" dirty="0">
                <a:solidFill>
                  <a:srgbClr val="FFFFFF"/>
                </a:solidFill>
                <a:latin typeface="Cambria" pitchFamily="34" charset="0"/>
                <a:ea typeface="Cambria" pitchFamily="34" charset="-122"/>
                <a:cs typeface="Cambria" pitchFamily="34" charset="-120"/>
              </a:rPr>
              <a:t>High Performance</a:t>
            </a:r>
            <a:endParaRPr lang="en-US" sz="1350" dirty="0"/>
          </a:p>
        </p:txBody>
      </p:sp>
      <p:sp>
        <p:nvSpPr>
          <p:cNvPr id="9" name="Text 6"/>
          <p:cNvSpPr/>
          <p:nvPr/>
        </p:nvSpPr>
        <p:spPr>
          <a:xfrm>
            <a:off x="713232" y="4251960"/>
            <a:ext cx="1755648" cy="1143000"/>
          </a:xfrm>
          <a:prstGeom prst="rect">
            <a:avLst/>
          </a:prstGeom>
          <a:noFill/>
          <a:ln/>
        </p:spPr>
        <p:txBody>
          <a:bodyPr wrap="square" rtlCol="0" anchor="ctr"/>
          <a:lstStyle/>
          <a:p>
            <a:pPr algn="ctr" indent="0" marL="0">
              <a:lnSpc>
                <a:spcPct val="120000"/>
              </a:lnSpc>
              <a:buNone/>
            </a:pPr>
            <a:r>
              <a:rPr lang="en-US" sz="1000" dirty="0">
                <a:solidFill>
                  <a:srgbClr val="CFE3F7"/>
                </a:solidFill>
                <a:latin typeface="Calibri" pitchFamily="34" charset="0"/>
                <a:ea typeface="Calibri" pitchFamily="34" charset="-122"/>
                <a:cs typeface="Calibri" pitchFamily="34" charset="-120"/>
              </a:rPr>
              <a:t>Meets demanding transactional throughput needs.</a:t>
            </a:r>
            <a:endParaRPr lang="en-US" sz="1000" dirty="0"/>
          </a:p>
        </p:txBody>
      </p:sp>
      <p:sp>
        <p:nvSpPr>
          <p:cNvPr id="10" name="Shape 7"/>
          <p:cNvSpPr/>
          <p:nvPr/>
        </p:nvSpPr>
        <p:spPr>
          <a:xfrm>
            <a:off x="2770632" y="2148840"/>
            <a:ext cx="2084832" cy="3383280"/>
          </a:xfrm>
          <a:prstGeom prst="roundRect">
            <a:avLst>
              <a:gd name="adj" fmla="val 4386"/>
            </a:avLst>
          </a:prstGeom>
          <a:solidFill>
            <a:srgbClr val="0A2E5C"/>
          </a:solidFill>
          <a:ln w="12700">
            <a:solidFill>
              <a:srgbClr val="15477F"/>
            </a:solidFill>
            <a:prstDash val="solid"/>
          </a:ln>
        </p:spPr>
      </p:sp>
      <p:sp>
        <p:nvSpPr>
          <p:cNvPr id="11" name="Shape 8"/>
          <p:cNvSpPr/>
          <p:nvPr/>
        </p:nvSpPr>
        <p:spPr>
          <a:xfrm>
            <a:off x="3401568" y="2468880"/>
            <a:ext cx="822960" cy="822960"/>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12" name="Image 1" descr="/home/claude/azure-ppt/icons/tachometer_white.png">    </p:cNvPr>
          <p:cNvPicPr>
            <a:picLocks noChangeAspect="1"/>
          </p:cNvPicPr>
          <p:nvPr/>
        </p:nvPicPr>
        <p:blipFill>
          <a:blip r:embed="rId2"/>
          <a:stretch>
            <a:fillRect/>
          </a:stretch>
        </p:blipFill>
        <p:spPr>
          <a:xfrm>
            <a:off x="3516782" y="2584094"/>
            <a:ext cx="592531" cy="592531"/>
          </a:xfrm>
          <a:prstGeom prst="rect">
            <a:avLst/>
          </a:prstGeom>
        </p:spPr>
      </p:pic>
      <p:sp>
        <p:nvSpPr>
          <p:cNvPr id="13" name="Text 9"/>
          <p:cNvSpPr/>
          <p:nvPr/>
        </p:nvSpPr>
        <p:spPr>
          <a:xfrm>
            <a:off x="2907792" y="3520440"/>
            <a:ext cx="1810512" cy="685800"/>
          </a:xfrm>
          <a:prstGeom prst="rect">
            <a:avLst/>
          </a:prstGeom>
          <a:noFill/>
          <a:ln/>
        </p:spPr>
        <p:txBody>
          <a:bodyPr wrap="square" rtlCol="0" anchor="ctr"/>
          <a:lstStyle/>
          <a:p>
            <a:pPr algn="ctr" indent="0" marL="0">
              <a:lnSpc>
                <a:spcPct val="100000"/>
              </a:lnSpc>
              <a:buNone/>
            </a:pPr>
            <a:r>
              <a:rPr lang="en-US" sz="1350" b="1" dirty="0">
                <a:solidFill>
                  <a:srgbClr val="FFFFFF"/>
                </a:solidFill>
                <a:latin typeface="Cambria" pitchFamily="34" charset="0"/>
                <a:ea typeface="Cambria" pitchFamily="34" charset="-122"/>
                <a:cs typeface="Cambria" pitchFamily="34" charset="-120"/>
              </a:rPr>
              <a:t>Low Latency</a:t>
            </a:r>
            <a:endParaRPr lang="en-US" sz="1350" dirty="0"/>
          </a:p>
        </p:txBody>
      </p:sp>
      <p:sp>
        <p:nvSpPr>
          <p:cNvPr id="14" name="Text 10"/>
          <p:cNvSpPr/>
          <p:nvPr/>
        </p:nvSpPr>
        <p:spPr>
          <a:xfrm>
            <a:off x="2935224" y="4251960"/>
            <a:ext cx="1755648" cy="1143000"/>
          </a:xfrm>
          <a:prstGeom prst="rect">
            <a:avLst/>
          </a:prstGeom>
          <a:noFill/>
          <a:ln/>
        </p:spPr>
        <p:txBody>
          <a:bodyPr wrap="square" rtlCol="0" anchor="ctr"/>
          <a:lstStyle/>
          <a:p>
            <a:pPr algn="ctr" indent="0" marL="0">
              <a:lnSpc>
                <a:spcPct val="120000"/>
              </a:lnSpc>
              <a:buNone/>
            </a:pPr>
            <a:r>
              <a:rPr lang="en-US" sz="1000" dirty="0">
                <a:solidFill>
                  <a:srgbClr val="CFE3F7"/>
                </a:solidFill>
                <a:latin typeface="Calibri" pitchFamily="34" charset="0"/>
                <a:ea typeface="Calibri" pitchFamily="34" charset="-122"/>
                <a:cs typeface="Calibri" pitchFamily="34" charset="-120"/>
              </a:rPr>
              <a:t>Fast response times for user-facing operations.</a:t>
            </a:r>
            <a:endParaRPr lang="en-US" sz="1000" dirty="0"/>
          </a:p>
        </p:txBody>
      </p:sp>
      <p:sp>
        <p:nvSpPr>
          <p:cNvPr id="15" name="Shape 11"/>
          <p:cNvSpPr/>
          <p:nvPr/>
        </p:nvSpPr>
        <p:spPr>
          <a:xfrm>
            <a:off x="4992624" y="2148840"/>
            <a:ext cx="2084832" cy="3383280"/>
          </a:xfrm>
          <a:prstGeom prst="roundRect">
            <a:avLst>
              <a:gd name="adj" fmla="val 4386"/>
            </a:avLst>
          </a:prstGeom>
          <a:solidFill>
            <a:srgbClr val="0A2E5C"/>
          </a:solidFill>
          <a:ln w="12700">
            <a:solidFill>
              <a:srgbClr val="15477F"/>
            </a:solidFill>
            <a:prstDash val="solid"/>
          </a:ln>
        </p:spPr>
      </p:sp>
      <p:sp>
        <p:nvSpPr>
          <p:cNvPr id="16" name="Shape 12"/>
          <p:cNvSpPr/>
          <p:nvPr/>
        </p:nvSpPr>
        <p:spPr>
          <a:xfrm>
            <a:off x="5623560" y="2468880"/>
            <a:ext cx="822960" cy="822960"/>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17" name="Image 2" descr="/home/claude/azure-ppt/icons/chart_white.png">    </p:cNvPr>
          <p:cNvPicPr>
            <a:picLocks noChangeAspect="1"/>
          </p:cNvPicPr>
          <p:nvPr/>
        </p:nvPicPr>
        <p:blipFill>
          <a:blip r:embed="rId3"/>
          <a:stretch>
            <a:fillRect/>
          </a:stretch>
        </p:blipFill>
        <p:spPr>
          <a:xfrm>
            <a:off x="5738774" y="2584094"/>
            <a:ext cx="592531" cy="592531"/>
          </a:xfrm>
          <a:prstGeom prst="rect">
            <a:avLst/>
          </a:prstGeom>
        </p:spPr>
      </p:pic>
      <p:sp>
        <p:nvSpPr>
          <p:cNvPr id="18" name="Text 13"/>
          <p:cNvSpPr/>
          <p:nvPr/>
        </p:nvSpPr>
        <p:spPr>
          <a:xfrm>
            <a:off x="5129784" y="3520440"/>
            <a:ext cx="1810512" cy="685800"/>
          </a:xfrm>
          <a:prstGeom prst="rect">
            <a:avLst/>
          </a:prstGeom>
          <a:noFill/>
          <a:ln/>
        </p:spPr>
        <p:txBody>
          <a:bodyPr wrap="square" rtlCol="0" anchor="ctr"/>
          <a:lstStyle/>
          <a:p>
            <a:pPr algn="ctr" indent="0" marL="0">
              <a:lnSpc>
                <a:spcPct val="100000"/>
              </a:lnSpc>
              <a:buNone/>
            </a:pPr>
            <a:r>
              <a:rPr lang="en-US" sz="1350" b="1" dirty="0">
                <a:solidFill>
                  <a:srgbClr val="FFFFFF"/>
                </a:solidFill>
                <a:latin typeface="Cambria" pitchFamily="34" charset="0"/>
                <a:ea typeface="Cambria" pitchFamily="34" charset="-122"/>
                <a:cs typeface="Cambria" pitchFamily="34" charset="-120"/>
              </a:rPr>
              <a:t>Scalability</a:t>
            </a:r>
            <a:endParaRPr lang="en-US" sz="1350" dirty="0"/>
          </a:p>
        </p:txBody>
      </p:sp>
      <p:sp>
        <p:nvSpPr>
          <p:cNvPr id="19" name="Text 14"/>
          <p:cNvSpPr/>
          <p:nvPr/>
        </p:nvSpPr>
        <p:spPr>
          <a:xfrm>
            <a:off x="5157216" y="4251960"/>
            <a:ext cx="1755648" cy="1143000"/>
          </a:xfrm>
          <a:prstGeom prst="rect">
            <a:avLst/>
          </a:prstGeom>
          <a:noFill/>
          <a:ln/>
        </p:spPr>
        <p:txBody>
          <a:bodyPr wrap="square" rtlCol="0" anchor="ctr"/>
          <a:lstStyle/>
          <a:p>
            <a:pPr algn="ctr" indent="0" marL="0">
              <a:lnSpc>
                <a:spcPct val="120000"/>
              </a:lnSpc>
              <a:buNone/>
            </a:pPr>
            <a:r>
              <a:rPr lang="en-US" sz="1000" dirty="0">
                <a:solidFill>
                  <a:srgbClr val="CFE3F7"/>
                </a:solidFill>
                <a:latin typeface="Calibri" pitchFamily="34" charset="0"/>
                <a:ea typeface="Calibri" pitchFamily="34" charset="-122"/>
                <a:cs typeface="Calibri" pitchFamily="34" charset="-120"/>
              </a:rPr>
              <a:t>Performance tier can grow with workload demand.</a:t>
            </a:r>
            <a:endParaRPr lang="en-US" sz="1000" dirty="0"/>
          </a:p>
        </p:txBody>
      </p:sp>
      <p:sp>
        <p:nvSpPr>
          <p:cNvPr id="20" name="Shape 15"/>
          <p:cNvSpPr/>
          <p:nvPr/>
        </p:nvSpPr>
        <p:spPr>
          <a:xfrm>
            <a:off x="7214616" y="2148840"/>
            <a:ext cx="2084832" cy="3383280"/>
          </a:xfrm>
          <a:prstGeom prst="roundRect">
            <a:avLst>
              <a:gd name="adj" fmla="val 4386"/>
            </a:avLst>
          </a:prstGeom>
          <a:solidFill>
            <a:srgbClr val="0A2E5C"/>
          </a:solidFill>
          <a:ln w="12700">
            <a:solidFill>
              <a:srgbClr val="15477F"/>
            </a:solidFill>
            <a:prstDash val="solid"/>
          </a:ln>
        </p:spPr>
      </p:sp>
      <p:sp>
        <p:nvSpPr>
          <p:cNvPr id="21" name="Shape 16"/>
          <p:cNvSpPr/>
          <p:nvPr/>
        </p:nvSpPr>
        <p:spPr>
          <a:xfrm>
            <a:off x="7845552" y="2468880"/>
            <a:ext cx="822960" cy="822960"/>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22" name="Image 3" descr="/home/claude/azure-ppt/icons/cogs_white.png">    </p:cNvPr>
          <p:cNvPicPr>
            <a:picLocks noChangeAspect="1"/>
          </p:cNvPicPr>
          <p:nvPr/>
        </p:nvPicPr>
        <p:blipFill>
          <a:blip r:embed="rId4"/>
          <a:stretch>
            <a:fillRect/>
          </a:stretch>
        </p:blipFill>
        <p:spPr>
          <a:xfrm>
            <a:off x="7960766" y="2584094"/>
            <a:ext cx="592531" cy="592531"/>
          </a:xfrm>
          <a:prstGeom prst="rect">
            <a:avLst/>
          </a:prstGeom>
        </p:spPr>
      </p:pic>
      <p:sp>
        <p:nvSpPr>
          <p:cNvPr id="23" name="Text 17"/>
          <p:cNvSpPr/>
          <p:nvPr/>
        </p:nvSpPr>
        <p:spPr>
          <a:xfrm>
            <a:off x="7351776" y="3520440"/>
            <a:ext cx="1810512" cy="685800"/>
          </a:xfrm>
          <a:prstGeom prst="rect">
            <a:avLst/>
          </a:prstGeom>
          <a:noFill/>
          <a:ln/>
        </p:spPr>
        <p:txBody>
          <a:bodyPr wrap="square" rtlCol="0" anchor="ctr"/>
          <a:lstStyle/>
          <a:p>
            <a:pPr algn="ctr" indent="0" marL="0">
              <a:lnSpc>
                <a:spcPct val="100000"/>
              </a:lnSpc>
              <a:buNone/>
            </a:pPr>
            <a:r>
              <a:rPr lang="en-US" sz="1350" b="1" dirty="0">
                <a:solidFill>
                  <a:srgbClr val="FFFFFF"/>
                </a:solidFill>
                <a:latin typeface="Cambria" pitchFamily="34" charset="0"/>
                <a:ea typeface="Cambria" pitchFamily="34" charset="-122"/>
                <a:cs typeface="Cambria" pitchFamily="34" charset="-120"/>
              </a:rPr>
              <a:t>Flexible Adjustment</a:t>
            </a:r>
            <a:endParaRPr lang="en-US" sz="1350" dirty="0"/>
          </a:p>
        </p:txBody>
      </p:sp>
      <p:sp>
        <p:nvSpPr>
          <p:cNvPr id="24" name="Text 18"/>
          <p:cNvSpPr/>
          <p:nvPr/>
        </p:nvSpPr>
        <p:spPr>
          <a:xfrm>
            <a:off x="7379208" y="4251960"/>
            <a:ext cx="1755648" cy="1143000"/>
          </a:xfrm>
          <a:prstGeom prst="rect">
            <a:avLst/>
          </a:prstGeom>
          <a:noFill/>
          <a:ln/>
        </p:spPr>
        <p:txBody>
          <a:bodyPr wrap="square" rtlCol="0" anchor="ctr"/>
          <a:lstStyle/>
          <a:p>
            <a:pPr algn="ctr" indent="0" marL="0">
              <a:lnSpc>
                <a:spcPct val="120000"/>
              </a:lnSpc>
              <a:buNone/>
            </a:pPr>
            <a:r>
              <a:rPr lang="en-US" sz="1000" dirty="0">
                <a:solidFill>
                  <a:srgbClr val="CFE3F7"/>
                </a:solidFill>
                <a:latin typeface="Calibri" pitchFamily="34" charset="0"/>
                <a:ea typeface="Calibri" pitchFamily="34" charset="-122"/>
                <a:cs typeface="Calibri" pitchFamily="34" charset="-120"/>
              </a:rPr>
              <a:t>Tier changes without re-architecting storage.</a:t>
            </a:r>
            <a:endParaRPr lang="en-US" sz="1000" dirty="0"/>
          </a:p>
        </p:txBody>
      </p:sp>
      <p:sp>
        <p:nvSpPr>
          <p:cNvPr id="25" name="Shape 19"/>
          <p:cNvSpPr/>
          <p:nvPr/>
        </p:nvSpPr>
        <p:spPr>
          <a:xfrm>
            <a:off x="9436608" y="2148840"/>
            <a:ext cx="2084832" cy="3383280"/>
          </a:xfrm>
          <a:prstGeom prst="roundRect">
            <a:avLst>
              <a:gd name="adj" fmla="val 4386"/>
            </a:avLst>
          </a:prstGeom>
          <a:solidFill>
            <a:srgbClr val="0A2E5C"/>
          </a:solidFill>
          <a:ln w="12700">
            <a:solidFill>
              <a:srgbClr val="15477F"/>
            </a:solidFill>
            <a:prstDash val="solid"/>
          </a:ln>
        </p:spPr>
      </p:sp>
      <p:sp>
        <p:nvSpPr>
          <p:cNvPr id="26" name="Shape 20"/>
          <p:cNvSpPr/>
          <p:nvPr/>
        </p:nvSpPr>
        <p:spPr>
          <a:xfrm>
            <a:off x="10067544" y="2468880"/>
            <a:ext cx="822960" cy="822960"/>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27" name="Image 4" descr="/home/claude/azure-ppt/icons/shield_white.png">    </p:cNvPr>
          <p:cNvPicPr>
            <a:picLocks noChangeAspect="1"/>
          </p:cNvPicPr>
          <p:nvPr/>
        </p:nvPicPr>
        <p:blipFill>
          <a:blip r:embed="rId5"/>
          <a:stretch>
            <a:fillRect/>
          </a:stretch>
        </p:blipFill>
        <p:spPr>
          <a:xfrm>
            <a:off x="10182758" y="2584094"/>
            <a:ext cx="592531" cy="592531"/>
          </a:xfrm>
          <a:prstGeom prst="rect">
            <a:avLst/>
          </a:prstGeom>
        </p:spPr>
      </p:pic>
      <p:sp>
        <p:nvSpPr>
          <p:cNvPr id="28" name="Text 21"/>
          <p:cNvSpPr/>
          <p:nvPr/>
        </p:nvSpPr>
        <p:spPr>
          <a:xfrm>
            <a:off x="9573768" y="3520440"/>
            <a:ext cx="1810512" cy="685800"/>
          </a:xfrm>
          <a:prstGeom prst="rect">
            <a:avLst/>
          </a:prstGeom>
          <a:noFill/>
          <a:ln/>
        </p:spPr>
        <p:txBody>
          <a:bodyPr wrap="square" rtlCol="0" anchor="ctr"/>
          <a:lstStyle/>
          <a:p>
            <a:pPr algn="ctr" indent="0" marL="0">
              <a:lnSpc>
                <a:spcPct val="100000"/>
              </a:lnSpc>
              <a:buNone/>
            </a:pPr>
            <a:r>
              <a:rPr lang="en-US" sz="1350" b="1" dirty="0">
                <a:solidFill>
                  <a:srgbClr val="FFFFFF"/>
                </a:solidFill>
                <a:latin typeface="Cambria" pitchFamily="34" charset="0"/>
                <a:ea typeface="Cambria" pitchFamily="34" charset="-122"/>
                <a:cs typeface="Cambria" pitchFamily="34" charset="-120"/>
              </a:rPr>
              <a:t>Enterprise-Suitable</a:t>
            </a:r>
            <a:endParaRPr lang="en-US" sz="1350" dirty="0"/>
          </a:p>
        </p:txBody>
      </p:sp>
      <p:sp>
        <p:nvSpPr>
          <p:cNvPr id="29" name="Text 22"/>
          <p:cNvSpPr/>
          <p:nvPr/>
        </p:nvSpPr>
        <p:spPr>
          <a:xfrm>
            <a:off x="9601200" y="4251960"/>
            <a:ext cx="1755648" cy="1143000"/>
          </a:xfrm>
          <a:prstGeom prst="rect">
            <a:avLst/>
          </a:prstGeom>
          <a:noFill/>
          <a:ln/>
        </p:spPr>
        <p:txBody>
          <a:bodyPr wrap="square" rtlCol="0" anchor="ctr"/>
          <a:lstStyle/>
          <a:p>
            <a:pPr algn="ctr" indent="0" marL="0">
              <a:lnSpc>
                <a:spcPct val="120000"/>
              </a:lnSpc>
              <a:buNone/>
            </a:pPr>
            <a:r>
              <a:rPr lang="en-US" sz="1000" dirty="0">
                <a:solidFill>
                  <a:srgbClr val="CFE3F7"/>
                </a:solidFill>
                <a:latin typeface="Calibri" pitchFamily="34" charset="0"/>
                <a:ea typeface="Calibri" pitchFamily="34" charset="-122"/>
                <a:cs typeface="Calibri" pitchFamily="34" charset="-120"/>
              </a:rPr>
              <a:t>Reliable, durable for production applications.</a:t>
            </a:r>
            <a:endParaRPr lang="en-US" sz="1000" dirty="0"/>
          </a:p>
        </p:txBody>
      </p:sp>
      <p:sp>
        <p:nvSpPr>
          <p:cNvPr id="30" name="Text 23"/>
          <p:cNvSpPr/>
          <p:nvPr/>
        </p:nvSpPr>
        <p:spPr>
          <a:xfrm>
            <a:off x="457200" y="6547104"/>
            <a:ext cx="7315200" cy="256032"/>
          </a:xfrm>
          <a:prstGeom prst="rect">
            <a:avLst/>
          </a:prstGeom>
          <a:noFill/>
          <a:ln/>
        </p:spPr>
        <p:txBody>
          <a:bodyPr wrap="square" rtlCol="0" anchor="ctr"/>
          <a:lstStyle/>
          <a:p>
            <a:pPr algn="l" indent="0" marL="0">
              <a:buNone/>
            </a:pPr>
            <a:r>
              <a:rPr lang="en-US" sz="850" spc="100" kern="0" dirty="0">
                <a:solidFill>
                  <a:srgbClr val="5B6B7C"/>
                </a:solidFill>
                <a:latin typeface="Calibri" pitchFamily="34" charset="0"/>
                <a:ea typeface="Calibri" pitchFamily="34" charset="-122"/>
                <a:cs typeface="Calibri" pitchFamily="34" charset="-120"/>
              </a:rPr>
              <a:t>AZURE STORAGE PERFORMANCE TIER SELECTION</a:t>
            </a:r>
            <a:endParaRPr lang="en-US" sz="850" dirty="0"/>
          </a:p>
        </p:txBody>
      </p:sp>
      <p:sp>
        <p:nvSpPr>
          <p:cNvPr id="31" name="Shape 24"/>
          <p:cNvSpPr/>
          <p:nvPr/>
        </p:nvSpPr>
        <p:spPr>
          <a:xfrm>
            <a:off x="11414455" y="6492240"/>
            <a:ext cx="329184" cy="329184"/>
          </a:xfrm>
          <a:prstGeom prst="ellipse">
            <a:avLst/>
          </a:prstGeom>
          <a:solidFill>
            <a:srgbClr val="0078D4"/>
          </a:solidFill>
          <a:ln/>
        </p:spPr>
      </p:sp>
      <p:sp>
        <p:nvSpPr>
          <p:cNvPr id="32" name="Text 25"/>
          <p:cNvSpPr/>
          <p:nvPr/>
        </p:nvSpPr>
        <p:spPr>
          <a:xfrm>
            <a:off x="11414455" y="6492240"/>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13</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9FD"/>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algn="l" indent="0" marL="0">
              <a:buNone/>
            </a:pPr>
            <a:r>
              <a:rPr lang="en-US" sz="1250" b="1" spc="220" kern="0" dirty="0">
                <a:solidFill>
                  <a:srgbClr val="0078D4"/>
                </a:solidFill>
                <a:latin typeface="Calibri" pitchFamily="34" charset="0"/>
                <a:ea typeface="Calibri" pitchFamily="34" charset="-122"/>
                <a:cs typeface="Calibri" pitchFamily="34" charset="-120"/>
              </a:rPr>
              <a:t>LOOKING AHEAD</a:t>
            </a:r>
            <a:endParaRPr lang="en-US" sz="1250" dirty="0"/>
          </a:p>
        </p:txBody>
      </p:sp>
      <p:sp>
        <p:nvSpPr>
          <p:cNvPr id="3" name="Text 1"/>
          <p:cNvSpPr/>
          <p:nvPr/>
        </p:nvSpPr>
        <p:spPr>
          <a:xfrm>
            <a:off x="548640" y="658368"/>
            <a:ext cx="10789920" cy="640080"/>
          </a:xfrm>
          <a:prstGeom prst="rect">
            <a:avLst/>
          </a:prstGeom>
          <a:noFill/>
          <a:ln/>
        </p:spPr>
        <p:txBody>
          <a:bodyPr wrap="square" rtlCol="0" anchor="ctr"/>
          <a:lstStyle/>
          <a:p>
            <a:pPr algn="l" indent="0" marL="0">
              <a:buNone/>
            </a:pPr>
            <a:r>
              <a:rPr lang="en-US" sz="3000" b="1" dirty="0">
                <a:solidFill>
                  <a:srgbClr val="002050"/>
                </a:solidFill>
                <a:latin typeface="Cambria" pitchFamily="34" charset="0"/>
                <a:ea typeface="Cambria" pitchFamily="34" charset="-122"/>
                <a:cs typeface="Cambria" pitchFamily="34" charset="-120"/>
              </a:rPr>
              <a:t>Future Enhancements</a:t>
            </a:r>
            <a:endParaRPr lang="en-US" sz="3000" dirty="0"/>
          </a:p>
        </p:txBody>
      </p:sp>
      <p:sp>
        <p:nvSpPr>
          <p:cNvPr id="4" name="Shape 2"/>
          <p:cNvSpPr/>
          <p:nvPr/>
        </p:nvSpPr>
        <p:spPr>
          <a:xfrm>
            <a:off x="548640" y="1691640"/>
            <a:ext cx="11064240" cy="1024128"/>
          </a:xfrm>
          <a:prstGeom prst="roundRect">
            <a:avLst>
              <a:gd name="adj" fmla="val 7143"/>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5" name="Shape 3"/>
          <p:cNvSpPr/>
          <p:nvPr/>
        </p:nvSpPr>
        <p:spPr>
          <a:xfrm>
            <a:off x="777240" y="1847088"/>
            <a:ext cx="713232" cy="713232"/>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6" name="Image 0" descr="/home/claude/azure-ppt/icons/monitor_white.png">    </p:cNvPr>
          <p:cNvPicPr>
            <a:picLocks noChangeAspect="1"/>
          </p:cNvPicPr>
          <p:nvPr/>
        </p:nvPicPr>
        <p:blipFill>
          <a:blip r:embed="rId1"/>
          <a:stretch>
            <a:fillRect/>
          </a:stretch>
        </p:blipFill>
        <p:spPr>
          <a:xfrm>
            <a:off x="877092" y="1946940"/>
            <a:ext cx="513527" cy="513527"/>
          </a:xfrm>
          <a:prstGeom prst="rect">
            <a:avLst/>
          </a:prstGeom>
        </p:spPr>
      </p:pic>
      <p:sp>
        <p:nvSpPr>
          <p:cNvPr id="7" name="Text 4"/>
          <p:cNvSpPr/>
          <p:nvPr/>
        </p:nvSpPr>
        <p:spPr>
          <a:xfrm>
            <a:off x="1691640" y="1801368"/>
            <a:ext cx="4114800" cy="457200"/>
          </a:xfrm>
          <a:prstGeom prst="rect">
            <a:avLst/>
          </a:prstGeom>
          <a:noFill/>
          <a:ln/>
        </p:spPr>
        <p:txBody>
          <a:bodyPr wrap="square" rtlCol="0" anchor="ctr"/>
          <a:lstStyle/>
          <a:p>
            <a:pPr indent="0" marL="0">
              <a:buNone/>
            </a:pPr>
            <a:r>
              <a:rPr lang="en-US" sz="1450" b="1" dirty="0">
                <a:solidFill>
                  <a:srgbClr val="002050"/>
                </a:solidFill>
                <a:latin typeface="Cambria" pitchFamily="34" charset="0"/>
                <a:ea typeface="Cambria" pitchFamily="34" charset="-122"/>
                <a:cs typeface="Cambria" pitchFamily="34" charset="-120"/>
              </a:rPr>
              <a:t>Connect with Azure Monitor</a:t>
            </a:r>
            <a:endParaRPr lang="en-US" sz="1450" dirty="0"/>
          </a:p>
        </p:txBody>
      </p:sp>
      <p:sp>
        <p:nvSpPr>
          <p:cNvPr id="8" name="Text 5"/>
          <p:cNvSpPr/>
          <p:nvPr/>
        </p:nvSpPr>
        <p:spPr>
          <a:xfrm>
            <a:off x="5943600" y="1801368"/>
            <a:ext cx="5394960" cy="804672"/>
          </a:xfrm>
          <a:prstGeom prst="rect">
            <a:avLst/>
          </a:prstGeom>
          <a:noFill/>
          <a:ln/>
        </p:spPr>
        <p:txBody>
          <a:bodyPr wrap="square" rtlCol="0" anchor="ctr"/>
          <a:lstStyle/>
          <a:p>
            <a:pPr indent="0" marL="0">
              <a:lnSpc>
                <a:spcPct val="120000"/>
              </a:lnSpc>
              <a:buNone/>
            </a:pPr>
            <a:r>
              <a:rPr lang="en-US" sz="1150" dirty="0">
                <a:solidFill>
                  <a:srgbClr val="5B6B7C"/>
                </a:solidFill>
                <a:latin typeface="Calibri" pitchFamily="34" charset="0"/>
                <a:ea typeface="Calibri" pitchFamily="34" charset="-122"/>
                <a:cs typeface="Calibri" pitchFamily="34" charset="-120"/>
              </a:rPr>
              <a:t>Enable real-time visibility into IOPS, throughput, and latency metrics.</a:t>
            </a:r>
            <a:endParaRPr lang="en-US" sz="1150" dirty="0"/>
          </a:p>
        </p:txBody>
      </p:sp>
      <p:sp>
        <p:nvSpPr>
          <p:cNvPr id="9" name="Shape 6"/>
          <p:cNvSpPr/>
          <p:nvPr/>
        </p:nvSpPr>
        <p:spPr>
          <a:xfrm>
            <a:off x="5806440" y="1828800"/>
            <a:ext cx="0" cy="749808"/>
          </a:xfrm>
          <a:prstGeom prst="line">
            <a:avLst/>
          </a:prstGeom>
          <a:noFill/>
          <a:ln w="12700">
            <a:solidFill>
              <a:srgbClr val="D7E6F5"/>
            </a:solidFill>
            <a:prstDash val="solid"/>
          </a:ln>
        </p:spPr>
      </p:sp>
      <p:sp>
        <p:nvSpPr>
          <p:cNvPr id="10" name="Shape 7"/>
          <p:cNvSpPr/>
          <p:nvPr/>
        </p:nvSpPr>
        <p:spPr>
          <a:xfrm>
            <a:off x="548640" y="2862072"/>
            <a:ext cx="11064240" cy="1024128"/>
          </a:xfrm>
          <a:prstGeom prst="roundRect">
            <a:avLst>
              <a:gd name="adj" fmla="val 7143"/>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11" name="Shape 8"/>
          <p:cNvSpPr/>
          <p:nvPr/>
        </p:nvSpPr>
        <p:spPr>
          <a:xfrm>
            <a:off x="777240" y="3017520"/>
            <a:ext cx="713232" cy="713232"/>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12" name="Image 1" descr="/home/claude/azure-ppt/icons/cogs_white.png">    </p:cNvPr>
          <p:cNvPicPr>
            <a:picLocks noChangeAspect="1"/>
          </p:cNvPicPr>
          <p:nvPr/>
        </p:nvPicPr>
        <p:blipFill>
          <a:blip r:embed="rId2"/>
          <a:stretch>
            <a:fillRect/>
          </a:stretch>
        </p:blipFill>
        <p:spPr>
          <a:xfrm>
            <a:off x="877092" y="3117372"/>
            <a:ext cx="513527" cy="513527"/>
          </a:xfrm>
          <a:prstGeom prst="rect">
            <a:avLst/>
          </a:prstGeom>
        </p:spPr>
      </p:pic>
      <p:sp>
        <p:nvSpPr>
          <p:cNvPr id="13" name="Text 9"/>
          <p:cNvSpPr/>
          <p:nvPr/>
        </p:nvSpPr>
        <p:spPr>
          <a:xfrm>
            <a:off x="1691640" y="2971800"/>
            <a:ext cx="4114800" cy="457200"/>
          </a:xfrm>
          <a:prstGeom prst="rect">
            <a:avLst/>
          </a:prstGeom>
          <a:noFill/>
          <a:ln/>
        </p:spPr>
        <p:txBody>
          <a:bodyPr wrap="square" rtlCol="0" anchor="ctr"/>
          <a:lstStyle/>
          <a:p>
            <a:pPr indent="0" marL="0">
              <a:buNone/>
            </a:pPr>
            <a:r>
              <a:rPr lang="en-US" sz="1450" b="1" dirty="0">
                <a:solidFill>
                  <a:srgbClr val="002050"/>
                </a:solidFill>
                <a:latin typeface="Cambria" pitchFamily="34" charset="0"/>
                <a:ea typeface="Cambria" pitchFamily="34" charset="-122"/>
                <a:cs typeface="Cambria" pitchFamily="34" charset="-120"/>
              </a:rPr>
              <a:t>Implement Automatic Scaling</a:t>
            </a:r>
            <a:endParaRPr lang="en-US" sz="1450" dirty="0"/>
          </a:p>
        </p:txBody>
      </p:sp>
      <p:sp>
        <p:nvSpPr>
          <p:cNvPr id="14" name="Text 10"/>
          <p:cNvSpPr/>
          <p:nvPr/>
        </p:nvSpPr>
        <p:spPr>
          <a:xfrm>
            <a:off x="5943600" y="2971800"/>
            <a:ext cx="5394960" cy="804672"/>
          </a:xfrm>
          <a:prstGeom prst="rect">
            <a:avLst/>
          </a:prstGeom>
          <a:noFill/>
          <a:ln/>
        </p:spPr>
        <p:txBody>
          <a:bodyPr wrap="square" rtlCol="0" anchor="ctr"/>
          <a:lstStyle/>
          <a:p>
            <a:pPr indent="0" marL="0">
              <a:lnSpc>
                <a:spcPct val="120000"/>
              </a:lnSpc>
              <a:buNone/>
            </a:pPr>
            <a:r>
              <a:rPr lang="en-US" sz="1150" dirty="0">
                <a:solidFill>
                  <a:srgbClr val="5B6B7C"/>
                </a:solidFill>
                <a:latin typeface="Calibri" pitchFamily="34" charset="0"/>
                <a:ea typeface="Calibri" pitchFamily="34" charset="-122"/>
                <a:cs typeface="Calibri" pitchFamily="34" charset="-120"/>
              </a:rPr>
              <a:t>Dynamically adjust performance tier based on live workload demand.</a:t>
            </a:r>
            <a:endParaRPr lang="en-US" sz="1150" dirty="0"/>
          </a:p>
        </p:txBody>
      </p:sp>
      <p:sp>
        <p:nvSpPr>
          <p:cNvPr id="15" name="Shape 11"/>
          <p:cNvSpPr/>
          <p:nvPr/>
        </p:nvSpPr>
        <p:spPr>
          <a:xfrm>
            <a:off x="5806440" y="2999232"/>
            <a:ext cx="0" cy="749808"/>
          </a:xfrm>
          <a:prstGeom prst="line">
            <a:avLst/>
          </a:prstGeom>
          <a:noFill/>
          <a:ln w="12700">
            <a:solidFill>
              <a:srgbClr val="D7E6F5"/>
            </a:solidFill>
            <a:prstDash val="solid"/>
          </a:ln>
        </p:spPr>
      </p:sp>
      <p:sp>
        <p:nvSpPr>
          <p:cNvPr id="16" name="Shape 12"/>
          <p:cNvSpPr/>
          <p:nvPr/>
        </p:nvSpPr>
        <p:spPr>
          <a:xfrm>
            <a:off x="548640" y="4032504"/>
            <a:ext cx="11064240" cy="1024128"/>
          </a:xfrm>
          <a:prstGeom prst="roundRect">
            <a:avLst>
              <a:gd name="adj" fmla="val 7143"/>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17" name="Shape 13"/>
          <p:cNvSpPr/>
          <p:nvPr/>
        </p:nvSpPr>
        <p:spPr>
          <a:xfrm>
            <a:off x="777240" y="4187952"/>
            <a:ext cx="713232" cy="713232"/>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18" name="Image 2" descr="/home/claude/azure-ppt/icons/flask_white.png">    </p:cNvPr>
          <p:cNvPicPr>
            <a:picLocks noChangeAspect="1"/>
          </p:cNvPicPr>
          <p:nvPr/>
        </p:nvPicPr>
        <p:blipFill>
          <a:blip r:embed="rId3"/>
          <a:stretch>
            <a:fillRect/>
          </a:stretch>
        </p:blipFill>
        <p:spPr>
          <a:xfrm>
            <a:off x="877092" y="4287804"/>
            <a:ext cx="513527" cy="513527"/>
          </a:xfrm>
          <a:prstGeom prst="rect">
            <a:avLst/>
          </a:prstGeom>
        </p:spPr>
      </p:pic>
      <p:sp>
        <p:nvSpPr>
          <p:cNvPr id="19" name="Text 14"/>
          <p:cNvSpPr/>
          <p:nvPr/>
        </p:nvSpPr>
        <p:spPr>
          <a:xfrm>
            <a:off x="1691640" y="4142232"/>
            <a:ext cx="4114800" cy="457200"/>
          </a:xfrm>
          <a:prstGeom prst="rect">
            <a:avLst/>
          </a:prstGeom>
          <a:noFill/>
          <a:ln/>
        </p:spPr>
        <p:txBody>
          <a:bodyPr wrap="square" rtlCol="0" anchor="ctr"/>
          <a:lstStyle/>
          <a:p>
            <a:pPr indent="0" marL="0">
              <a:buNone/>
            </a:pPr>
            <a:r>
              <a:rPr lang="en-US" sz="1450" b="1" dirty="0">
                <a:solidFill>
                  <a:srgbClr val="002050"/>
                </a:solidFill>
                <a:latin typeface="Cambria" pitchFamily="34" charset="0"/>
                <a:ea typeface="Cambria" pitchFamily="34" charset="-122"/>
                <a:cs typeface="Cambria" pitchFamily="34" charset="-120"/>
              </a:rPr>
              <a:t>Real Application Workload Testing</a:t>
            </a:r>
            <a:endParaRPr lang="en-US" sz="1450" dirty="0"/>
          </a:p>
        </p:txBody>
      </p:sp>
      <p:sp>
        <p:nvSpPr>
          <p:cNvPr id="20" name="Text 15"/>
          <p:cNvSpPr/>
          <p:nvPr/>
        </p:nvSpPr>
        <p:spPr>
          <a:xfrm>
            <a:off x="5943600" y="4142232"/>
            <a:ext cx="5394960" cy="804672"/>
          </a:xfrm>
          <a:prstGeom prst="rect">
            <a:avLst/>
          </a:prstGeom>
          <a:noFill/>
          <a:ln/>
        </p:spPr>
        <p:txBody>
          <a:bodyPr wrap="square" rtlCol="0" anchor="ctr"/>
          <a:lstStyle/>
          <a:p>
            <a:pPr indent="0" marL="0">
              <a:lnSpc>
                <a:spcPct val="120000"/>
              </a:lnSpc>
              <a:buNone/>
            </a:pPr>
            <a:r>
              <a:rPr lang="en-US" sz="1150" dirty="0">
                <a:solidFill>
                  <a:srgbClr val="5B6B7C"/>
                </a:solidFill>
                <a:latin typeface="Calibri" pitchFamily="34" charset="0"/>
                <a:ea typeface="Calibri" pitchFamily="34" charset="-122"/>
                <a:cs typeface="Calibri" pitchFamily="34" charset="-120"/>
              </a:rPr>
              <a:t>Validate tier choice against actual production-like traffic patterns.</a:t>
            </a:r>
            <a:endParaRPr lang="en-US" sz="1150" dirty="0"/>
          </a:p>
        </p:txBody>
      </p:sp>
      <p:sp>
        <p:nvSpPr>
          <p:cNvPr id="21" name="Shape 16"/>
          <p:cNvSpPr/>
          <p:nvPr/>
        </p:nvSpPr>
        <p:spPr>
          <a:xfrm>
            <a:off x="5806440" y="4169664"/>
            <a:ext cx="0" cy="749808"/>
          </a:xfrm>
          <a:prstGeom prst="line">
            <a:avLst/>
          </a:prstGeom>
          <a:noFill/>
          <a:ln w="12700">
            <a:solidFill>
              <a:srgbClr val="D7E6F5"/>
            </a:solidFill>
            <a:prstDash val="solid"/>
          </a:ln>
        </p:spPr>
      </p:sp>
      <p:sp>
        <p:nvSpPr>
          <p:cNvPr id="22" name="Shape 17"/>
          <p:cNvSpPr/>
          <p:nvPr/>
        </p:nvSpPr>
        <p:spPr>
          <a:xfrm>
            <a:off x="548640" y="5202936"/>
            <a:ext cx="11064240" cy="1024128"/>
          </a:xfrm>
          <a:prstGeom prst="roundRect">
            <a:avLst>
              <a:gd name="adj" fmla="val 7143"/>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23" name="Shape 18"/>
          <p:cNvSpPr/>
          <p:nvPr/>
        </p:nvSpPr>
        <p:spPr>
          <a:xfrm>
            <a:off x="777240" y="5358384"/>
            <a:ext cx="713232" cy="713232"/>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24" name="Image 3" descr="/home/claude/azure-ppt/icons/database_white.png">    </p:cNvPr>
          <p:cNvPicPr>
            <a:picLocks noChangeAspect="1"/>
          </p:cNvPicPr>
          <p:nvPr/>
        </p:nvPicPr>
        <p:blipFill>
          <a:blip r:embed="rId4"/>
          <a:stretch>
            <a:fillRect/>
          </a:stretch>
        </p:blipFill>
        <p:spPr>
          <a:xfrm>
            <a:off x="877092" y="5458236"/>
            <a:ext cx="513527" cy="513527"/>
          </a:xfrm>
          <a:prstGeom prst="rect">
            <a:avLst/>
          </a:prstGeom>
        </p:spPr>
      </p:pic>
      <p:sp>
        <p:nvSpPr>
          <p:cNvPr id="25" name="Text 19"/>
          <p:cNvSpPr/>
          <p:nvPr/>
        </p:nvSpPr>
        <p:spPr>
          <a:xfrm>
            <a:off x="1691640" y="5312664"/>
            <a:ext cx="4114800" cy="457200"/>
          </a:xfrm>
          <a:prstGeom prst="rect">
            <a:avLst/>
          </a:prstGeom>
          <a:noFill/>
          <a:ln/>
        </p:spPr>
        <p:txBody>
          <a:bodyPr wrap="square" rtlCol="0" anchor="ctr"/>
          <a:lstStyle/>
          <a:p>
            <a:pPr indent="0" marL="0">
              <a:buNone/>
            </a:pPr>
            <a:r>
              <a:rPr lang="en-US" sz="1450" b="1" dirty="0">
                <a:solidFill>
                  <a:srgbClr val="002050"/>
                </a:solidFill>
                <a:latin typeface="Cambria" pitchFamily="34" charset="0"/>
                <a:ea typeface="Cambria" pitchFamily="34" charset="-122"/>
                <a:cs typeface="Cambria" pitchFamily="34" charset="-120"/>
              </a:rPr>
              <a:t>Database Performance Monitoring</a:t>
            </a:r>
            <a:endParaRPr lang="en-US" sz="1450" dirty="0"/>
          </a:p>
        </p:txBody>
      </p:sp>
      <p:sp>
        <p:nvSpPr>
          <p:cNvPr id="26" name="Text 20"/>
          <p:cNvSpPr/>
          <p:nvPr/>
        </p:nvSpPr>
        <p:spPr>
          <a:xfrm>
            <a:off x="5943600" y="5312664"/>
            <a:ext cx="5394960" cy="804672"/>
          </a:xfrm>
          <a:prstGeom prst="rect">
            <a:avLst/>
          </a:prstGeom>
          <a:noFill/>
          <a:ln/>
        </p:spPr>
        <p:txBody>
          <a:bodyPr wrap="square" rtlCol="0" anchor="ctr"/>
          <a:lstStyle/>
          <a:p>
            <a:pPr indent="0" marL="0">
              <a:lnSpc>
                <a:spcPct val="120000"/>
              </a:lnSpc>
              <a:buNone/>
            </a:pPr>
            <a:r>
              <a:rPr lang="en-US" sz="1150" dirty="0">
                <a:solidFill>
                  <a:srgbClr val="5B6B7C"/>
                </a:solidFill>
                <a:latin typeface="Calibri" pitchFamily="34" charset="0"/>
                <a:ea typeface="Calibri" pitchFamily="34" charset="-122"/>
                <a:cs typeface="Calibri" pitchFamily="34" charset="-120"/>
              </a:rPr>
              <a:t>Integrate query-level insights to fine-tune storage configuration further.</a:t>
            </a:r>
            <a:endParaRPr lang="en-US" sz="1150" dirty="0"/>
          </a:p>
        </p:txBody>
      </p:sp>
      <p:sp>
        <p:nvSpPr>
          <p:cNvPr id="27" name="Shape 21"/>
          <p:cNvSpPr/>
          <p:nvPr/>
        </p:nvSpPr>
        <p:spPr>
          <a:xfrm>
            <a:off x="5806440" y="5340096"/>
            <a:ext cx="0" cy="749808"/>
          </a:xfrm>
          <a:prstGeom prst="line">
            <a:avLst/>
          </a:prstGeom>
          <a:noFill/>
          <a:ln w="12700">
            <a:solidFill>
              <a:srgbClr val="D7E6F5"/>
            </a:solidFill>
            <a:prstDash val="solid"/>
          </a:ln>
        </p:spPr>
      </p:sp>
      <p:sp>
        <p:nvSpPr>
          <p:cNvPr id="28" name="Text 22"/>
          <p:cNvSpPr/>
          <p:nvPr/>
        </p:nvSpPr>
        <p:spPr>
          <a:xfrm>
            <a:off x="457200" y="6547104"/>
            <a:ext cx="7315200" cy="256032"/>
          </a:xfrm>
          <a:prstGeom prst="rect">
            <a:avLst/>
          </a:prstGeom>
          <a:noFill/>
          <a:ln/>
        </p:spPr>
        <p:txBody>
          <a:bodyPr wrap="square" rtlCol="0" anchor="ctr"/>
          <a:lstStyle/>
          <a:p>
            <a:pPr algn="l" indent="0" marL="0">
              <a:buNone/>
            </a:pPr>
            <a:r>
              <a:rPr lang="en-US" sz="850" spc="100" kern="0" dirty="0">
                <a:solidFill>
                  <a:srgbClr val="5B6B7C"/>
                </a:solidFill>
                <a:latin typeface="Calibri" pitchFamily="34" charset="0"/>
                <a:ea typeface="Calibri" pitchFamily="34" charset="-122"/>
                <a:cs typeface="Calibri" pitchFamily="34" charset="-120"/>
              </a:rPr>
              <a:t>AZURE STORAGE PERFORMANCE TIER SELECTION</a:t>
            </a:r>
            <a:endParaRPr lang="en-US" sz="850" dirty="0"/>
          </a:p>
        </p:txBody>
      </p:sp>
      <p:sp>
        <p:nvSpPr>
          <p:cNvPr id="29" name="Shape 23"/>
          <p:cNvSpPr/>
          <p:nvPr/>
        </p:nvSpPr>
        <p:spPr>
          <a:xfrm>
            <a:off x="11414455" y="6492240"/>
            <a:ext cx="329184" cy="329184"/>
          </a:xfrm>
          <a:prstGeom prst="ellipse">
            <a:avLst/>
          </a:prstGeom>
          <a:solidFill>
            <a:srgbClr val="0078D4"/>
          </a:solidFill>
          <a:ln/>
        </p:spPr>
      </p:sp>
      <p:sp>
        <p:nvSpPr>
          <p:cNvPr id="30" name="Text 24"/>
          <p:cNvSpPr/>
          <p:nvPr/>
        </p:nvSpPr>
        <p:spPr>
          <a:xfrm>
            <a:off x="11414455" y="6492240"/>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14</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02050"/>
        </a:solidFill>
      </p:bgPr>
    </p:bg>
    <p:spTree>
      <p:nvGrpSpPr>
        <p:cNvPr id="1" name=""/>
        <p:cNvGrpSpPr/>
        <p:nvPr/>
      </p:nvGrpSpPr>
      <p:grpSpPr>
        <a:xfrm>
          <a:off x="0" y="0"/>
          <a:ext cx="0" cy="0"/>
          <a:chOff x="0" y="0"/>
          <a:chExt cx="0" cy="0"/>
        </a:xfrm>
      </p:grpSpPr>
      <p:sp>
        <p:nvSpPr>
          <p:cNvPr id="2" name="Shape 0"/>
          <p:cNvSpPr/>
          <p:nvPr/>
        </p:nvSpPr>
        <p:spPr>
          <a:xfrm>
            <a:off x="-1828800" y="4206240"/>
            <a:ext cx="4754880" cy="4754880"/>
          </a:xfrm>
          <a:prstGeom prst="ellipse">
            <a:avLst/>
          </a:prstGeom>
          <a:solidFill>
            <a:srgbClr val="0A2E5C"/>
          </a:solidFill>
          <a:ln/>
        </p:spPr>
      </p:sp>
      <p:sp>
        <p:nvSpPr>
          <p:cNvPr id="3" name="Shape 1"/>
          <p:cNvSpPr/>
          <p:nvPr/>
        </p:nvSpPr>
        <p:spPr>
          <a:xfrm>
            <a:off x="9875520" y="-1828800"/>
            <a:ext cx="4572000" cy="4572000"/>
          </a:xfrm>
          <a:prstGeom prst="ellipse">
            <a:avLst/>
          </a:prstGeom>
          <a:solidFill>
            <a:srgbClr val="0A2E5C"/>
          </a:solidFill>
          <a:ln/>
        </p:spPr>
      </p:sp>
      <p:sp>
        <p:nvSpPr>
          <p:cNvPr id="4" name="Text 2"/>
          <p:cNvSpPr/>
          <p:nvPr/>
        </p:nvSpPr>
        <p:spPr>
          <a:xfrm>
            <a:off x="548640" y="384048"/>
            <a:ext cx="7315200" cy="292608"/>
          </a:xfrm>
          <a:prstGeom prst="rect">
            <a:avLst/>
          </a:prstGeom>
          <a:noFill/>
          <a:ln/>
        </p:spPr>
        <p:txBody>
          <a:bodyPr wrap="square" rtlCol="0" anchor="ctr"/>
          <a:lstStyle/>
          <a:p>
            <a:pPr algn="l" indent="0" marL="0">
              <a:buNone/>
            </a:pPr>
            <a:r>
              <a:rPr lang="en-US" sz="1250" b="1" spc="220" kern="0" dirty="0">
                <a:solidFill>
                  <a:srgbClr val="50E6FF"/>
                </a:solidFill>
                <a:latin typeface="Calibri" pitchFamily="34" charset="0"/>
                <a:ea typeface="Calibri" pitchFamily="34" charset="-122"/>
                <a:cs typeface="Calibri" pitchFamily="34" charset="-120"/>
              </a:rPr>
              <a:t>CONCLUSION</a:t>
            </a:r>
            <a:endParaRPr lang="en-US" sz="1250" dirty="0"/>
          </a:p>
        </p:txBody>
      </p:sp>
      <p:sp>
        <p:nvSpPr>
          <p:cNvPr id="5" name="Text 3"/>
          <p:cNvSpPr/>
          <p:nvPr/>
        </p:nvSpPr>
        <p:spPr>
          <a:xfrm>
            <a:off x="548640" y="658368"/>
            <a:ext cx="10789920" cy="640080"/>
          </a:xfrm>
          <a:prstGeom prst="rect">
            <a:avLst/>
          </a:prstGeom>
          <a:noFill/>
          <a:ln/>
        </p:spPr>
        <p:txBody>
          <a:bodyPr wrap="square"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Conclusion</a:t>
            </a:r>
            <a:endParaRPr lang="en-US" sz="3000" dirty="0"/>
          </a:p>
        </p:txBody>
      </p:sp>
      <p:sp>
        <p:nvSpPr>
          <p:cNvPr id="6" name="Shape 4"/>
          <p:cNvSpPr/>
          <p:nvPr/>
        </p:nvSpPr>
        <p:spPr>
          <a:xfrm>
            <a:off x="822960" y="1600200"/>
            <a:ext cx="10515600" cy="1371600"/>
          </a:xfrm>
          <a:prstGeom prst="roundRect">
            <a:avLst>
              <a:gd name="adj" fmla="val 5333"/>
            </a:avLst>
          </a:prstGeom>
          <a:solidFill>
            <a:srgbClr val="0A2E5C"/>
          </a:solidFill>
          <a:ln w="12700">
            <a:solidFill>
              <a:srgbClr val="15477F"/>
            </a:solidFill>
            <a:prstDash val="solid"/>
          </a:ln>
        </p:spPr>
      </p:sp>
      <p:sp>
        <p:nvSpPr>
          <p:cNvPr id="7" name="Text 5"/>
          <p:cNvSpPr/>
          <p:nvPr/>
        </p:nvSpPr>
        <p:spPr>
          <a:xfrm>
            <a:off x="1143000" y="1600200"/>
            <a:ext cx="9875520" cy="1371600"/>
          </a:xfrm>
          <a:prstGeom prst="rect">
            <a:avLst/>
          </a:prstGeom>
          <a:noFill/>
          <a:ln/>
        </p:spPr>
        <p:txBody>
          <a:bodyPr wrap="square" rtlCol="0" anchor="ctr"/>
          <a:lstStyle/>
          <a:p>
            <a:pPr indent="0" marL="0">
              <a:lnSpc>
                <a:spcPct val="125000"/>
              </a:lnSpc>
              <a:buNone/>
            </a:pPr>
            <a:r>
              <a:rPr lang="en-US" sz="1500" dirty="0">
                <a:solidFill>
                  <a:srgbClr val="E4EFFB"/>
                </a:solidFill>
                <a:latin typeface="Calibri" pitchFamily="34" charset="0"/>
                <a:ea typeface="Calibri" pitchFamily="34" charset="-122"/>
                <a:cs typeface="Calibri" pitchFamily="34" charset="-120"/>
              </a:rPr>
              <a:t>Azure Storage performance tier selection depends fundamentally on workload characteristics — access pattern, latency sensitivity, IOPS, and throughput requirements.</a:t>
            </a:r>
            <a:endParaRPr lang="en-US" sz="1500" dirty="0"/>
          </a:p>
        </p:txBody>
      </p:sp>
      <p:sp>
        <p:nvSpPr>
          <p:cNvPr id="8" name="Shape 6"/>
          <p:cNvSpPr/>
          <p:nvPr/>
        </p:nvSpPr>
        <p:spPr>
          <a:xfrm>
            <a:off x="822960" y="3246120"/>
            <a:ext cx="10515600" cy="2286000"/>
          </a:xfrm>
          <a:prstGeom prst="roundRect">
            <a:avLst>
              <a:gd name="adj" fmla="val 3200"/>
            </a:avLst>
          </a:prstGeom>
          <a:solidFill>
            <a:srgbClr val="0078D4"/>
          </a:solidFill>
          <a:ln w="12700">
            <a:solidFill>
              <a:srgbClr val="0078D4"/>
            </a:solidFill>
            <a:prstDash val="solid"/>
          </a:ln>
        </p:spPr>
      </p:sp>
      <p:sp>
        <p:nvSpPr>
          <p:cNvPr id="9" name="Shape 7"/>
          <p:cNvSpPr/>
          <p:nvPr/>
        </p:nvSpPr>
        <p:spPr>
          <a:xfrm>
            <a:off x="1143000" y="3566160"/>
            <a:ext cx="1005840" cy="1005840"/>
          </a:xfrm>
          <a:prstGeom prst="ellipse">
            <a:avLst/>
          </a:prstGeom>
          <a:solidFill>
            <a:srgbClr val="FFFFFF"/>
          </a:solidFill>
          <a:ln/>
          <a:effectLst>
            <a:outerShdw sx="100000" sy="100000" kx="0" ky="0" algn="bl" rotWithShape="0" blurRad="76200" dist="25400" dir="5400000">
              <a:srgbClr val="1B2A3C">
                <a:alpha val="18000"/>
              </a:srgbClr>
            </a:outerShdw>
          </a:effectLst>
        </p:spPr>
      </p:sp>
      <p:pic>
        <p:nvPicPr>
          <p:cNvPr id="10" name="Image 0" descr="/home/claude/azure-ppt/icons/bolt.png">    </p:cNvPr>
          <p:cNvPicPr>
            <a:picLocks noChangeAspect="1"/>
          </p:cNvPicPr>
          <p:nvPr/>
        </p:nvPicPr>
        <p:blipFill>
          <a:blip r:embed="rId1"/>
          <a:stretch>
            <a:fillRect/>
          </a:stretch>
        </p:blipFill>
        <p:spPr>
          <a:xfrm>
            <a:off x="1283818" y="3706978"/>
            <a:ext cx="724205" cy="724205"/>
          </a:xfrm>
          <a:prstGeom prst="rect">
            <a:avLst/>
          </a:prstGeom>
        </p:spPr>
      </p:pic>
      <p:sp>
        <p:nvSpPr>
          <p:cNvPr id="11" name="Text 8"/>
          <p:cNvSpPr/>
          <p:nvPr/>
        </p:nvSpPr>
        <p:spPr>
          <a:xfrm>
            <a:off x="2468880" y="3520440"/>
            <a:ext cx="8595360" cy="365760"/>
          </a:xfrm>
          <a:prstGeom prst="rect">
            <a:avLst/>
          </a:prstGeom>
          <a:noFill/>
          <a:ln/>
        </p:spPr>
        <p:txBody>
          <a:bodyPr wrap="square" rtlCol="0" anchor="ctr"/>
          <a:lstStyle/>
          <a:p>
            <a:pPr indent="0" marL="0">
              <a:buNone/>
            </a:pPr>
            <a:r>
              <a:rPr lang="en-US" sz="1300" i="1" dirty="0">
                <a:solidFill>
                  <a:srgbClr val="50E6FF"/>
                </a:solidFill>
                <a:latin typeface="Calibri" pitchFamily="34" charset="0"/>
                <a:ea typeface="Calibri" pitchFamily="34" charset="-122"/>
                <a:cs typeface="Calibri" pitchFamily="34" charset="-120"/>
              </a:rPr>
              <a:t>For transaction-heavy applications requiring high performance:</a:t>
            </a:r>
            <a:endParaRPr lang="en-US" sz="1300" dirty="0"/>
          </a:p>
        </p:txBody>
      </p:sp>
      <p:sp>
        <p:nvSpPr>
          <p:cNvPr id="12" name="Text 9"/>
          <p:cNvSpPr/>
          <p:nvPr/>
        </p:nvSpPr>
        <p:spPr>
          <a:xfrm>
            <a:off x="2468880" y="3886200"/>
            <a:ext cx="8595360" cy="1463040"/>
          </a:xfrm>
          <a:prstGeom prst="rect">
            <a:avLst/>
          </a:prstGeom>
          <a:noFill/>
          <a:ln/>
        </p:spPr>
        <p:txBody>
          <a:bodyPr wrap="square" rtlCol="0" anchor="ctr"/>
          <a:lstStyle/>
          <a:p>
            <a:pPr indent="0" marL="0">
              <a:lnSpc>
                <a:spcPct val="125000"/>
              </a:lnSpc>
              <a:buNone/>
            </a:pPr>
            <a:r>
              <a:rPr lang="en-US" sz="2000" b="1" dirty="0">
                <a:solidFill>
                  <a:srgbClr val="FFFFFF"/>
                </a:solidFill>
                <a:latin typeface="Cambria" pitchFamily="34" charset="0"/>
                <a:ea typeface="Cambria" pitchFamily="34" charset="-122"/>
                <a:cs typeface="Cambria" pitchFamily="34" charset="-120"/>
              </a:rPr>
              <a:t>Premium SSD with the appropriate performance tier delivers an optimized balance of performance and cost.</a:t>
            </a:r>
            <a:endParaRPr lang="en-US" sz="2000" dirty="0"/>
          </a:p>
        </p:txBody>
      </p:sp>
      <p:sp>
        <p:nvSpPr>
          <p:cNvPr id="13" name="Text 10"/>
          <p:cNvSpPr/>
          <p:nvPr/>
        </p:nvSpPr>
        <p:spPr>
          <a:xfrm>
            <a:off x="457200" y="6547104"/>
            <a:ext cx="7315200" cy="256032"/>
          </a:xfrm>
          <a:prstGeom prst="rect">
            <a:avLst/>
          </a:prstGeom>
          <a:noFill/>
          <a:ln/>
        </p:spPr>
        <p:txBody>
          <a:bodyPr wrap="square" rtlCol="0" anchor="ctr"/>
          <a:lstStyle/>
          <a:p>
            <a:pPr algn="l" indent="0" marL="0">
              <a:buNone/>
            </a:pPr>
            <a:r>
              <a:rPr lang="en-US" sz="850" spc="100" kern="0" dirty="0">
                <a:solidFill>
                  <a:srgbClr val="5B6B7C"/>
                </a:solidFill>
                <a:latin typeface="Calibri" pitchFamily="34" charset="0"/>
                <a:ea typeface="Calibri" pitchFamily="34" charset="-122"/>
                <a:cs typeface="Calibri" pitchFamily="34" charset="-120"/>
              </a:rPr>
              <a:t>AZURE STORAGE PERFORMANCE TIER SELECTION</a:t>
            </a:r>
            <a:endParaRPr lang="en-US" sz="850" dirty="0"/>
          </a:p>
        </p:txBody>
      </p:sp>
      <p:sp>
        <p:nvSpPr>
          <p:cNvPr id="14" name="Shape 11"/>
          <p:cNvSpPr/>
          <p:nvPr/>
        </p:nvSpPr>
        <p:spPr>
          <a:xfrm>
            <a:off x="11414455" y="6492240"/>
            <a:ext cx="329184" cy="329184"/>
          </a:xfrm>
          <a:prstGeom prst="ellipse">
            <a:avLst/>
          </a:prstGeom>
          <a:solidFill>
            <a:srgbClr val="0078D4"/>
          </a:solidFill>
          <a:ln/>
        </p:spPr>
      </p:sp>
      <p:sp>
        <p:nvSpPr>
          <p:cNvPr id="15" name="Text 12"/>
          <p:cNvSpPr/>
          <p:nvPr/>
        </p:nvSpPr>
        <p:spPr>
          <a:xfrm>
            <a:off x="11414455" y="6492240"/>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15</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9FD"/>
        </a:solidFill>
      </p:bgPr>
    </p:bg>
    <p:spTree>
      <p:nvGrpSpPr>
        <p:cNvPr id="1" name=""/>
        <p:cNvGrpSpPr/>
        <p:nvPr/>
      </p:nvGrpSpPr>
      <p:grpSpPr>
        <a:xfrm>
          <a:off x="0" y="0"/>
          <a:ext cx="0" cy="0"/>
          <a:chOff x="0" y="0"/>
          <a:chExt cx="0" cy="0"/>
        </a:xfrm>
      </p:grpSpPr>
      <p:sp>
        <p:nvSpPr>
          <p:cNvPr id="2" name="Text 0"/>
          <p:cNvSpPr/>
          <p:nvPr/>
        </p:nvSpPr>
        <p:spPr>
          <a:xfrm>
            <a:off x="548640" y="384048"/>
            <a:ext cx="7315200" cy="292608"/>
          </a:xfrm>
          <a:prstGeom prst="rect">
            <a:avLst/>
          </a:prstGeom>
          <a:noFill/>
          <a:ln/>
        </p:spPr>
        <p:txBody>
          <a:bodyPr wrap="square" rtlCol="0" anchor="ctr"/>
          <a:lstStyle/>
          <a:p>
            <a:pPr algn="l" indent="0" marL="0">
              <a:buNone/>
            </a:pPr>
            <a:r>
              <a:rPr lang="en-US" sz="1250" b="1" spc="220" kern="0" dirty="0">
                <a:solidFill>
                  <a:srgbClr val="0078D4"/>
                </a:solidFill>
                <a:latin typeface="Calibri" pitchFamily="34" charset="0"/>
                <a:ea typeface="Calibri" pitchFamily="34" charset="-122"/>
                <a:cs typeface="Calibri" pitchFamily="34" charset="-120"/>
              </a:rPr>
              <a:t>REFERENCES</a:t>
            </a:r>
            <a:endParaRPr lang="en-US" sz="1250" dirty="0"/>
          </a:p>
        </p:txBody>
      </p:sp>
      <p:sp>
        <p:nvSpPr>
          <p:cNvPr id="3" name="Text 1"/>
          <p:cNvSpPr/>
          <p:nvPr/>
        </p:nvSpPr>
        <p:spPr>
          <a:xfrm>
            <a:off x="548640" y="658368"/>
            <a:ext cx="10789920" cy="640080"/>
          </a:xfrm>
          <a:prstGeom prst="rect">
            <a:avLst/>
          </a:prstGeom>
          <a:noFill/>
          <a:ln/>
        </p:spPr>
        <p:txBody>
          <a:bodyPr wrap="square" rtlCol="0" anchor="ctr"/>
          <a:lstStyle/>
          <a:p>
            <a:pPr algn="l" indent="0" marL="0">
              <a:buNone/>
            </a:pPr>
            <a:r>
              <a:rPr lang="en-US" sz="3000" b="1" dirty="0">
                <a:solidFill>
                  <a:srgbClr val="002050"/>
                </a:solidFill>
                <a:latin typeface="Cambria" pitchFamily="34" charset="0"/>
                <a:ea typeface="Cambria" pitchFamily="34" charset="-122"/>
                <a:cs typeface="Cambria" pitchFamily="34" charset="-120"/>
              </a:rPr>
              <a:t>References</a:t>
            </a:r>
            <a:endParaRPr lang="en-US" sz="3000" dirty="0"/>
          </a:p>
        </p:txBody>
      </p:sp>
      <p:sp>
        <p:nvSpPr>
          <p:cNvPr id="4" name="Shape 2"/>
          <p:cNvSpPr/>
          <p:nvPr/>
        </p:nvSpPr>
        <p:spPr>
          <a:xfrm>
            <a:off x="1280160" y="1920240"/>
            <a:ext cx="9601200" cy="1143000"/>
          </a:xfrm>
          <a:prstGeom prst="roundRect">
            <a:avLst>
              <a:gd name="adj" fmla="val 6400"/>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5" name="Shape 3"/>
          <p:cNvSpPr/>
          <p:nvPr/>
        </p:nvSpPr>
        <p:spPr>
          <a:xfrm>
            <a:off x="1554480" y="2139696"/>
            <a:ext cx="713232" cy="713232"/>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6" name="Image 0" descr="/home/claude/azure-ppt/icons/book_white.png">    </p:cNvPr>
          <p:cNvPicPr>
            <a:picLocks noChangeAspect="1"/>
          </p:cNvPicPr>
          <p:nvPr/>
        </p:nvPicPr>
        <p:blipFill>
          <a:blip r:embed="rId1"/>
          <a:stretch>
            <a:fillRect/>
          </a:stretch>
        </p:blipFill>
        <p:spPr>
          <a:xfrm>
            <a:off x="1654332" y="2239548"/>
            <a:ext cx="513527" cy="513527"/>
          </a:xfrm>
          <a:prstGeom prst="rect">
            <a:avLst/>
          </a:prstGeom>
        </p:spPr>
      </p:pic>
      <p:sp>
        <p:nvSpPr>
          <p:cNvPr id="7" name="Text 4"/>
          <p:cNvSpPr/>
          <p:nvPr/>
        </p:nvSpPr>
        <p:spPr>
          <a:xfrm>
            <a:off x="2606040" y="2066544"/>
            <a:ext cx="7863840" cy="411480"/>
          </a:xfrm>
          <a:prstGeom prst="rect">
            <a:avLst/>
          </a:prstGeom>
          <a:noFill/>
          <a:ln/>
        </p:spPr>
        <p:txBody>
          <a:bodyPr wrap="square" rtlCol="0" anchor="ctr"/>
          <a:lstStyle/>
          <a:p>
            <a:pPr indent="0" marL="0">
              <a:buNone/>
            </a:pPr>
            <a:r>
              <a:rPr lang="en-US" sz="1550" b="1" dirty="0">
                <a:solidFill>
                  <a:srgbClr val="002050"/>
                </a:solidFill>
                <a:latin typeface="Cambria" pitchFamily="34" charset="0"/>
                <a:ea typeface="Cambria" pitchFamily="34" charset="-122"/>
                <a:cs typeface="Cambria" pitchFamily="34" charset="-120"/>
              </a:rPr>
              <a:t>Microsoft Azure Documentation</a:t>
            </a:r>
            <a:endParaRPr lang="en-US" sz="1550" dirty="0"/>
          </a:p>
        </p:txBody>
      </p:sp>
      <p:sp>
        <p:nvSpPr>
          <p:cNvPr id="8" name="Text 5"/>
          <p:cNvSpPr/>
          <p:nvPr/>
        </p:nvSpPr>
        <p:spPr>
          <a:xfrm>
            <a:off x="2606040" y="2487168"/>
            <a:ext cx="7863840" cy="411480"/>
          </a:xfrm>
          <a:prstGeom prst="rect">
            <a:avLst/>
          </a:prstGeom>
          <a:noFill/>
          <a:ln/>
        </p:spPr>
        <p:txBody>
          <a:bodyPr wrap="square" rtlCol="0" anchor="ctr"/>
          <a:lstStyle/>
          <a:p>
            <a:pPr indent="0" marL="0">
              <a:buNone/>
            </a:pPr>
            <a:r>
              <a:rPr lang="en-US" sz="1150" dirty="0">
                <a:solidFill>
                  <a:srgbClr val="5B6B7C"/>
                </a:solidFill>
                <a:latin typeface="Calibri" pitchFamily="34" charset="0"/>
                <a:ea typeface="Calibri" pitchFamily="34" charset="-122"/>
                <a:cs typeface="Calibri" pitchFamily="34" charset="-120"/>
              </a:rPr>
              <a:t>Official Azure product documentation — learn.microsoft.com/azure</a:t>
            </a:r>
            <a:endParaRPr lang="en-US" sz="1150" dirty="0"/>
          </a:p>
        </p:txBody>
      </p:sp>
      <p:sp>
        <p:nvSpPr>
          <p:cNvPr id="9" name="Shape 6"/>
          <p:cNvSpPr/>
          <p:nvPr/>
        </p:nvSpPr>
        <p:spPr>
          <a:xfrm>
            <a:off x="1280160" y="3337560"/>
            <a:ext cx="9601200" cy="1143000"/>
          </a:xfrm>
          <a:prstGeom prst="roundRect">
            <a:avLst>
              <a:gd name="adj" fmla="val 6400"/>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10" name="Shape 7"/>
          <p:cNvSpPr/>
          <p:nvPr/>
        </p:nvSpPr>
        <p:spPr>
          <a:xfrm>
            <a:off x="1554480" y="3557016"/>
            <a:ext cx="713232" cy="713232"/>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11" name="Image 1" descr="/home/claude/azure-ppt/icons/hdd_white.png">    </p:cNvPr>
          <p:cNvPicPr>
            <a:picLocks noChangeAspect="1"/>
          </p:cNvPicPr>
          <p:nvPr/>
        </p:nvPicPr>
        <p:blipFill>
          <a:blip r:embed="rId2"/>
          <a:stretch>
            <a:fillRect/>
          </a:stretch>
        </p:blipFill>
        <p:spPr>
          <a:xfrm>
            <a:off x="1654332" y="3656868"/>
            <a:ext cx="513527" cy="513527"/>
          </a:xfrm>
          <a:prstGeom prst="rect">
            <a:avLst/>
          </a:prstGeom>
        </p:spPr>
      </p:pic>
      <p:sp>
        <p:nvSpPr>
          <p:cNvPr id="12" name="Text 8"/>
          <p:cNvSpPr/>
          <p:nvPr/>
        </p:nvSpPr>
        <p:spPr>
          <a:xfrm>
            <a:off x="2606040" y="3483864"/>
            <a:ext cx="7863840" cy="411480"/>
          </a:xfrm>
          <a:prstGeom prst="rect">
            <a:avLst/>
          </a:prstGeom>
          <a:noFill/>
          <a:ln/>
        </p:spPr>
        <p:txBody>
          <a:bodyPr wrap="square" rtlCol="0" anchor="ctr"/>
          <a:lstStyle/>
          <a:p>
            <a:pPr indent="0" marL="0">
              <a:buNone/>
            </a:pPr>
            <a:r>
              <a:rPr lang="en-US" sz="1550" b="1" dirty="0">
                <a:solidFill>
                  <a:srgbClr val="002050"/>
                </a:solidFill>
                <a:latin typeface="Cambria" pitchFamily="34" charset="0"/>
                <a:ea typeface="Cambria" pitchFamily="34" charset="-122"/>
                <a:cs typeface="Cambria" pitchFamily="34" charset="-120"/>
              </a:rPr>
              <a:t>Azure Managed Disks Documentation</a:t>
            </a:r>
            <a:endParaRPr lang="en-US" sz="1550" dirty="0"/>
          </a:p>
        </p:txBody>
      </p:sp>
      <p:sp>
        <p:nvSpPr>
          <p:cNvPr id="13" name="Text 9"/>
          <p:cNvSpPr/>
          <p:nvPr/>
        </p:nvSpPr>
        <p:spPr>
          <a:xfrm>
            <a:off x="2606040" y="3904488"/>
            <a:ext cx="7863840" cy="411480"/>
          </a:xfrm>
          <a:prstGeom prst="rect">
            <a:avLst/>
          </a:prstGeom>
          <a:noFill/>
          <a:ln/>
        </p:spPr>
        <p:txBody>
          <a:bodyPr wrap="square" rtlCol="0" anchor="ctr"/>
          <a:lstStyle/>
          <a:p>
            <a:pPr indent="0" marL="0">
              <a:buNone/>
            </a:pPr>
            <a:r>
              <a:rPr lang="en-US" sz="1150" dirty="0">
                <a:solidFill>
                  <a:srgbClr val="5B6B7C"/>
                </a:solidFill>
                <a:latin typeface="Calibri" pitchFamily="34" charset="0"/>
                <a:ea typeface="Calibri" pitchFamily="34" charset="-122"/>
                <a:cs typeface="Calibri" pitchFamily="34" charset="-120"/>
              </a:rPr>
              <a:t>Managed disk types, performance tiers &amp; configuration guidance</a:t>
            </a:r>
            <a:endParaRPr lang="en-US" sz="1150" dirty="0"/>
          </a:p>
        </p:txBody>
      </p:sp>
      <p:sp>
        <p:nvSpPr>
          <p:cNvPr id="14" name="Shape 10"/>
          <p:cNvSpPr/>
          <p:nvPr/>
        </p:nvSpPr>
        <p:spPr>
          <a:xfrm>
            <a:off x="1280160" y="4754880"/>
            <a:ext cx="9601200" cy="1143000"/>
          </a:xfrm>
          <a:prstGeom prst="roundRect">
            <a:avLst>
              <a:gd name="adj" fmla="val 6400"/>
            </a:avLst>
          </a:prstGeom>
          <a:solidFill>
            <a:srgbClr val="FFFFFF"/>
          </a:solidFill>
          <a:ln w="12700">
            <a:solidFill>
              <a:srgbClr val="D7E6F5"/>
            </a:solidFill>
            <a:prstDash val="solid"/>
          </a:ln>
          <a:effectLst>
            <a:outerShdw sx="100000" sy="100000" kx="0" ky="0" algn="bl" rotWithShape="0" blurRad="101600" dist="25400" dir="5400000">
              <a:srgbClr val="1B2A3C">
                <a:alpha val="10000"/>
              </a:srgbClr>
            </a:outerShdw>
          </a:effectLst>
        </p:spPr>
      </p:sp>
      <p:sp>
        <p:nvSpPr>
          <p:cNvPr id="15" name="Shape 11"/>
          <p:cNvSpPr/>
          <p:nvPr/>
        </p:nvSpPr>
        <p:spPr>
          <a:xfrm>
            <a:off x="1554480" y="4974336"/>
            <a:ext cx="713232" cy="713232"/>
          </a:xfrm>
          <a:prstGeom prst="ellipse">
            <a:avLst/>
          </a:prstGeom>
          <a:solidFill>
            <a:srgbClr val="0078D4"/>
          </a:solidFill>
          <a:ln/>
          <a:effectLst>
            <a:outerShdw sx="100000" sy="100000" kx="0" ky="0" algn="bl" rotWithShape="0" blurRad="76200" dist="25400" dir="5400000">
              <a:srgbClr val="1B2A3C">
                <a:alpha val="18000"/>
              </a:srgbClr>
            </a:outerShdw>
          </a:effectLst>
        </p:spPr>
      </p:sp>
      <p:pic>
        <p:nvPicPr>
          <p:cNvPr id="16" name="Image 2" descr="/home/claude/azure-ppt/icons/cloud_white.png">    </p:cNvPr>
          <p:cNvPicPr>
            <a:picLocks noChangeAspect="1"/>
          </p:cNvPicPr>
          <p:nvPr/>
        </p:nvPicPr>
        <p:blipFill>
          <a:blip r:embed="rId3"/>
          <a:stretch>
            <a:fillRect/>
          </a:stretch>
        </p:blipFill>
        <p:spPr>
          <a:xfrm>
            <a:off x="1654332" y="5074188"/>
            <a:ext cx="513527" cy="513527"/>
          </a:xfrm>
          <a:prstGeom prst="rect">
            <a:avLst/>
          </a:prstGeom>
        </p:spPr>
      </p:pic>
      <p:sp>
        <p:nvSpPr>
          <p:cNvPr id="17" name="Text 12"/>
          <p:cNvSpPr/>
          <p:nvPr/>
        </p:nvSpPr>
        <p:spPr>
          <a:xfrm>
            <a:off x="2606040" y="4901184"/>
            <a:ext cx="7863840" cy="411480"/>
          </a:xfrm>
          <a:prstGeom prst="rect">
            <a:avLst/>
          </a:prstGeom>
          <a:noFill/>
          <a:ln/>
        </p:spPr>
        <p:txBody>
          <a:bodyPr wrap="square" rtlCol="0" anchor="ctr"/>
          <a:lstStyle/>
          <a:p>
            <a:pPr indent="0" marL="0">
              <a:buNone/>
            </a:pPr>
            <a:r>
              <a:rPr lang="en-US" sz="1550" b="1" dirty="0">
                <a:solidFill>
                  <a:srgbClr val="002050"/>
                </a:solidFill>
                <a:latin typeface="Cambria" pitchFamily="34" charset="0"/>
                <a:ea typeface="Cambria" pitchFamily="34" charset="-122"/>
                <a:cs typeface="Cambria" pitchFamily="34" charset="-120"/>
              </a:rPr>
              <a:t>Azure Storage Documentation</a:t>
            </a:r>
            <a:endParaRPr lang="en-US" sz="1550" dirty="0"/>
          </a:p>
        </p:txBody>
      </p:sp>
      <p:sp>
        <p:nvSpPr>
          <p:cNvPr id="18" name="Text 13"/>
          <p:cNvSpPr/>
          <p:nvPr/>
        </p:nvSpPr>
        <p:spPr>
          <a:xfrm>
            <a:off x="2606040" y="5321808"/>
            <a:ext cx="7863840" cy="411480"/>
          </a:xfrm>
          <a:prstGeom prst="rect">
            <a:avLst/>
          </a:prstGeom>
          <a:noFill/>
          <a:ln/>
        </p:spPr>
        <p:txBody>
          <a:bodyPr wrap="square" rtlCol="0" anchor="ctr"/>
          <a:lstStyle/>
          <a:p>
            <a:pPr indent="0" marL="0">
              <a:buNone/>
            </a:pPr>
            <a:r>
              <a:rPr lang="en-US" sz="1150" dirty="0">
                <a:solidFill>
                  <a:srgbClr val="5B6B7C"/>
                </a:solidFill>
                <a:latin typeface="Calibri" pitchFamily="34" charset="0"/>
                <a:ea typeface="Calibri" pitchFamily="34" charset="-122"/>
                <a:cs typeface="Calibri" pitchFamily="34" charset="-120"/>
              </a:rPr>
              <a:t>Storage services, performance concepts, and best practices</a:t>
            </a:r>
            <a:endParaRPr lang="en-US" sz="1150" dirty="0"/>
          </a:p>
        </p:txBody>
      </p:sp>
      <p:sp>
        <p:nvSpPr>
          <p:cNvPr id="19" name="Text 14"/>
          <p:cNvSpPr/>
          <p:nvPr/>
        </p:nvSpPr>
        <p:spPr>
          <a:xfrm>
            <a:off x="548640" y="6172200"/>
            <a:ext cx="11064240" cy="411480"/>
          </a:xfrm>
          <a:prstGeom prst="rect">
            <a:avLst/>
          </a:prstGeom>
          <a:noFill/>
          <a:ln/>
        </p:spPr>
        <p:txBody>
          <a:bodyPr wrap="square" rtlCol="0" anchor="ctr"/>
          <a:lstStyle/>
          <a:p>
            <a:pPr algn="ctr" indent="0" marL="0">
              <a:buNone/>
            </a:pPr>
            <a:r>
              <a:rPr lang="en-US" sz="1600" b="1" dirty="0">
                <a:solidFill>
                  <a:srgbClr val="0078D4"/>
                </a:solidFill>
                <a:latin typeface="Cambria" pitchFamily="34" charset="0"/>
                <a:ea typeface="Cambria" pitchFamily="34" charset="-122"/>
                <a:cs typeface="Cambria" pitchFamily="34" charset="-120"/>
              </a:rPr>
              <a:t>Thank you</a:t>
            </a:r>
            <a:endParaRPr lang="en-US" sz="1600" dirty="0"/>
          </a:p>
        </p:txBody>
      </p:sp>
      <p:sp>
        <p:nvSpPr>
          <p:cNvPr id="20" name="Text 15"/>
          <p:cNvSpPr/>
          <p:nvPr/>
        </p:nvSpPr>
        <p:spPr>
          <a:xfrm>
            <a:off x="457200" y="6547104"/>
            <a:ext cx="7315200" cy="256032"/>
          </a:xfrm>
          <a:prstGeom prst="rect">
            <a:avLst/>
          </a:prstGeom>
          <a:noFill/>
          <a:ln/>
        </p:spPr>
        <p:txBody>
          <a:bodyPr wrap="square" rtlCol="0" anchor="ctr"/>
          <a:lstStyle/>
          <a:p>
            <a:pPr algn="l" indent="0" marL="0">
              <a:buNone/>
            </a:pPr>
            <a:r>
              <a:rPr lang="en-US" sz="850" spc="100" kern="0" dirty="0">
                <a:solidFill>
                  <a:srgbClr val="5B6B7C"/>
                </a:solidFill>
                <a:latin typeface="Calibri" pitchFamily="34" charset="0"/>
                <a:ea typeface="Calibri" pitchFamily="34" charset="-122"/>
                <a:cs typeface="Calibri" pitchFamily="34" charset="-120"/>
              </a:rPr>
              <a:t>AZURE STORAGE PERFORMANCE TIER SELECTION</a:t>
            </a:r>
            <a:endParaRPr lang="en-US" sz="850" dirty="0"/>
          </a:p>
        </p:txBody>
      </p:sp>
      <p:sp>
        <p:nvSpPr>
          <p:cNvPr id="21" name="Shape 16"/>
          <p:cNvSpPr/>
          <p:nvPr/>
        </p:nvSpPr>
        <p:spPr>
          <a:xfrm>
            <a:off x="11414455" y="6492240"/>
            <a:ext cx="329184" cy="329184"/>
          </a:xfrm>
          <a:prstGeom prst="ellipse">
            <a:avLst/>
          </a:prstGeom>
          <a:solidFill>
            <a:srgbClr val="0078D4"/>
          </a:solidFill>
          <a:ln/>
        </p:spPr>
      </p:sp>
      <p:sp>
        <p:nvSpPr>
          <p:cNvPr id="22" name="Text 17"/>
          <p:cNvSpPr/>
          <p:nvPr/>
        </p:nvSpPr>
        <p:spPr>
          <a:xfrm>
            <a:off x="11414455" y="6492240"/>
            <a:ext cx="329184" cy="329184"/>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2026-09-26T17:42:11Z</dcterms:created>
  <dcterms:modified xsi:type="dcterms:W3CDTF">2026-09-26T17:42:11Z</dcterms:modified>
</cp:coreProperties>
</file>