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32"/>
          <p:cNvSpPr/>
          <p:nvPr>
            <p:ph type="sldImg"/>
          </p:nvPr>
        </p:nvSpPr>
        <p:spPr>
          <a:prstGeom prst="rect">
            <a:avLst/>
          </a:prstGeom>
        </p:spPr>
        <p:txBody>
          <a:bodyPr/>
          <a:lstStyle/>
          <a:p>
            <a:pPr/>
          </a:p>
        </p:txBody>
      </p:sp>
      <p:sp>
        <p:nvSpPr>
          <p:cNvPr id="33" name="Shape 33"/>
          <p:cNvSpPr/>
          <p:nvPr>
            <p:ph type="body" sz="quarter" idx="1"/>
          </p:nvPr>
        </p:nvSpPr>
        <p:spPr>
          <a:prstGeom prst="rect">
            <a:avLst/>
          </a:prstGeom>
        </p:spPr>
        <p:txBody>
          <a:bodyPr/>
          <a:lstStyle/>
          <a:p>
            <a:pPr/>
            <a:r>
              <a:t>Welcome the audience and introduce the project title. Mention this is a cloud computing demonstration focused on choosing the right Azure Storage performance tier for a workload, and briefly state the presenter's name, course, and that this is a project presentation.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Shape 72"/>
          <p:cNvSpPr/>
          <p:nvPr>
            <p:ph type="sldImg"/>
          </p:nvPr>
        </p:nvSpPr>
        <p:spPr>
          <a:prstGeom prst="rect">
            <a:avLst/>
          </a:prstGeom>
        </p:spPr>
        <p:txBody>
          <a:bodyPr/>
          <a:lstStyle/>
          <a:p>
            <a:pPr/>
          </a:p>
        </p:txBody>
      </p:sp>
      <p:sp>
        <p:nvSpPr>
          <p:cNvPr id="73" name="Shape 73"/>
          <p:cNvSpPr/>
          <p:nvPr>
            <p:ph type="body" sz="quarter" idx="1"/>
          </p:nvPr>
        </p:nvSpPr>
        <p:spPr>
          <a:prstGeom prst="rect">
            <a:avLst/>
          </a:prstGeom>
        </p:spPr>
        <p:txBody>
          <a:bodyPr/>
          <a:lstStyle/>
          <a:p>
            <a:pPr/>
            <a:r>
              <a:t>Explain that Azure Storage is Microsoft's managed cloud storage service supporting disks, blobs, files, tables, and queues. Emphasize that storage performance directly affects application responsiveness, and define IOPS (operations per second), throughput (data transfer rate), and latency (response delay) as the three key performance metrics. Walk through the simple architecture diagram: client application talks to Azure Storage over the network.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p>
            <a:pPr/>
            <a:r>
              <a:t>State the problem this project addresses: different applications need different storage performance levels. Read the core problem statement aloud and emphasize that the challenge is balancing performance against cost -- this tension motivates the rest of the presentation.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Shape 127"/>
          <p:cNvSpPr/>
          <p:nvPr>
            <p:ph type="sldImg"/>
          </p:nvPr>
        </p:nvSpPr>
        <p:spPr>
          <a:prstGeom prst="rect">
            <a:avLst/>
          </a:prstGeom>
        </p:spPr>
        <p:txBody>
          <a:bodyPr/>
          <a:lstStyle/>
          <a:p>
            <a:pPr/>
          </a:p>
        </p:txBody>
      </p:sp>
      <p:sp>
        <p:nvSpPr>
          <p:cNvPr id="128" name="Shape 128"/>
          <p:cNvSpPr/>
          <p:nvPr>
            <p:ph type="body" sz="quarter" idx="1"/>
          </p:nvPr>
        </p:nvSpPr>
        <p:spPr>
          <a:prstGeom prst="rect">
            <a:avLst/>
          </a:prstGeom>
        </p:spPr>
        <p:txBody>
          <a:bodyPr/>
          <a:lstStyle/>
          <a:p>
            <a:pPr/>
            <a:r>
              <a:t>Walk through the five project objectives in order: analyzing workload requirements, understanding Azure's storage performance options, selecting a suitable tier, configuring Azure resources, and comparing performance versus cost. These objectives form the roadmap for the rest of the presentation.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Explain that since no specific workload was given, an online shopping application is assumed as a realistic, relatable scenario. Walk through its characteristics: VM-hosted, transactional database, frequent read/write, low latency needs, high IOPS during peak traffic. Trace the data flow diagram: Users to Application to Database to Azure Storage.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Present the requirements table and explain how each requirement (access pattern, latency, IOPS, throughput, availability, cost) was derived from the assumed scenario. Emphasize that high IOPS and low latency requirements rule out low-performance storage options, steering the decision toward a premium tier.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ape 227"/>
          <p:cNvSpPr/>
          <p:nvPr>
            <p:ph type="sldImg"/>
          </p:nvPr>
        </p:nvSpPr>
        <p:spPr>
          <a:prstGeom prst="rect">
            <a:avLst/>
          </a:prstGeom>
        </p:spPr>
        <p:txBody>
          <a:bodyPr/>
          <a:lstStyle/>
          <a:p>
            <a:pPr/>
          </a:p>
        </p:txBody>
      </p:sp>
      <p:sp>
        <p:nvSpPr>
          <p:cNvPr id="228" name="Shape 228"/>
          <p:cNvSpPr/>
          <p:nvPr>
            <p:ph type="body" sz="quarter" idx="1"/>
          </p:nvPr>
        </p:nvSpPr>
        <p:spPr>
          <a:prstGeom prst="rect">
            <a:avLst/>
          </a:prstGeom>
        </p:spPr>
        <p:txBody>
          <a:bodyPr/>
          <a:lstStyle/>
          <a:p>
            <a:pPr/>
            <a:r>
              <a:t>Compare the three Azure storage performance options: Standard HDD for low-cost workloads, Standard SSD for general applications, and Premium SSD for high-performance applications. Explain why Premium SSD is highlighted as the selected option for this workload -- it best matches the low-latency, high-IOPS requirements identified earlier.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p>
            <a:pPr/>
            <a:r>
              <a:t>Explain that within Premium SSD, performance tiers determine IOPS, throughput, and overall disk performance. Walk through the P10 example (500 IOPS, 100 MB/s throughput) as a baseline tier, then point to the chart showing how higher tiers (P15 through P40) scale up performance -- and cost -- accordingly.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Shape 311"/>
          <p:cNvSpPr/>
          <p:nvPr>
            <p:ph type="sldImg"/>
          </p:nvPr>
        </p:nvSpPr>
        <p:spPr>
          <a:prstGeom prst="rect">
            <a:avLst/>
          </a:prstGeom>
        </p:spPr>
        <p:txBody>
          <a:bodyPr/>
          <a:lstStyle/>
          <a:p>
            <a:pPr/>
          </a:p>
        </p:txBody>
      </p:sp>
      <p:sp>
        <p:nvSpPr>
          <p:cNvPr id="312" name="Shape 312"/>
          <p:cNvSpPr/>
          <p:nvPr>
            <p:ph type="body" sz="quarter" idx="1"/>
          </p:nvPr>
        </p:nvSpPr>
        <p:spPr>
          <a:prstGeom prst="rect">
            <a:avLst/>
          </a:prstGeom>
        </p:spPr>
        <p:txBody>
          <a:bodyPr/>
          <a:lstStyle/>
          <a:p>
            <a:pPr/>
            <a:r>
              <a:t>Walk through the six-step Azure implementation process: create a resource group, create a managed disk, select Premium SSD, configure disk size, select the performance tier, and monitor performance after deployment. Mention that Azure Portal screenshots would be inserted here during a live demo to show each configuration step.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Shape 349"/>
          <p:cNvSpPr/>
          <p:nvPr>
            <p:ph type="sldImg"/>
          </p:nvPr>
        </p:nvSpPr>
        <p:spPr>
          <a:prstGeom prst="rect">
            <a:avLst/>
          </a:prstGeom>
        </p:spPr>
        <p:txBody>
          <a:bodyPr/>
          <a:lstStyle/>
          <a:p>
            <a:pPr/>
          </a:p>
        </p:txBody>
      </p:sp>
      <p:sp>
        <p:nvSpPr>
          <p:cNvPr id="350" name="Shape 350"/>
          <p:cNvSpPr/>
          <p:nvPr>
            <p:ph type="body" sz="quarter" idx="1"/>
          </p:nvPr>
        </p:nvSpPr>
        <p:spPr>
          <a:prstGeom prst="rect">
            <a:avLst/>
          </a:prstGeom>
        </p:spPr>
        <p:txBody>
          <a:bodyPr/>
          <a:lstStyle/>
          <a:p>
            <a:pPr/>
            <a:r>
              <a:t>Present the proposed end-to-end architecture from top to bottom: Users connect to the Azure Application, which runs on a Virtual Machine, which is backed by a Premium SSD Managed Disk configured with the selected Azure Storage Performance Tier. This shows how all the pieces discussed so far fit together.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2" name="Shape 392"/>
          <p:cNvSpPr/>
          <p:nvPr>
            <p:ph type="sldImg"/>
          </p:nvPr>
        </p:nvSpPr>
        <p:spPr>
          <a:prstGeom prst="rect">
            <a:avLst/>
          </a:prstGeom>
        </p:spPr>
        <p:txBody>
          <a:bodyPr/>
          <a:lstStyle/>
          <a:p>
            <a:pPr/>
          </a:p>
        </p:txBody>
      </p:sp>
      <p:sp>
        <p:nvSpPr>
          <p:cNvPr id="393" name="Shape 393"/>
          <p:cNvSpPr/>
          <p:nvPr>
            <p:ph type="body" sz="quarter" idx="1"/>
          </p:nvPr>
        </p:nvSpPr>
        <p:spPr>
          <a:prstGeom prst="rect">
            <a:avLst/>
          </a:prstGeom>
        </p:spPr>
        <p:txBody>
          <a:bodyPr/>
          <a:lstStyle/>
          <a:p>
            <a:pPr/>
            <a:r>
              <a:t>Summarize the decision rationale: given high transaction volume and low latency requirements, the decision is to use Premium SSD starting at the P10 baseline tier, with the option to upgrade as workload grows. Walk through the decision process on the right: workload analysis leads to storage selection leads to performance optimization.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420"/>
          <p:cNvSpPr/>
          <p:nvPr>
            <p:ph type="sldImg"/>
          </p:nvPr>
        </p:nvSpPr>
        <p:spPr>
          <a:prstGeom prst="rect">
            <a:avLst/>
          </a:prstGeom>
        </p:spPr>
        <p:txBody>
          <a:bodyPr/>
          <a:lstStyle/>
          <a:p>
            <a:pPr/>
          </a:p>
        </p:txBody>
      </p:sp>
      <p:sp>
        <p:nvSpPr>
          <p:cNvPr id="421" name="Shape 421"/>
          <p:cNvSpPr/>
          <p:nvPr>
            <p:ph type="body" sz="quarter" idx="1"/>
          </p:nvPr>
        </p:nvSpPr>
        <p:spPr>
          <a:prstGeom prst="rect">
            <a:avLst/>
          </a:prstGeom>
        </p:spPr>
        <p:txBody>
          <a:bodyPr/>
          <a:lstStyle/>
          <a:p>
            <a:pPr/>
            <a:r>
              <a:t>Discuss cost optimization principles: avoid over-provisioning by not selecting maximum performance unnecessarily, monitor actual workload usage continuously, scale performance only when real demand justifies it, and always aim to balance performance against cost rather than maximizing one at the expense of the other.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4" name="Shape 454"/>
          <p:cNvSpPr/>
          <p:nvPr>
            <p:ph type="sldImg"/>
          </p:nvPr>
        </p:nvSpPr>
        <p:spPr>
          <a:prstGeom prst="rect">
            <a:avLst/>
          </a:prstGeom>
        </p:spPr>
        <p:txBody>
          <a:bodyPr/>
          <a:lstStyle/>
          <a:p>
            <a:pPr/>
          </a:p>
        </p:txBody>
      </p:sp>
      <p:sp>
        <p:nvSpPr>
          <p:cNvPr id="455" name="Shape 455"/>
          <p:cNvSpPr/>
          <p:nvPr>
            <p:ph type="body" sz="quarter" idx="1"/>
          </p:nvPr>
        </p:nvSpPr>
        <p:spPr>
          <a:prstGeom prst="rect">
            <a:avLst/>
          </a:prstGeom>
        </p:spPr>
        <p:txBody>
          <a:bodyPr/>
          <a:lstStyle/>
          <a:p>
            <a:pPr/>
            <a:r>
              <a:t>Highlight the five key advantages of the selected solution: high performance, low latency, scalability, flexible performance adjustment, and suitability for enterprise-grade applications. These benefits directly address the problem statement and requirements discussed earlier.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6" name="Shape 486"/>
          <p:cNvSpPr/>
          <p:nvPr>
            <p:ph type="sldImg"/>
          </p:nvPr>
        </p:nvSpPr>
        <p:spPr>
          <a:prstGeom prst="rect">
            <a:avLst/>
          </a:prstGeom>
        </p:spPr>
        <p:txBody>
          <a:bodyPr/>
          <a:lstStyle/>
          <a:p>
            <a:pPr/>
          </a:p>
        </p:txBody>
      </p:sp>
      <p:sp>
        <p:nvSpPr>
          <p:cNvPr id="487" name="Shape 487"/>
          <p:cNvSpPr/>
          <p:nvPr>
            <p:ph type="body" sz="quarter" idx="1"/>
          </p:nvPr>
        </p:nvSpPr>
        <p:spPr>
          <a:prstGeom prst="rect">
            <a:avLst/>
          </a:prstGeom>
        </p:spPr>
        <p:txBody>
          <a:bodyPr/>
          <a:lstStyle/>
          <a:p>
            <a:pPr/>
            <a:r>
              <a:t>Outline potential future enhancements beyond the current project scope: integrating Azure Monitor for real-time metrics, implementing automatic scaling based on demand, testing with real application workloads instead of assumptions, and integrating database-level performance monitoring for deeper insight.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3" name="Shape 503"/>
          <p:cNvSpPr/>
          <p:nvPr>
            <p:ph type="sldImg"/>
          </p:nvPr>
        </p:nvSpPr>
        <p:spPr>
          <a:prstGeom prst="rect">
            <a:avLst/>
          </a:prstGeom>
        </p:spPr>
        <p:txBody>
          <a:bodyPr/>
          <a:lstStyle/>
          <a:p>
            <a:pPr/>
          </a:p>
        </p:txBody>
      </p:sp>
      <p:sp>
        <p:nvSpPr>
          <p:cNvPr id="504" name="Shape 504"/>
          <p:cNvSpPr/>
          <p:nvPr>
            <p:ph type="body" sz="quarter" idx="1"/>
          </p:nvPr>
        </p:nvSpPr>
        <p:spPr>
          <a:prstGeom prst="rect">
            <a:avLst/>
          </a:prstGeom>
        </p:spPr>
        <p:txBody>
          <a:bodyPr/>
          <a:lstStyle/>
          <a:p>
            <a:pPr/>
            <a:r>
              <a:t>Summarize the key takeaway: Azure Storage performance tier selection depends on workload characteristics, and for transaction-heavy applications like the assumed online shopping scenario, Premium SSD with an appropriately chosen performance tier provides the best balance of performance and cost.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7" name="Shape 527"/>
          <p:cNvSpPr/>
          <p:nvPr>
            <p:ph type="sldImg"/>
          </p:nvPr>
        </p:nvSpPr>
        <p:spPr>
          <a:prstGeom prst="rect">
            <a:avLst/>
          </a:prstGeom>
        </p:spPr>
        <p:txBody>
          <a:bodyPr/>
          <a:lstStyle/>
          <a:p>
            <a:pPr/>
          </a:p>
        </p:txBody>
      </p:sp>
      <p:sp>
        <p:nvSpPr>
          <p:cNvPr id="528" name="Shape 528"/>
          <p:cNvSpPr/>
          <p:nvPr>
            <p:ph type="body" sz="quarter" idx="1"/>
          </p:nvPr>
        </p:nvSpPr>
        <p:spPr>
          <a:prstGeom prst="rect">
            <a:avLst/>
          </a:prstGeom>
        </p:spPr>
        <p:txBody>
          <a:bodyPr/>
          <a:lstStyle/>
          <a:p>
            <a:pPr/>
            <a:r>
              <a:t>Close with the references used for this project: Microsoft Azure Documentation, Azure Managed Disks Documentation, and Azure Storage Documentation. Thank the audience and invite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16.png"/><Relationship Id="rId6" Type="http://schemas.openxmlformats.org/officeDocument/2006/relationships/image" Target="../media/image6.png"/><Relationship Id="rId7"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9.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19.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21.png"/><Relationship Id="rId6" Type="http://schemas.openxmlformats.org/officeDocument/2006/relationships/image" Target="../media/image1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6.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2050"/>
        </a:solidFill>
      </p:bgPr>
    </p:bg>
    <p:spTree>
      <p:nvGrpSpPr>
        <p:cNvPr id="1" name=""/>
        <p:cNvGrpSpPr/>
        <p:nvPr/>
      </p:nvGrpSpPr>
      <p:grpSpPr>
        <a:xfrm>
          <a:off x="0" y="0"/>
          <a:ext cx="0" cy="0"/>
          <a:chOff x="0" y="0"/>
          <a:chExt cx="0" cy="0"/>
        </a:xfrm>
      </p:grpSpPr>
      <p:sp>
        <p:nvSpPr>
          <p:cNvPr id="20" name="Shape 0"/>
          <p:cNvSpPr/>
          <p:nvPr/>
        </p:nvSpPr>
        <p:spPr>
          <a:xfrm>
            <a:off x="8869680" y="-1463040"/>
            <a:ext cx="4754881" cy="4754880"/>
          </a:xfrm>
          <a:prstGeom prst="ellipse">
            <a:avLst/>
          </a:prstGeom>
          <a:solidFill>
            <a:srgbClr val="0A2E5C"/>
          </a:solidFill>
          <a:ln w="12700">
            <a:miter lim="400000"/>
          </a:ln>
        </p:spPr>
        <p:txBody>
          <a:bodyPr lIns="45719" rIns="45719"/>
          <a:lstStyle/>
          <a:p>
            <a:pPr/>
          </a:p>
        </p:txBody>
      </p:sp>
      <p:sp>
        <p:nvSpPr>
          <p:cNvPr id="21" name="Shape 1"/>
          <p:cNvSpPr/>
          <p:nvPr/>
        </p:nvSpPr>
        <p:spPr>
          <a:xfrm>
            <a:off x="10332719" y="-457200"/>
            <a:ext cx="2743201" cy="2743200"/>
          </a:xfrm>
          <a:prstGeom prst="ellipse">
            <a:avLst/>
          </a:prstGeom>
          <a:solidFill>
            <a:srgbClr val="0C3E75"/>
          </a:solidFill>
          <a:ln w="12700">
            <a:miter lim="400000"/>
          </a:ln>
        </p:spPr>
        <p:txBody>
          <a:bodyPr lIns="45719" rIns="45719"/>
          <a:lstStyle/>
          <a:p>
            <a:pPr/>
          </a:p>
        </p:txBody>
      </p:sp>
      <p:sp>
        <p:nvSpPr>
          <p:cNvPr id="22" name="Shape 2"/>
          <p:cNvSpPr/>
          <p:nvPr/>
        </p:nvSpPr>
        <p:spPr>
          <a:xfrm>
            <a:off x="-1463041" y="4754879"/>
            <a:ext cx="4023362" cy="4023362"/>
          </a:xfrm>
          <a:prstGeom prst="ellipse">
            <a:avLst/>
          </a:prstGeom>
          <a:solidFill>
            <a:srgbClr val="0A2E5C"/>
          </a:solidFill>
          <a:ln w="12700">
            <a:miter lim="400000"/>
          </a:ln>
        </p:spPr>
        <p:txBody>
          <a:bodyPr lIns="45719" rIns="45719"/>
          <a:lstStyle/>
          <a:p>
            <a:pPr/>
          </a:p>
        </p:txBody>
      </p:sp>
      <p:sp>
        <p:nvSpPr>
          <p:cNvPr id="23" name="Text 3"/>
          <p:cNvSpPr txBox="1"/>
          <p:nvPr/>
        </p:nvSpPr>
        <p:spPr>
          <a:xfrm>
            <a:off x="868680" y="1471099"/>
            <a:ext cx="9509760"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40" sz="1300">
                <a:solidFill>
                  <a:srgbClr val="50E6FF"/>
                </a:solidFill>
              </a:defRPr>
            </a:lvl1pPr>
          </a:lstStyle>
          <a:p>
            <a:pPr/>
            <a:r>
              <a:t>MICROSOFT AZURE  •  CLOUD INFRASTRUCTURE PROJECT</a:t>
            </a:r>
          </a:p>
        </p:txBody>
      </p:sp>
      <p:sp>
        <p:nvSpPr>
          <p:cNvPr id="24" name="Text 4"/>
          <p:cNvSpPr txBox="1"/>
          <p:nvPr/>
        </p:nvSpPr>
        <p:spPr>
          <a:xfrm>
            <a:off x="822959" y="2118868"/>
            <a:ext cx="9784082" cy="13858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08000"/>
              </a:lnSpc>
              <a:defRPr sz="4200">
                <a:solidFill>
                  <a:srgbClr val="FFFFFF"/>
                </a:solidFill>
                <a:latin typeface="Cambria"/>
                <a:ea typeface="Cambria"/>
                <a:cs typeface="Cambria"/>
                <a:sym typeface="Cambria"/>
              </a:defRPr>
            </a:pPr>
            <a:r>
              <a:t>Azure Storage Performance</a:t>
            </a:r>
          </a:p>
          <a:p>
            <a:pPr>
              <a:lnSpc>
                <a:spcPct val="108000"/>
              </a:lnSpc>
              <a:defRPr sz="4200">
                <a:solidFill>
                  <a:srgbClr val="FFFFFF"/>
                </a:solidFill>
                <a:latin typeface="Cambria"/>
                <a:ea typeface="Cambria"/>
                <a:cs typeface="Cambria"/>
                <a:sym typeface="Cambria"/>
              </a:defRPr>
            </a:pPr>
            <a:r>
              <a:t>Tier Selection for a Workload</a:t>
            </a:r>
          </a:p>
        </p:txBody>
      </p:sp>
      <p:sp>
        <p:nvSpPr>
          <p:cNvPr id="25" name="Shape 5"/>
          <p:cNvSpPr/>
          <p:nvPr/>
        </p:nvSpPr>
        <p:spPr>
          <a:xfrm>
            <a:off x="822960" y="3840479"/>
            <a:ext cx="2743201" cy="1"/>
          </a:xfrm>
          <a:prstGeom prst="line">
            <a:avLst/>
          </a:prstGeom>
          <a:ln w="31750">
            <a:solidFill>
              <a:srgbClr val="2B88D8"/>
            </a:solidFill>
          </a:ln>
        </p:spPr>
        <p:txBody>
          <a:bodyPr lIns="45719" rIns="45719"/>
          <a:lstStyle/>
          <a:p>
            <a:pPr/>
          </a:p>
        </p:txBody>
      </p:sp>
      <p:sp>
        <p:nvSpPr>
          <p:cNvPr id="26" name="Text 6"/>
          <p:cNvSpPr txBox="1"/>
          <p:nvPr/>
        </p:nvSpPr>
        <p:spPr>
          <a:xfrm>
            <a:off x="868680" y="4096714"/>
            <a:ext cx="8595360" cy="3104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700">
                <a:solidFill>
                  <a:srgbClr val="CFE3F7"/>
                </a:solidFill>
              </a:defRPr>
            </a:lvl1pPr>
          </a:lstStyle>
          <a:p>
            <a:pPr/>
            <a:r>
              <a:t>Cloud Infrastructure Optimisation using Microsoft Azure</a:t>
            </a:r>
          </a:p>
        </p:txBody>
      </p:sp>
      <p:sp>
        <p:nvSpPr>
          <p:cNvPr id="27" name="Shape 14"/>
          <p:cNvSpPr/>
          <p:nvPr/>
        </p:nvSpPr>
        <p:spPr>
          <a:xfrm>
            <a:off x="9646919" y="5029200"/>
            <a:ext cx="1371601" cy="1371600"/>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28" name="Image 0" descr="Image 0"/>
          <p:cNvPicPr>
            <a:picLocks noChangeAspect="1"/>
          </p:cNvPicPr>
          <p:nvPr/>
        </p:nvPicPr>
        <p:blipFill>
          <a:blip r:embed="rId3">
            <a:extLst/>
          </a:blip>
          <a:stretch>
            <a:fillRect/>
          </a:stretch>
        </p:blipFill>
        <p:spPr>
          <a:xfrm>
            <a:off x="9825228" y="5207508"/>
            <a:ext cx="1014985" cy="1014985"/>
          </a:xfrm>
          <a:prstGeom prst="rect">
            <a:avLst/>
          </a:prstGeom>
          <a:ln w="12700">
            <a:miter lim="400000"/>
          </a:ln>
        </p:spPr>
      </p:pic>
      <p:sp>
        <p:nvSpPr>
          <p:cNvPr id="29" name="Text 15"/>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30" name="Shape 16"/>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31" name="Text 17"/>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35"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INTRODUCTION</a:t>
            </a:r>
          </a:p>
        </p:txBody>
      </p:sp>
      <p:sp>
        <p:nvSpPr>
          <p:cNvPr id="36"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Introduction to Azure Storage</a:t>
            </a:r>
          </a:p>
        </p:txBody>
      </p:sp>
      <p:sp>
        <p:nvSpPr>
          <p:cNvPr id="37" name="Shape 2"/>
          <p:cNvSpPr/>
          <p:nvPr/>
        </p:nvSpPr>
        <p:spPr>
          <a:xfrm>
            <a:off x="548640" y="1481327"/>
            <a:ext cx="5943601" cy="1298449"/>
          </a:xfrm>
          <a:prstGeom prst="roundRect">
            <a:avLst>
              <a:gd name="adj" fmla="val 563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38" name="Shape 3"/>
          <p:cNvSpPr/>
          <p:nvPr/>
        </p:nvSpPr>
        <p:spPr>
          <a:xfrm>
            <a:off x="749808" y="1700783"/>
            <a:ext cx="859537" cy="859537"/>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9" name="Image 0" descr="Image 0"/>
          <p:cNvPicPr>
            <a:picLocks noChangeAspect="1"/>
          </p:cNvPicPr>
          <p:nvPr/>
        </p:nvPicPr>
        <p:blipFill>
          <a:blip r:embed="rId3">
            <a:extLst/>
          </a:blip>
          <a:stretch>
            <a:fillRect/>
          </a:stretch>
        </p:blipFill>
        <p:spPr>
          <a:xfrm>
            <a:off x="870143" y="1821119"/>
            <a:ext cx="618867" cy="618867"/>
          </a:xfrm>
          <a:prstGeom prst="rect">
            <a:avLst/>
          </a:prstGeom>
          <a:ln w="12700">
            <a:miter lim="400000"/>
          </a:ln>
        </p:spPr>
      </p:pic>
      <p:sp>
        <p:nvSpPr>
          <p:cNvPr id="40" name="Text 4"/>
          <p:cNvSpPr txBox="1"/>
          <p:nvPr/>
        </p:nvSpPr>
        <p:spPr>
          <a:xfrm>
            <a:off x="1828800" y="1592834"/>
            <a:ext cx="443484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What Is Azure Storage?</a:t>
            </a:r>
          </a:p>
        </p:txBody>
      </p:sp>
      <p:sp>
        <p:nvSpPr>
          <p:cNvPr id="41" name="Text 5"/>
          <p:cNvSpPr txBox="1"/>
          <p:nvPr/>
        </p:nvSpPr>
        <p:spPr>
          <a:xfrm>
            <a:off x="1828800" y="1996505"/>
            <a:ext cx="4434840" cy="58813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2000"/>
              </a:lnSpc>
              <a:defRPr sz="1100">
                <a:solidFill>
                  <a:srgbClr val="5B6B7C"/>
                </a:solidFill>
              </a:defRPr>
            </a:lvl1pPr>
          </a:lstStyle>
          <a:p>
            <a:pPr/>
            <a:r>
              <a:t>Microsoft Azure's managed cloud service for storing data — disks, files, blobs, tables, and queues — accessed securely over the internet or a private network.</a:t>
            </a:r>
          </a:p>
        </p:txBody>
      </p:sp>
      <p:sp>
        <p:nvSpPr>
          <p:cNvPr id="42" name="Shape 6"/>
          <p:cNvSpPr/>
          <p:nvPr/>
        </p:nvSpPr>
        <p:spPr>
          <a:xfrm>
            <a:off x="548640" y="2962655"/>
            <a:ext cx="5943601" cy="1298449"/>
          </a:xfrm>
          <a:prstGeom prst="roundRect">
            <a:avLst>
              <a:gd name="adj" fmla="val 563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3" name="Shape 7"/>
          <p:cNvSpPr/>
          <p:nvPr/>
        </p:nvSpPr>
        <p:spPr>
          <a:xfrm>
            <a:off x="749808" y="3182111"/>
            <a:ext cx="859537" cy="859537"/>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4" name="Image 1" descr="Image 1"/>
          <p:cNvPicPr>
            <a:picLocks noChangeAspect="1"/>
          </p:cNvPicPr>
          <p:nvPr/>
        </p:nvPicPr>
        <p:blipFill>
          <a:blip r:embed="rId4">
            <a:extLst/>
          </a:blip>
          <a:stretch>
            <a:fillRect/>
          </a:stretch>
        </p:blipFill>
        <p:spPr>
          <a:xfrm>
            <a:off x="870143" y="3302446"/>
            <a:ext cx="618867" cy="618867"/>
          </a:xfrm>
          <a:prstGeom prst="rect">
            <a:avLst/>
          </a:prstGeom>
          <a:ln w="12700">
            <a:miter lim="400000"/>
          </a:ln>
        </p:spPr>
      </p:pic>
      <p:sp>
        <p:nvSpPr>
          <p:cNvPr id="45" name="Text 8"/>
          <p:cNvSpPr txBox="1"/>
          <p:nvPr/>
        </p:nvSpPr>
        <p:spPr>
          <a:xfrm>
            <a:off x="1828800" y="3074162"/>
            <a:ext cx="443484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Why Performance Matters</a:t>
            </a:r>
          </a:p>
        </p:txBody>
      </p:sp>
      <p:sp>
        <p:nvSpPr>
          <p:cNvPr id="46" name="Text 9"/>
          <p:cNvSpPr txBox="1"/>
          <p:nvPr/>
        </p:nvSpPr>
        <p:spPr>
          <a:xfrm>
            <a:off x="1828800" y="3568440"/>
            <a:ext cx="4434840" cy="4069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2000"/>
              </a:lnSpc>
              <a:defRPr sz="1100">
                <a:solidFill>
                  <a:srgbClr val="5B6B7C"/>
                </a:solidFill>
              </a:defRPr>
            </a:lvl1pPr>
          </a:lstStyle>
          <a:p>
            <a:pPr/>
            <a:r>
              <a:t>Cloud application responsiveness depends directly on how fast storage can read and write data, especially for transactional, user-facing workloads.</a:t>
            </a:r>
          </a:p>
        </p:txBody>
      </p:sp>
      <p:sp>
        <p:nvSpPr>
          <p:cNvPr id="47" name="Shape 10"/>
          <p:cNvSpPr/>
          <p:nvPr/>
        </p:nvSpPr>
        <p:spPr>
          <a:xfrm>
            <a:off x="548640" y="4443984"/>
            <a:ext cx="5943601" cy="1298449"/>
          </a:xfrm>
          <a:prstGeom prst="roundRect">
            <a:avLst>
              <a:gd name="adj" fmla="val 563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8" name="Shape 11"/>
          <p:cNvSpPr/>
          <p:nvPr/>
        </p:nvSpPr>
        <p:spPr>
          <a:xfrm>
            <a:off x="749808" y="4663440"/>
            <a:ext cx="859537" cy="859537"/>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9" name="Image 2" descr="Image 2"/>
          <p:cNvPicPr>
            <a:picLocks noChangeAspect="1"/>
          </p:cNvPicPr>
          <p:nvPr/>
        </p:nvPicPr>
        <p:blipFill>
          <a:blip r:embed="rId5">
            <a:extLst/>
          </a:blip>
          <a:stretch>
            <a:fillRect/>
          </a:stretch>
        </p:blipFill>
        <p:spPr>
          <a:xfrm>
            <a:off x="870143" y="4783775"/>
            <a:ext cx="618867" cy="618867"/>
          </a:xfrm>
          <a:prstGeom prst="rect">
            <a:avLst/>
          </a:prstGeom>
          <a:ln w="12700">
            <a:miter lim="400000"/>
          </a:ln>
        </p:spPr>
      </p:pic>
      <p:sp>
        <p:nvSpPr>
          <p:cNvPr id="50" name="Text 12"/>
          <p:cNvSpPr txBox="1"/>
          <p:nvPr/>
        </p:nvSpPr>
        <p:spPr>
          <a:xfrm>
            <a:off x="1828800" y="4555489"/>
            <a:ext cx="443484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IOPS, Throughput &amp; Latency</a:t>
            </a:r>
          </a:p>
        </p:txBody>
      </p:sp>
      <p:sp>
        <p:nvSpPr>
          <p:cNvPr id="51" name="Text 13"/>
          <p:cNvSpPr txBox="1"/>
          <p:nvPr/>
        </p:nvSpPr>
        <p:spPr>
          <a:xfrm>
            <a:off x="1828800" y="5049768"/>
            <a:ext cx="4434840" cy="40692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2000"/>
              </a:lnSpc>
              <a:defRPr sz="1100">
                <a:solidFill>
                  <a:srgbClr val="5B6B7C"/>
                </a:solidFill>
              </a:defRPr>
            </a:lvl1pPr>
          </a:lstStyle>
          <a:p>
            <a:pPr/>
            <a:r>
              <a:t>IOPS (operations/sec), throughput (MB/s), and latency (response delay) together define how well storage keeps pace with application demand.</a:t>
            </a:r>
          </a:p>
        </p:txBody>
      </p:sp>
      <p:sp>
        <p:nvSpPr>
          <p:cNvPr id="52" name="Shape 14"/>
          <p:cNvSpPr/>
          <p:nvPr/>
        </p:nvSpPr>
        <p:spPr>
          <a:xfrm>
            <a:off x="6858000" y="1481327"/>
            <a:ext cx="4800600" cy="4663442"/>
          </a:xfrm>
          <a:prstGeom prst="roundRect">
            <a:avLst>
              <a:gd name="adj" fmla="val 1569"/>
            </a:avLst>
          </a:prstGeom>
          <a:solidFill>
            <a:srgbClr val="002050"/>
          </a:solidFill>
          <a:ln w="12700">
            <a:solidFill>
              <a:srgbClr val="002050"/>
            </a:solidFill>
          </a:ln>
        </p:spPr>
        <p:txBody>
          <a:bodyPr lIns="45719" rIns="45719"/>
          <a:lstStyle/>
          <a:p>
            <a:pPr/>
          </a:p>
        </p:txBody>
      </p:sp>
      <p:sp>
        <p:nvSpPr>
          <p:cNvPr id="53" name="Text 15"/>
          <p:cNvSpPr txBox="1"/>
          <p:nvPr/>
        </p:nvSpPr>
        <p:spPr>
          <a:xfrm>
            <a:off x="7132319" y="1668824"/>
            <a:ext cx="42519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20" sz="1000">
                <a:solidFill>
                  <a:srgbClr val="50E6FF"/>
                </a:solidFill>
              </a:defRPr>
            </a:lvl1pPr>
          </a:lstStyle>
          <a:p>
            <a:pPr/>
            <a:r>
              <a:t>SIMPLE AZURE STORAGE ARCHITECTURE</a:t>
            </a:r>
          </a:p>
        </p:txBody>
      </p:sp>
      <p:sp>
        <p:nvSpPr>
          <p:cNvPr id="54" name="Shape 16"/>
          <p:cNvSpPr/>
          <p:nvPr/>
        </p:nvSpPr>
        <p:spPr>
          <a:xfrm>
            <a:off x="7680959" y="2148839"/>
            <a:ext cx="3291841" cy="868681"/>
          </a:xfrm>
          <a:prstGeom prst="roundRect">
            <a:avLst>
              <a:gd name="adj" fmla="val 8421"/>
            </a:avLst>
          </a:prstGeom>
          <a:solidFill>
            <a:srgbClr val="0A2E5C"/>
          </a:solidFill>
          <a:ln w="12700">
            <a:solidFill>
              <a:srgbClr val="2B88D8"/>
            </a:solidFill>
          </a:ln>
        </p:spPr>
        <p:txBody>
          <a:bodyPr lIns="45719" rIns="45719"/>
          <a:lstStyle/>
          <a:p>
            <a:pPr/>
          </a:p>
        </p:txBody>
      </p:sp>
      <p:sp>
        <p:nvSpPr>
          <p:cNvPr id="55" name="Shape 17"/>
          <p:cNvSpPr/>
          <p:nvPr/>
        </p:nvSpPr>
        <p:spPr>
          <a:xfrm>
            <a:off x="7808976" y="2322576"/>
            <a:ext cx="530353" cy="53035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56" name="Image 3" descr="Image 3"/>
          <p:cNvPicPr>
            <a:picLocks noChangeAspect="1"/>
          </p:cNvPicPr>
          <p:nvPr/>
        </p:nvPicPr>
        <p:blipFill>
          <a:blip r:embed="rId6">
            <a:extLst/>
          </a:blip>
          <a:stretch>
            <a:fillRect/>
          </a:stretch>
        </p:blipFill>
        <p:spPr>
          <a:xfrm>
            <a:off x="7877922" y="2391522"/>
            <a:ext cx="392461" cy="392461"/>
          </a:xfrm>
          <a:prstGeom prst="rect">
            <a:avLst/>
          </a:prstGeom>
          <a:ln w="12700">
            <a:miter lim="400000"/>
          </a:ln>
        </p:spPr>
      </p:pic>
      <p:sp>
        <p:nvSpPr>
          <p:cNvPr id="57" name="Text 18"/>
          <p:cNvSpPr txBox="1"/>
          <p:nvPr/>
        </p:nvSpPr>
        <p:spPr>
          <a:xfrm>
            <a:off x="8503919" y="2459027"/>
            <a:ext cx="22860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FFFFFF"/>
                </a:solidFill>
              </a:defRPr>
            </a:lvl1pPr>
          </a:lstStyle>
          <a:p>
            <a:pPr/>
            <a:r>
              <a:t>Client Application</a:t>
            </a:r>
          </a:p>
        </p:txBody>
      </p:sp>
      <p:sp>
        <p:nvSpPr>
          <p:cNvPr id="58" name="Shape 19"/>
          <p:cNvSpPr/>
          <p:nvPr/>
        </p:nvSpPr>
        <p:spPr>
          <a:xfrm>
            <a:off x="9208007" y="3044951"/>
            <a:ext cx="237744" cy="2560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572"/>
                </a:moveTo>
                <a:lnTo>
                  <a:pt x="5400" y="11572"/>
                </a:lnTo>
                <a:lnTo>
                  <a:pt x="5400" y="0"/>
                </a:lnTo>
                <a:lnTo>
                  <a:pt x="16200" y="0"/>
                </a:lnTo>
                <a:lnTo>
                  <a:pt x="16200" y="11572"/>
                </a:lnTo>
                <a:lnTo>
                  <a:pt x="21600" y="11572"/>
                </a:lnTo>
                <a:lnTo>
                  <a:pt x="10800" y="21600"/>
                </a:lnTo>
                <a:close/>
              </a:path>
            </a:pathLst>
          </a:custGeom>
          <a:solidFill>
            <a:srgbClr val="50E6FF"/>
          </a:solidFill>
          <a:ln w="12700">
            <a:miter lim="400000"/>
          </a:ln>
        </p:spPr>
        <p:txBody>
          <a:bodyPr lIns="45719" rIns="45719"/>
          <a:lstStyle/>
          <a:p>
            <a:pPr/>
          </a:p>
        </p:txBody>
      </p:sp>
      <p:sp>
        <p:nvSpPr>
          <p:cNvPr id="59" name="Shape 20"/>
          <p:cNvSpPr/>
          <p:nvPr/>
        </p:nvSpPr>
        <p:spPr>
          <a:xfrm>
            <a:off x="7680959" y="3319271"/>
            <a:ext cx="3291841" cy="868681"/>
          </a:xfrm>
          <a:prstGeom prst="roundRect">
            <a:avLst>
              <a:gd name="adj" fmla="val 8421"/>
            </a:avLst>
          </a:prstGeom>
          <a:solidFill>
            <a:srgbClr val="0A2E5C"/>
          </a:solidFill>
          <a:ln w="12700">
            <a:solidFill>
              <a:srgbClr val="2B88D8"/>
            </a:solidFill>
          </a:ln>
        </p:spPr>
        <p:txBody>
          <a:bodyPr lIns="45719" rIns="45719"/>
          <a:lstStyle/>
          <a:p>
            <a:pPr/>
          </a:p>
        </p:txBody>
      </p:sp>
      <p:sp>
        <p:nvSpPr>
          <p:cNvPr id="60" name="Shape 21"/>
          <p:cNvSpPr/>
          <p:nvPr/>
        </p:nvSpPr>
        <p:spPr>
          <a:xfrm>
            <a:off x="7808976" y="3493008"/>
            <a:ext cx="530353" cy="53035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61" name="Image 4" descr="Image 4"/>
          <p:cNvPicPr>
            <a:picLocks noChangeAspect="1"/>
          </p:cNvPicPr>
          <p:nvPr/>
        </p:nvPicPr>
        <p:blipFill>
          <a:blip r:embed="rId7">
            <a:extLst/>
          </a:blip>
          <a:stretch>
            <a:fillRect/>
          </a:stretch>
        </p:blipFill>
        <p:spPr>
          <a:xfrm>
            <a:off x="7877922" y="3561953"/>
            <a:ext cx="392461" cy="392461"/>
          </a:xfrm>
          <a:prstGeom prst="rect">
            <a:avLst/>
          </a:prstGeom>
          <a:ln w="12700">
            <a:miter lim="400000"/>
          </a:ln>
        </p:spPr>
      </p:pic>
      <p:sp>
        <p:nvSpPr>
          <p:cNvPr id="62" name="Text 22"/>
          <p:cNvSpPr txBox="1"/>
          <p:nvPr/>
        </p:nvSpPr>
        <p:spPr>
          <a:xfrm>
            <a:off x="8503919" y="3629459"/>
            <a:ext cx="22860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FFFFFF"/>
                </a:solidFill>
              </a:defRPr>
            </a:lvl1pPr>
          </a:lstStyle>
          <a:p>
            <a:pPr/>
            <a:r>
              <a:t>Azure Network / Endpoint</a:t>
            </a:r>
          </a:p>
        </p:txBody>
      </p:sp>
      <p:sp>
        <p:nvSpPr>
          <p:cNvPr id="63" name="Shape 23"/>
          <p:cNvSpPr/>
          <p:nvPr/>
        </p:nvSpPr>
        <p:spPr>
          <a:xfrm>
            <a:off x="9208007" y="4215384"/>
            <a:ext cx="237744" cy="2560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572"/>
                </a:moveTo>
                <a:lnTo>
                  <a:pt x="5400" y="11572"/>
                </a:lnTo>
                <a:lnTo>
                  <a:pt x="5400" y="0"/>
                </a:lnTo>
                <a:lnTo>
                  <a:pt x="16200" y="0"/>
                </a:lnTo>
                <a:lnTo>
                  <a:pt x="16200" y="11572"/>
                </a:lnTo>
                <a:lnTo>
                  <a:pt x="21600" y="11572"/>
                </a:lnTo>
                <a:lnTo>
                  <a:pt x="10800" y="21600"/>
                </a:lnTo>
                <a:close/>
              </a:path>
            </a:pathLst>
          </a:custGeom>
          <a:solidFill>
            <a:srgbClr val="50E6FF"/>
          </a:solidFill>
          <a:ln w="12700">
            <a:miter lim="400000"/>
          </a:ln>
        </p:spPr>
        <p:txBody>
          <a:bodyPr lIns="45719" rIns="45719"/>
          <a:lstStyle/>
          <a:p>
            <a:pPr/>
          </a:p>
        </p:txBody>
      </p:sp>
      <p:sp>
        <p:nvSpPr>
          <p:cNvPr id="64" name="Shape 24"/>
          <p:cNvSpPr/>
          <p:nvPr/>
        </p:nvSpPr>
        <p:spPr>
          <a:xfrm>
            <a:off x="7680959" y="4489703"/>
            <a:ext cx="3291841" cy="868681"/>
          </a:xfrm>
          <a:prstGeom prst="roundRect">
            <a:avLst>
              <a:gd name="adj" fmla="val 8421"/>
            </a:avLst>
          </a:prstGeom>
          <a:solidFill>
            <a:srgbClr val="0A2E5C"/>
          </a:solidFill>
          <a:ln w="12700">
            <a:solidFill>
              <a:srgbClr val="2B88D8"/>
            </a:solidFill>
          </a:ln>
        </p:spPr>
        <p:txBody>
          <a:bodyPr lIns="45719" rIns="45719"/>
          <a:lstStyle/>
          <a:p>
            <a:pPr/>
          </a:p>
        </p:txBody>
      </p:sp>
      <p:sp>
        <p:nvSpPr>
          <p:cNvPr id="65" name="Shape 25"/>
          <p:cNvSpPr/>
          <p:nvPr/>
        </p:nvSpPr>
        <p:spPr>
          <a:xfrm>
            <a:off x="7808976" y="4663440"/>
            <a:ext cx="530353" cy="53035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66" name="Image 5" descr="Image 5"/>
          <p:cNvPicPr>
            <a:picLocks noChangeAspect="1"/>
          </p:cNvPicPr>
          <p:nvPr/>
        </p:nvPicPr>
        <p:blipFill>
          <a:blip r:embed="rId8">
            <a:extLst/>
          </a:blip>
          <a:stretch>
            <a:fillRect/>
          </a:stretch>
        </p:blipFill>
        <p:spPr>
          <a:xfrm>
            <a:off x="7877922" y="4732385"/>
            <a:ext cx="392461" cy="392461"/>
          </a:xfrm>
          <a:prstGeom prst="rect">
            <a:avLst/>
          </a:prstGeom>
          <a:ln w="12700">
            <a:miter lim="400000"/>
          </a:ln>
        </p:spPr>
      </p:pic>
      <p:sp>
        <p:nvSpPr>
          <p:cNvPr id="67" name="Text 26"/>
          <p:cNvSpPr txBox="1"/>
          <p:nvPr/>
        </p:nvSpPr>
        <p:spPr>
          <a:xfrm>
            <a:off x="8503919" y="4704641"/>
            <a:ext cx="2286001"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200">
                <a:solidFill>
                  <a:srgbClr val="FFFFFF"/>
                </a:solidFill>
              </a:defRPr>
            </a:pPr>
            <a:r>
              <a:t>Azure Storage</a:t>
            </a:r>
          </a:p>
          <a:p>
            <a:pPr>
              <a:defRPr b="1" sz="1200">
                <a:solidFill>
                  <a:srgbClr val="FFFFFF"/>
                </a:solidFill>
              </a:defRPr>
            </a:pPr>
            <a:r>
              <a:t>(Disk / Blob / File)</a:t>
            </a:r>
          </a:p>
        </p:txBody>
      </p:sp>
      <p:sp>
        <p:nvSpPr>
          <p:cNvPr id="68" name="Text 27"/>
          <p:cNvSpPr txBox="1"/>
          <p:nvPr/>
        </p:nvSpPr>
        <p:spPr>
          <a:xfrm>
            <a:off x="7132319" y="5934500"/>
            <a:ext cx="4251961" cy="2285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i="1" sz="1000">
                <a:solidFill>
                  <a:srgbClr val="CFE3F7"/>
                </a:solidFill>
              </a:defRPr>
            </a:lvl1pPr>
          </a:lstStyle>
          <a:p>
            <a:pPr/>
            <a:r>
              <a:t>Data flows securely from application to durable, scalable storage.</a:t>
            </a:r>
          </a:p>
        </p:txBody>
      </p:sp>
      <p:sp>
        <p:nvSpPr>
          <p:cNvPr id="69" name="Text 28"/>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70" name="Shape 29"/>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71" name="Text 30"/>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2050"/>
        </a:solidFill>
      </p:bgPr>
    </p:bg>
    <p:spTree>
      <p:nvGrpSpPr>
        <p:cNvPr id="1" name=""/>
        <p:cNvGrpSpPr/>
        <p:nvPr/>
      </p:nvGrpSpPr>
      <p:grpSpPr>
        <a:xfrm>
          <a:off x="0" y="0"/>
          <a:ext cx="0" cy="0"/>
          <a:chOff x="0" y="0"/>
          <a:chExt cx="0" cy="0"/>
        </a:xfrm>
      </p:grpSpPr>
      <p:sp>
        <p:nvSpPr>
          <p:cNvPr id="75" name="Shape 0"/>
          <p:cNvSpPr/>
          <p:nvPr/>
        </p:nvSpPr>
        <p:spPr>
          <a:xfrm>
            <a:off x="9692640" y="4206240"/>
            <a:ext cx="4114801" cy="4114801"/>
          </a:xfrm>
          <a:prstGeom prst="ellipse">
            <a:avLst/>
          </a:prstGeom>
          <a:solidFill>
            <a:srgbClr val="0A2E5C"/>
          </a:solidFill>
          <a:ln w="12700">
            <a:miter lim="400000"/>
          </a:ln>
        </p:spPr>
        <p:txBody>
          <a:bodyPr lIns="45719" rIns="45719"/>
          <a:lstStyle/>
          <a:p>
            <a:pPr/>
          </a:p>
        </p:txBody>
      </p:sp>
      <p:sp>
        <p:nvSpPr>
          <p:cNvPr id="76" name="Text 1"/>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50E6FF"/>
                </a:solidFill>
              </a:defRPr>
            </a:lvl1pPr>
          </a:lstStyle>
          <a:p>
            <a:pPr/>
            <a:r>
              <a:t>PROBLEM STATEMENT</a:t>
            </a:r>
          </a:p>
        </p:txBody>
      </p:sp>
      <p:sp>
        <p:nvSpPr>
          <p:cNvPr id="77" name="Text 2"/>
          <p:cNvSpPr txBox="1"/>
          <p:nvPr/>
        </p:nvSpPr>
        <p:spPr>
          <a:xfrm>
            <a:off x="594359" y="704088"/>
            <a:ext cx="1042416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FFFFFF"/>
                </a:solidFill>
                <a:latin typeface="Cambria"/>
                <a:ea typeface="Cambria"/>
                <a:cs typeface="Cambria"/>
                <a:sym typeface="Cambria"/>
              </a:defRPr>
            </a:lvl1pPr>
          </a:lstStyle>
          <a:p>
            <a:pPr/>
            <a:r>
              <a:t>Why Performance Tier Selection Matters</a:t>
            </a:r>
          </a:p>
        </p:txBody>
      </p:sp>
      <p:sp>
        <p:nvSpPr>
          <p:cNvPr id="78" name="Shape 3"/>
          <p:cNvSpPr/>
          <p:nvPr/>
        </p:nvSpPr>
        <p:spPr>
          <a:xfrm>
            <a:off x="640080" y="1600200"/>
            <a:ext cx="10881360" cy="1417320"/>
          </a:xfrm>
          <a:prstGeom prst="roundRect">
            <a:avLst>
              <a:gd name="adj" fmla="val 5161"/>
            </a:avLst>
          </a:prstGeom>
          <a:solidFill>
            <a:srgbClr val="0A2E5C"/>
          </a:solidFill>
          <a:ln w="12700">
            <a:solidFill>
              <a:srgbClr val="15477F"/>
            </a:solidFill>
          </a:ln>
        </p:spPr>
        <p:txBody>
          <a:bodyPr lIns="45719" rIns="45719"/>
          <a:lstStyle/>
          <a:p>
            <a:pPr/>
          </a:p>
        </p:txBody>
      </p:sp>
      <p:sp>
        <p:nvSpPr>
          <p:cNvPr id="79" name="Shape 4"/>
          <p:cNvSpPr/>
          <p:nvPr/>
        </p:nvSpPr>
        <p:spPr>
          <a:xfrm>
            <a:off x="896111" y="1856232"/>
            <a:ext cx="914401" cy="91440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80" name="Image 0" descr="Image 0"/>
          <p:cNvPicPr>
            <a:picLocks noChangeAspect="1"/>
          </p:cNvPicPr>
          <p:nvPr/>
        </p:nvPicPr>
        <p:blipFill>
          <a:blip r:embed="rId3">
            <a:extLst/>
          </a:blip>
          <a:stretch>
            <a:fillRect/>
          </a:stretch>
        </p:blipFill>
        <p:spPr>
          <a:xfrm>
            <a:off x="1014983" y="1975104"/>
            <a:ext cx="676657" cy="676657"/>
          </a:xfrm>
          <a:prstGeom prst="rect">
            <a:avLst/>
          </a:prstGeom>
          <a:ln w="12700">
            <a:miter lim="400000"/>
          </a:ln>
        </p:spPr>
      </p:pic>
      <p:sp>
        <p:nvSpPr>
          <p:cNvPr id="81" name="Text 5"/>
          <p:cNvSpPr txBox="1"/>
          <p:nvPr/>
        </p:nvSpPr>
        <p:spPr>
          <a:xfrm>
            <a:off x="2057399" y="2030490"/>
            <a:ext cx="9144001" cy="5567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400">
                <a:solidFill>
                  <a:srgbClr val="E4EFFB"/>
                </a:solidFill>
              </a:defRPr>
            </a:lvl1pPr>
          </a:lstStyle>
          <a:p>
            <a:pPr/>
            <a:r>
              <a:t>Modern cloud applications place very different demands on storage — from light archival access to high-frequency transactional read/write — depending entirely on the nature of the workload they support.</a:t>
            </a:r>
          </a:p>
        </p:txBody>
      </p:sp>
      <p:sp>
        <p:nvSpPr>
          <p:cNvPr id="82" name="Shape 6"/>
          <p:cNvSpPr/>
          <p:nvPr/>
        </p:nvSpPr>
        <p:spPr>
          <a:xfrm>
            <a:off x="640080" y="3337559"/>
            <a:ext cx="10881360" cy="2331721"/>
          </a:xfrm>
          <a:prstGeom prst="roundRect">
            <a:avLst>
              <a:gd name="adj" fmla="val 3137"/>
            </a:avLst>
          </a:prstGeom>
          <a:solidFill>
            <a:srgbClr val="0078D4"/>
          </a:solidFill>
          <a:ln w="12700">
            <a:solidFill>
              <a:srgbClr val="0078D4"/>
            </a:solidFill>
          </a:ln>
        </p:spPr>
        <p:txBody>
          <a:bodyPr lIns="45719" rIns="45719"/>
          <a:lstStyle/>
          <a:p>
            <a:pPr/>
          </a:p>
        </p:txBody>
      </p:sp>
      <p:sp>
        <p:nvSpPr>
          <p:cNvPr id="83" name="Text 7"/>
          <p:cNvSpPr txBox="1"/>
          <p:nvPr/>
        </p:nvSpPr>
        <p:spPr>
          <a:xfrm>
            <a:off x="1051559" y="3599609"/>
            <a:ext cx="99669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50E6FF"/>
                </a:solidFill>
              </a:defRPr>
            </a:lvl1pPr>
          </a:lstStyle>
          <a:p>
            <a:pPr/>
            <a:r>
              <a:t>THE CORE PROBLEM</a:t>
            </a:r>
          </a:p>
        </p:txBody>
      </p:sp>
      <p:sp>
        <p:nvSpPr>
          <p:cNvPr id="84" name="Text 8"/>
          <p:cNvSpPr txBox="1"/>
          <p:nvPr/>
        </p:nvSpPr>
        <p:spPr>
          <a:xfrm>
            <a:off x="1051559" y="4254500"/>
            <a:ext cx="10058401" cy="8178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2200">
                <a:solidFill>
                  <a:srgbClr val="FFFFFF"/>
                </a:solidFill>
                <a:latin typeface="Cambria"/>
                <a:ea typeface="Cambria"/>
                <a:cs typeface="Cambria"/>
                <a:sym typeface="Cambria"/>
              </a:defRPr>
            </a:lvl1pPr>
          </a:lstStyle>
          <a:p>
            <a:pPr/>
            <a:r>
              <a:t>“How can we select the appropriate Azure Storage performance tier to achieve the required application performance while controlling cost?”</a:t>
            </a:r>
          </a:p>
        </p:txBody>
      </p:sp>
      <p:sp>
        <p:nvSpPr>
          <p:cNvPr id="85" name="Text 9"/>
          <p:cNvSpPr txBox="1"/>
          <p:nvPr/>
        </p:nvSpPr>
        <p:spPr>
          <a:xfrm>
            <a:off x="685800" y="5956607"/>
            <a:ext cx="1078992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200">
                <a:solidFill>
                  <a:srgbClr val="CFE3F7"/>
                </a:solidFill>
              </a:defRPr>
            </a:lvl1pPr>
          </a:lstStyle>
          <a:p>
            <a:pPr/>
            <a:r>
              <a:t>Balancing performance requirements against budget constraints is the central engineering challenge addressed by this project.</a:t>
            </a:r>
          </a:p>
        </p:txBody>
      </p:sp>
      <p:sp>
        <p:nvSpPr>
          <p:cNvPr id="86" name="Text 10"/>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87" name="Shape 11"/>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88" name="Text 12"/>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92"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PROJECT OBJECTIVE</a:t>
            </a:r>
          </a:p>
        </p:txBody>
      </p:sp>
      <p:sp>
        <p:nvSpPr>
          <p:cNvPr id="93"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What This Project Sets Out to Do</a:t>
            </a:r>
          </a:p>
        </p:txBody>
      </p:sp>
      <p:sp>
        <p:nvSpPr>
          <p:cNvPr id="94" name="Shape 2"/>
          <p:cNvSpPr/>
          <p:nvPr/>
        </p:nvSpPr>
        <p:spPr>
          <a:xfrm>
            <a:off x="548640" y="1600200"/>
            <a:ext cx="3611880" cy="2148840"/>
          </a:xfrm>
          <a:prstGeom prst="roundRect">
            <a:avLst>
              <a:gd name="adj" fmla="val 340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95" name="Shape 3"/>
          <p:cNvSpPr/>
          <p:nvPr/>
        </p:nvSpPr>
        <p:spPr>
          <a:xfrm>
            <a:off x="804672" y="1892807"/>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96" name="Image 0" descr="Image 0"/>
          <p:cNvPicPr>
            <a:picLocks noChangeAspect="1"/>
          </p:cNvPicPr>
          <p:nvPr/>
        </p:nvPicPr>
        <p:blipFill>
          <a:blip r:embed="rId3">
            <a:extLst/>
          </a:blip>
          <a:stretch>
            <a:fillRect/>
          </a:stretch>
        </p:blipFill>
        <p:spPr>
          <a:xfrm>
            <a:off x="904523" y="1992659"/>
            <a:ext cx="513528" cy="513528"/>
          </a:xfrm>
          <a:prstGeom prst="rect">
            <a:avLst/>
          </a:prstGeom>
          <a:ln w="12700">
            <a:miter lim="400000"/>
          </a:ln>
        </p:spPr>
      </p:pic>
      <p:sp>
        <p:nvSpPr>
          <p:cNvPr id="97" name="Text 4"/>
          <p:cNvSpPr txBox="1"/>
          <p:nvPr/>
        </p:nvSpPr>
        <p:spPr>
          <a:xfrm>
            <a:off x="3429000" y="1719325"/>
            <a:ext cx="5486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2000">
                <a:solidFill>
                  <a:srgbClr val="D7E6F5"/>
                </a:solidFill>
                <a:latin typeface="Cambria"/>
                <a:ea typeface="Cambria"/>
                <a:cs typeface="Cambria"/>
                <a:sym typeface="Cambria"/>
              </a:defRPr>
            </a:lvl1pPr>
          </a:lstStyle>
          <a:p>
            <a:pPr/>
            <a:r>
              <a:t>01</a:t>
            </a:r>
          </a:p>
        </p:txBody>
      </p:sp>
      <p:sp>
        <p:nvSpPr>
          <p:cNvPr id="98" name="Text 5"/>
          <p:cNvSpPr txBox="1"/>
          <p:nvPr/>
        </p:nvSpPr>
        <p:spPr>
          <a:xfrm>
            <a:off x="850391" y="2783331"/>
            <a:ext cx="3008378"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04999"/>
              </a:lnSpc>
              <a:defRPr sz="1400">
                <a:solidFill>
                  <a:srgbClr val="002050"/>
                </a:solidFill>
                <a:latin typeface="Cambria"/>
                <a:ea typeface="Cambria"/>
                <a:cs typeface="Cambria"/>
                <a:sym typeface="Cambria"/>
              </a:defRPr>
            </a:lvl1pPr>
          </a:lstStyle>
          <a:p>
            <a:pPr/>
            <a:r>
              <a:t>Analyze Workload Requirements</a:t>
            </a:r>
          </a:p>
        </p:txBody>
      </p:sp>
      <p:sp>
        <p:nvSpPr>
          <p:cNvPr id="99" name="Text 6"/>
          <p:cNvSpPr txBox="1"/>
          <p:nvPr/>
        </p:nvSpPr>
        <p:spPr>
          <a:xfrm>
            <a:off x="850391" y="3203626"/>
            <a:ext cx="3008378" cy="41417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5B6B7C"/>
                </a:solidFill>
              </a:defRPr>
            </a:lvl1pPr>
          </a:lstStyle>
          <a:p>
            <a:pPr/>
            <a:r>
              <a:t>Identify access patterns, latency, and throughput needs of the target application.</a:t>
            </a:r>
          </a:p>
        </p:txBody>
      </p:sp>
      <p:sp>
        <p:nvSpPr>
          <p:cNvPr id="100" name="Shape 7"/>
          <p:cNvSpPr/>
          <p:nvPr/>
        </p:nvSpPr>
        <p:spPr>
          <a:xfrm>
            <a:off x="4389120" y="1600200"/>
            <a:ext cx="3611880" cy="2148840"/>
          </a:xfrm>
          <a:prstGeom prst="roundRect">
            <a:avLst>
              <a:gd name="adj" fmla="val 340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101" name="Shape 8"/>
          <p:cNvSpPr/>
          <p:nvPr/>
        </p:nvSpPr>
        <p:spPr>
          <a:xfrm>
            <a:off x="4645152" y="1892807"/>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02" name="Image 1" descr="Image 1"/>
          <p:cNvPicPr>
            <a:picLocks noChangeAspect="1"/>
          </p:cNvPicPr>
          <p:nvPr/>
        </p:nvPicPr>
        <p:blipFill>
          <a:blip r:embed="rId4">
            <a:extLst/>
          </a:blip>
          <a:stretch>
            <a:fillRect/>
          </a:stretch>
        </p:blipFill>
        <p:spPr>
          <a:xfrm>
            <a:off x="4745004" y="1992659"/>
            <a:ext cx="513528" cy="513528"/>
          </a:xfrm>
          <a:prstGeom prst="rect">
            <a:avLst/>
          </a:prstGeom>
          <a:ln w="12700">
            <a:miter lim="400000"/>
          </a:ln>
        </p:spPr>
      </p:pic>
      <p:sp>
        <p:nvSpPr>
          <p:cNvPr id="103" name="Text 9"/>
          <p:cNvSpPr txBox="1"/>
          <p:nvPr/>
        </p:nvSpPr>
        <p:spPr>
          <a:xfrm>
            <a:off x="7269479" y="1719325"/>
            <a:ext cx="5486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2000">
                <a:solidFill>
                  <a:srgbClr val="D7E6F5"/>
                </a:solidFill>
                <a:latin typeface="Cambria"/>
                <a:ea typeface="Cambria"/>
                <a:cs typeface="Cambria"/>
                <a:sym typeface="Cambria"/>
              </a:defRPr>
            </a:lvl1pPr>
          </a:lstStyle>
          <a:p>
            <a:pPr/>
            <a:r>
              <a:t>02</a:t>
            </a:r>
          </a:p>
        </p:txBody>
      </p:sp>
      <p:sp>
        <p:nvSpPr>
          <p:cNvPr id="104" name="Text 10"/>
          <p:cNvSpPr txBox="1"/>
          <p:nvPr/>
        </p:nvSpPr>
        <p:spPr>
          <a:xfrm>
            <a:off x="4690872" y="2783331"/>
            <a:ext cx="3008377"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04999"/>
              </a:lnSpc>
              <a:defRPr sz="1400">
                <a:solidFill>
                  <a:srgbClr val="002050"/>
                </a:solidFill>
                <a:latin typeface="Cambria"/>
                <a:ea typeface="Cambria"/>
                <a:cs typeface="Cambria"/>
                <a:sym typeface="Cambria"/>
              </a:defRPr>
            </a:lvl1pPr>
          </a:lstStyle>
          <a:p>
            <a:pPr/>
            <a:r>
              <a:t>Understand Storage Options</a:t>
            </a:r>
          </a:p>
        </p:txBody>
      </p:sp>
      <p:sp>
        <p:nvSpPr>
          <p:cNvPr id="105" name="Text 11"/>
          <p:cNvSpPr txBox="1"/>
          <p:nvPr/>
        </p:nvSpPr>
        <p:spPr>
          <a:xfrm>
            <a:off x="4690872" y="3203626"/>
            <a:ext cx="3008377" cy="41417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5B6B7C"/>
                </a:solidFill>
              </a:defRPr>
            </a:lvl1pPr>
          </a:lstStyle>
          <a:p>
            <a:pPr/>
            <a:r>
              <a:t>Study Azure’s storage performance tiers — HDD, Standard SSD, and Premium SSD.</a:t>
            </a:r>
          </a:p>
        </p:txBody>
      </p:sp>
      <p:sp>
        <p:nvSpPr>
          <p:cNvPr id="106" name="Shape 12"/>
          <p:cNvSpPr/>
          <p:nvPr/>
        </p:nvSpPr>
        <p:spPr>
          <a:xfrm>
            <a:off x="8229600" y="1600200"/>
            <a:ext cx="3611880" cy="2148840"/>
          </a:xfrm>
          <a:prstGeom prst="roundRect">
            <a:avLst>
              <a:gd name="adj" fmla="val 340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107" name="Shape 13"/>
          <p:cNvSpPr/>
          <p:nvPr/>
        </p:nvSpPr>
        <p:spPr>
          <a:xfrm>
            <a:off x="8485631" y="1892807"/>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08" name="Image 2" descr="Image 2"/>
          <p:cNvPicPr>
            <a:picLocks noChangeAspect="1"/>
          </p:cNvPicPr>
          <p:nvPr/>
        </p:nvPicPr>
        <p:blipFill>
          <a:blip r:embed="rId5">
            <a:extLst/>
          </a:blip>
          <a:stretch>
            <a:fillRect/>
          </a:stretch>
        </p:blipFill>
        <p:spPr>
          <a:xfrm>
            <a:off x="8585483" y="1992659"/>
            <a:ext cx="513528" cy="513528"/>
          </a:xfrm>
          <a:prstGeom prst="rect">
            <a:avLst/>
          </a:prstGeom>
          <a:ln w="12700">
            <a:miter lim="400000"/>
          </a:ln>
        </p:spPr>
      </p:pic>
      <p:sp>
        <p:nvSpPr>
          <p:cNvPr id="109" name="Text 14"/>
          <p:cNvSpPr txBox="1"/>
          <p:nvPr/>
        </p:nvSpPr>
        <p:spPr>
          <a:xfrm>
            <a:off x="11109959" y="1719325"/>
            <a:ext cx="5486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2000">
                <a:solidFill>
                  <a:srgbClr val="D7E6F5"/>
                </a:solidFill>
                <a:latin typeface="Cambria"/>
                <a:ea typeface="Cambria"/>
                <a:cs typeface="Cambria"/>
                <a:sym typeface="Cambria"/>
              </a:defRPr>
            </a:lvl1pPr>
          </a:lstStyle>
          <a:p>
            <a:pPr/>
            <a:r>
              <a:t>03</a:t>
            </a:r>
          </a:p>
        </p:txBody>
      </p:sp>
      <p:sp>
        <p:nvSpPr>
          <p:cNvPr id="110" name="Text 15"/>
          <p:cNvSpPr txBox="1"/>
          <p:nvPr/>
        </p:nvSpPr>
        <p:spPr>
          <a:xfrm>
            <a:off x="8531351" y="2783331"/>
            <a:ext cx="3008377"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04999"/>
              </a:lnSpc>
              <a:defRPr sz="1400">
                <a:solidFill>
                  <a:srgbClr val="002050"/>
                </a:solidFill>
                <a:latin typeface="Cambria"/>
                <a:ea typeface="Cambria"/>
                <a:cs typeface="Cambria"/>
                <a:sym typeface="Cambria"/>
              </a:defRPr>
            </a:lvl1pPr>
          </a:lstStyle>
          <a:p>
            <a:pPr/>
            <a:r>
              <a:t>Select the Suitable Tier</a:t>
            </a:r>
          </a:p>
        </p:txBody>
      </p:sp>
      <p:sp>
        <p:nvSpPr>
          <p:cNvPr id="111" name="Text 16"/>
          <p:cNvSpPr txBox="1"/>
          <p:nvPr/>
        </p:nvSpPr>
        <p:spPr>
          <a:xfrm>
            <a:off x="8531351" y="3203626"/>
            <a:ext cx="3008377" cy="41417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5B6B7C"/>
                </a:solidFill>
              </a:defRPr>
            </a:lvl1pPr>
          </a:lstStyle>
          <a:p>
            <a:pPr/>
            <a:r>
              <a:t>Match workload demands to the most appropriate performance tier.</a:t>
            </a:r>
          </a:p>
        </p:txBody>
      </p:sp>
      <p:sp>
        <p:nvSpPr>
          <p:cNvPr id="112" name="Shape 17"/>
          <p:cNvSpPr/>
          <p:nvPr/>
        </p:nvSpPr>
        <p:spPr>
          <a:xfrm>
            <a:off x="548640" y="4023359"/>
            <a:ext cx="3611880" cy="2148841"/>
          </a:xfrm>
          <a:prstGeom prst="roundRect">
            <a:avLst>
              <a:gd name="adj" fmla="val 340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113" name="Shape 18"/>
          <p:cNvSpPr/>
          <p:nvPr/>
        </p:nvSpPr>
        <p:spPr>
          <a:xfrm>
            <a:off x="804672" y="4315967"/>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14" name="Image 3" descr="Image 3"/>
          <p:cNvPicPr>
            <a:picLocks noChangeAspect="1"/>
          </p:cNvPicPr>
          <p:nvPr/>
        </p:nvPicPr>
        <p:blipFill>
          <a:blip r:embed="rId6">
            <a:extLst/>
          </a:blip>
          <a:stretch>
            <a:fillRect/>
          </a:stretch>
        </p:blipFill>
        <p:spPr>
          <a:xfrm>
            <a:off x="904523" y="4415819"/>
            <a:ext cx="513528" cy="513528"/>
          </a:xfrm>
          <a:prstGeom prst="rect">
            <a:avLst/>
          </a:prstGeom>
          <a:ln w="12700">
            <a:miter lim="400000"/>
          </a:ln>
        </p:spPr>
      </p:pic>
      <p:sp>
        <p:nvSpPr>
          <p:cNvPr id="115" name="Text 19"/>
          <p:cNvSpPr txBox="1"/>
          <p:nvPr/>
        </p:nvSpPr>
        <p:spPr>
          <a:xfrm>
            <a:off x="3429000" y="4142485"/>
            <a:ext cx="5486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2000">
                <a:solidFill>
                  <a:srgbClr val="D7E6F5"/>
                </a:solidFill>
                <a:latin typeface="Cambria"/>
                <a:ea typeface="Cambria"/>
                <a:cs typeface="Cambria"/>
                <a:sym typeface="Cambria"/>
              </a:defRPr>
            </a:lvl1pPr>
          </a:lstStyle>
          <a:p>
            <a:pPr/>
            <a:r>
              <a:t>04</a:t>
            </a:r>
          </a:p>
        </p:txBody>
      </p:sp>
      <p:sp>
        <p:nvSpPr>
          <p:cNvPr id="116" name="Text 20"/>
          <p:cNvSpPr txBox="1"/>
          <p:nvPr/>
        </p:nvSpPr>
        <p:spPr>
          <a:xfrm>
            <a:off x="850391" y="5206491"/>
            <a:ext cx="3008378"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04999"/>
              </a:lnSpc>
              <a:defRPr sz="1400">
                <a:solidFill>
                  <a:srgbClr val="002050"/>
                </a:solidFill>
                <a:latin typeface="Cambria"/>
                <a:ea typeface="Cambria"/>
                <a:cs typeface="Cambria"/>
                <a:sym typeface="Cambria"/>
              </a:defRPr>
            </a:lvl1pPr>
          </a:lstStyle>
          <a:p>
            <a:pPr/>
            <a:r>
              <a:t>Configure Azure Resources</a:t>
            </a:r>
          </a:p>
        </p:txBody>
      </p:sp>
      <p:sp>
        <p:nvSpPr>
          <p:cNvPr id="117" name="Text 21"/>
          <p:cNvSpPr txBox="1"/>
          <p:nvPr/>
        </p:nvSpPr>
        <p:spPr>
          <a:xfrm>
            <a:off x="850391" y="5626786"/>
            <a:ext cx="3008378" cy="41417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5B6B7C"/>
                </a:solidFill>
              </a:defRPr>
            </a:lvl1pPr>
          </a:lstStyle>
          <a:p>
            <a:pPr/>
            <a:r>
              <a:t>Provision and configure managed disks and storage settings in Azure.</a:t>
            </a:r>
          </a:p>
        </p:txBody>
      </p:sp>
      <p:sp>
        <p:nvSpPr>
          <p:cNvPr id="118" name="Shape 22"/>
          <p:cNvSpPr/>
          <p:nvPr/>
        </p:nvSpPr>
        <p:spPr>
          <a:xfrm>
            <a:off x="4389120" y="4023359"/>
            <a:ext cx="3611880" cy="2148841"/>
          </a:xfrm>
          <a:prstGeom prst="roundRect">
            <a:avLst>
              <a:gd name="adj" fmla="val 3404"/>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119" name="Shape 23"/>
          <p:cNvSpPr/>
          <p:nvPr/>
        </p:nvSpPr>
        <p:spPr>
          <a:xfrm>
            <a:off x="4645152" y="4315967"/>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20" name="Image 4" descr="Image 4"/>
          <p:cNvPicPr>
            <a:picLocks noChangeAspect="1"/>
          </p:cNvPicPr>
          <p:nvPr/>
        </p:nvPicPr>
        <p:blipFill>
          <a:blip r:embed="rId7">
            <a:extLst/>
          </a:blip>
          <a:stretch>
            <a:fillRect/>
          </a:stretch>
        </p:blipFill>
        <p:spPr>
          <a:xfrm>
            <a:off x="4745004" y="4415819"/>
            <a:ext cx="513528" cy="513528"/>
          </a:xfrm>
          <a:prstGeom prst="rect">
            <a:avLst/>
          </a:prstGeom>
          <a:ln w="12700">
            <a:miter lim="400000"/>
          </a:ln>
        </p:spPr>
      </p:pic>
      <p:sp>
        <p:nvSpPr>
          <p:cNvPr id="121" name="Text 24"/>
          <p:cNvSpPr txBox="1"/>
          <p:nvPr/>
        </p:nvSpPr>
        <p:spPr>
          <a:xfrm>
            <a:off x="7269479" y="4142485"/>
            <a:ext cx="5486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2000">
                <a:solidFill>
                  <a:srgbClr val="D7E6F5"/>
                </a:solidFill>
                <a:latin typeface="Cambria"/>
                <a:ea typeface="Cambria"/>
                <a:cs typeface="Cambria"/>
                <a:sym typeface="Cambria"/>
              </a:defRPr>
            </a:lvl1pPr>
          </a:lstStyle>
          <a:p>
            <a:pPr/>
            <a:r>
              <a:t>05</a:t>
            </a:r>
          </a:p>
        </p:txBody>
      </p:sp>
      <p:sp>
        <p:nvSpPr>
          <p:cNvPr id="122" name="Text 25"/>
          <p:cNvSpPr txBox="1"/>
          <p:nvPr/>
        </p:nvSpPr>
        <p:spPr>
          <a:xfrm>
            <a:off x="4690872" y="5206491"/>
            <a:ext cx="3008377"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04999"/>
              </a:lnSpc>
              <a:defRPr sz="1400">
                <a:solidFill>
                  <a:srgbClr val="002050"/>
                </a:solidFill>
                <a:latin typeface="Cambria"/>
                <a:ea typeface="Cambria"/>
                <a:cs typeface="Cambria"/>
                <a:sym typeface="Cambria"/>
              </a:defRPr>
            </a:lvl1pPr>
          </a:lstStyle>
          <a:p>
            <a:pPr/>
            <a:r>
              <a:t>Compare Performance vs. Cost</a:t>
            </a:r>
          </a:p>
        </p:txBody>
      </p:sp>
      <p:sp>
        <p:nvSpPr>
          <p:cNvPr id="123" name="Text 26"/>
          <p:cNvSpPr txBox="1"/>
          <p:nvPr/>
        </p:nvSpPr>
        <p:spPr>
          <a:xfrm>
            <a:off x="4690872" y="5626786"/>
            <a:ext cx="3008377" cy="41417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5B6B7C"/>
                </a:solidFill>
              </a:defRPr>
            </a:lvl1pPr>
          </a:lstStyle>
          <a:p>
            <a:pPr/>
            <a:r>
              <a:t>Evaluate trade-offs to ensure an optimized, cost-aware solution.</a:t>
            </a:r>
          </a:p>
        </p:txBody>
      </p:sp>
      <p:sp>
        <p:nvSpPr>
          <p:cNvPr id="124" name="Text 27"/>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125" name="Shape 28"/>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126" name="Text 29"/>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130"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WORKLOAD SCENARIO</a:t>
            </a:r>
          </a:p>
        </p:txBody>
      </p:sp>
      <p:sp>
        <p:nvSpPr>
          <p:cNvPr id="131"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Assumed Workload Scenario</a:t>
            </a:r>
          </a:p>
        </p:txBody>
      </p:sp>
      <p:sp>
        <p:nvSpPr>
          <p:cNvPr id="132" name="Text 2"/>
          <p:cNvSpPr txBox="1"/>
          <p:nvPr/>
        </p:nvSpPr>
        <p:spPr>
          <a:xfrm>
            <a:off x="594359" y="1206299"/>
            <a:ext cx="1069848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5B6B7C"/>
                </a:solidFill>
              </a:defRPr>
            </a:lvl1pPr>
          </a:lstStyle>
          <a:p>
            <a:pPr/>
            <a:r>
              <a:t>No specific workload was provided — the following representative scenario is assumed for this project.</a:t>
            </a:r>
          </a:p>
        </p:txBody>
      </p:sp>
      <p:sp>
        <p:nvSpPr>
          <p:cNvPr id="133" name="Shape 3"/>
          <p:cNvSpPr/>
          <p:nvPr/>
        </p:nvSpPr>
        <p:spPr>
          <a:xfrm>
            <a:off x="548640" y="1691639"/>
            <a:ext cx="5029201" cy="4480561"/>
          </a:xfrm>
          <a:prstGeom prst="roundRect">
            <a:avLst>
              <a:gd name="adj" fmla="val 1633"/>
            </a:avLst>
          </a:prstGeom>
          <a:solidFill>
            <a:srgbClr val="002050"/>
          </a:solidFill>
          <a:ln w="12700">
            <a:solidFill>
              <a:srgbClr val="002050"/>
            </a:solidFill>
          </a:ln>
        </p:spPr>
        <p:txBody>
          <a:bodyPr lIns="45719" rIns="45719"/>
          <a:lstStyle/>
          <a:p>
            <a:pPr/>
          </a:p>
        </p:txBody>
      </p:sp>
      <p:sp>
        <p:nvSpPr>
          <p:cNvPr id="134" name="Shape 4"/>
          <p:cNvSpPr/>
          <p:nvPr/>
        </p:nvSpPr>
        <p:spPr>
          <a:xfrm>
            <a:off x="822960" y="1938527"/>
            <a:ext cx="777241" cy="777242"/>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35" name="Image 0" descr="Image 0"/>
          <p:cNvPicPr>
            <a:picLocks noChangeAspect="1"/>
          </p:cNvPicPr>
          <p:nvPr/>
        </p:nvPicPr>
        <p:blipFill>
          <a:blip r:embed="rId3">
            <a:extLst/>
          </a:blip>
          <a:stretch>
            <a:fillRect/>
          </a:stretch>
        </p:blipFill>
        <p:spPr>
          <a:xfrm>
            <a:off x="924000" y="2039568"/>
            <a:ext cx="575159" cy="575159"/>
          </a:xfrm>
          <a:prstGeom prst="rect">
            <a:avLst/>
          </a:prstGeom>
          <a:ln w="12700">
            <a:miter lim="400000"/>
          </a:ln>
        </p:spPr>
      </p:pic>
      <p:sp>
        <p:nvSpPr>
          <p:cNvPr id="136" name="Text 5"/>
          <p:cNvSpPr txBox="1"/>
          <p:nvPr/>
        </p:nvSpPr>
        <p:spPr>
          <a:xfrm>
            <a:off x="1783080" y="2094992"/>
            <a:ext cx="3566160"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700">
                <a:solidFill>
                  <a:srgbClr val="FFFFFF"/>
                </a:solidFill>
                <a:latin typeface="Cambria"/>
                <a:ea typeface="Cambria"/>
                <a:cs typeface="Cambria"/>
                <a:sym typeface="Cambria"/>
              </a:defRPr>
            </a:lvl1pPr>
          </a:lstStyle>
          <a:p>
            <a:pPr/>
            <a:r>
              <a:t>Online Shopping Application</a:t>
            </a:r>
          </a:p>
        </p:txBody>
      </p:sp>
      <p:sp>
        <p:nvSpPr>
          <p:cNvPr id="137" name="Shape 6"/>
          <p:cNvSpPr/>
          <p:nvPr/>
        </p:nvSpPr>
        <p:spPr>
          <a:xfrm>
            <a:off x="868680" y="2926079"/>
            <a:ext cx="109729" cy="109729"/>
          </a:xfrm>
          <a:prstGeom prst="ellipse">
            <a:avLst/>
          </a:prstGeom>
          <a:solidFill>
            <a:srgbClr val="50E6FF"/>
          </a:solidFill>
          <a:ln w="12700">
            <a:miter lim="400000"/>
          </a:ln>
        </p:spPr>
        <p:txBody>
          <a:bodyPr lIns="45719" rIns="45719"/>
          <a:lstStyle/>
          <a:p>
            <a:pPr/>
          </a:p>
        </p:txBody>
      </p:sp>
      <p:sp>
        <p:nvSpPr>
          <p:cNvPr id="138" name="Text 7"/>
          <p:cNvSpPr txBox="1"/>
          <p:nvPr/>
        </p:nvSpPr>
        <p:spPr>
          <a:xfrm>
            <a:off x="1188720" y="2911655"/>
            <a:ext cx="416052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E4EFFB"/>
                </a:solidFill>
              </a:defRPr>
            </a:lvl1pPr>
          </a:lstStyle>
          <a:p>
            <a:pPr/>
            <a:r>
              <a:t>Application hosted on an Azure Virtual Machine</a:t>
            </a:r>
          </a:p>
        </p:txBody>
      </p:sp>
      <p:sp>
        <p:nvSpPr>
          <p:cNvPr id="139" name="Shape 8"/>
          <p:cNvSpPr/>
          <p:nvPr/>
        </p:nvSpPr>
        <p:spPr>
          <a:xfrm>
            <a:off x="868680" y="3511296"/>
            <a:ext cx="109729" cy="109729"/>
          </a:xfrm>
          <a:prstGeom prst="ellipse">
            <a:avLst/>
          </a:prstGeom>
          <a:solidFill>
            <a:srgbClr val="50E6FF"/>
          </a:solidFill>
          <a:ln w="12700">
            <a:miter lim="400000"/>
          </a:ln>
        </p:spPr>
        <p:txBody>
          <a:bodyPr lIns="45719" rIns="45719"/>
          <a:lstStyle/>
          <a:p>
            <a:pPr/>
          </a:p>
        </p:txBody>
      </p:sp>
      <p:sp>
        <p:nvSpPr>
          <p:cNvPr id="140" name="Text 9"/>
          <p:cNvSpPr txBox="1"/>
          <p:nvPr/>
        </p:nvSpPr>
        <p:spPr>
          <a:xfrm>
            <a:off x="1188720" y="3496871"/>
            <a:ext cx="416052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E4EFFB"/>
                </a:solidFill>
              </a:defRPr>
            </a:lvl1pPr>
          </a:lstStyle>
          <a:p>
            <a:pPr/>
            <a:r>
              <a:t>Uses a transactional database for orders &amp; inventory</a:t>
            </a:r>
          </a:p>
        </p:txBody>
      </p:sp>
      <p:sp>
        <p:nvSpPr>
          <p:cNvPr id="141" name="Shape 10"/>
          <p:cNvSpPr/>
          <p:nvPr/>
        </p:nvSpPr>
        <p:spPr>
          <a:xfrm>
            <a:off x="868680" y="4096511"/>
            <a:ext cx="109729" cy="109729"/>
          </a:xfrm>
          <a:prstGeom prst="ellipse">
            <a:avLst/>
          </a:prstGeom>
          <a:solidFill>
            <a:srgbClr val="50E6FF"/>
          </a:solidFill>
          <a:ln w="12700">
            <a:miter lim="400000"/>
          </a:ln>
        </p:spPr>
        <p:txBody>
          <a:bodyPr lIns="45719" rIns="45719"/>
          <a:lstStyle/>
          <a:p>
            <a:pPr/>
          </a:p>
        </p:txBody>
      </p:sp>
      <p:sp>
        <p:nvSpPr>
          <p:cNvPr id="142" name="Text 11"/>
          <p:cNvSpPr txBox="1"/>
          <p:nvPr/>
        </p:nvSpPr>
        <p:spPr>
          <a:xfrm>
            <a:off x="1188720" y="4082087"/>
            <a:ext cx="416052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E4EFFB"/>
                </a:solidFill>
              </a:defRPr>
            </a:lvl1pPr>
          </a:lstStyle>
          <a:p>
            <a:pPr/>
            <a:r>
              <a:t>Frequent, high-frequency read/write operations</a:t>
            </a:r>
          </a:p>
        </p:txBody>
      </p:sp>
      <p:sp>
        <p:nvSpPr>
          <p:cNvPr id="143" name="Shape 12"/>
          <p:cNvSpPr/>
          <p:nvPr/>
        </p:nvSpPr>
        <p:spPr>
          <a:xfrm>
            <a:off x="868680" y="4681728"/>
            <a:ext cx="109729" cy="109729"/>
          </a:xfrm>
          <a:prstGeom prst="ellipse">
            <a:avLst/>
          </a:prstGeom>
          <a:solidFill>
            <a:srgbClr val="50E6FF"/>
          </a:solidFill>
          <a:ln w="12700">
            <a:miter lim="400000"/>
          </a:ln>
        </p:spPr>
        <p:txBody>
          <a:bodyPr lIns="45719" rIns="45719"/>
          <a:lstStyle/>
          <a:p>
            <a:pPr/>
          </a:p>
        </p:txBody>
      </p:sp>
      <p:sp>
        <p:nvSpPr>
          <p:cNvPr id="144" name="Text 13"/>
          <p:cNvSpPr txBox="1"/>
          <p:nvPr/>
        </p:nvSpPr>
        <p:spPr>
          <a:xfrm>
            <a:off x="1188720" y="4667303"/>
            <a:ext cx="416052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E4EFFB"/>
                </a:solidFill>
              </a:defRPr>
            </a:lvl1pPr>
          </a:lstStyle>
          <a:p>
            <a:pPr/>
            <a:r>
              <a:t>Requires consistently low latency</a:t>
            </a:r>
          </a:p>
        </p:txBody>
      </p:sp>
      <p:sp>
        <p:nvSpPr>
          <p:cNvPr id="145" name="Shape 14"/>
          <p:cNvSpPr/>
          <p:nvPr/>
        </p:nvSpPr>
        <p:spPr>
          <a:xfrm>
            <a:off x="868680" y="5266944"/>
            <a:ext cx="109729" cy="109729"/>
          </a:xfrm>
          <a:prstGeom prst="ellipse">
            <a:avLst/>
          </a:prstGeom>
          <a:solidFill>
            <a:srgbClr val="50E6FF"/>
          </a:solidFill>
          <a:ln w="12700">
            <a:miter lim="400000"/>
          </a:ln>
        </p:spPr>
        <p:txBody>
          <a:bodyPr lIns="45719" rIns="45719"/>
          <a:lstStyle/>
          <a:p>
            <a:pPr/>
          </a:p>
        </p:txBody>
      </p:sp>
      <p:sp>
        <p:nvSpPr>
          <p:cNvPr id="146" name="Text 15"/>
          <p:cNvSpPr txBox="1"/>
          <p:nvPr/>
        </p:nvSpPr>
        <p:spPr>
          <a:xfrm>
            <a:off x="1188720" y="5252519"/>
            <a:ext cx="416052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E4EFFB"/>
                </a:solidFill>
              </a:defRPr>
            </a:lvl1pPr>
          </a:lstStyle>
          <a:p>
            <a:pPr/>
            <a:r>
              <a:t>Needs high IOPS during peak shopping traffic</a:t>
            </a:r>
          </a:p>
        </p:txBody>
      </p:sp>
      <p:sp>
        <p:nvSpPr>
          <p:cNvPr id="147" name="Shape 16"/>
          <p:cNvSpPr/>
          <p:nvPr/>
        </p:nvSpPr>
        <p:spPr>
          <a:xfrm>
            <a:off x="5806440" y="1691639"/>
            <a:ext cx="5852160" cy="4480561"/>
          </a:xfrm>
          <a:prstGeom prst="roundRect">
            <a:avLst>
              <a:gd name="adj" fmla="val 1633"/>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148" name="Text 17"/>
          <p:cNvSpPr txBox="1"/>
          <p:nvPr/>
        </p:nvSpPr>
        <p:spPr>
          <a:xfrm>
            <a:off x="6126479" y="1898826"/>
            <a:ext cx="521208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0078D4"/>
                </a:solidFill>
              </a:defRPr>
            </a:lvl1pPr>
          </a:lstStyle>
          <a:p>
            <a:pPr/>
            <a:r>
              <a:t>WORKLOAD DATA FLOW</a:t>
            </a:r>
          </a:p>
        </p:txBody>
      </p:sp>
      <p:sp>
        <p:nvSpPr>
          <p:cNvPr id="149" name="Shape 18"/>
          <p:cNvSpPr/>
          <p:nvPr/>
        </p:nvSpPr>
        <p:spPr>
          <a:xfrm>
            <a:off x="6080759" y="2331720"/>
            <a:ext cx="5303521" cy="713233"/>
          </a:xfrm>
          <a:prstGeom prst="roundRect">
            <a:avLst>
              <a:gd name="adj" fmla="val 10256"/>
            </a:avLst>
          </a:prstGeom>
          <a:solidFill>
            <a:srgbClr val="F4F9FD"/>
          </a:solidFill>
          <a:ln w="12700">
            <a:solidFill>
              <a:srgbClr val="D7E6F5"/>
            </a:solidFill>
          </a:ln>
        </p:spPr>
        <p:txBody>
          <a:bodyPr lIns="45719" rIns="45719"/>
          <a:lstStyle/>
          <a:p>
            <a:pPr/>
          </a:p>
        </p:txBody>
      </p:sp>
      <p:sp>
        <p:nvSpPr>
          <p:cNvPr id="150" name="Shape 19"/>
          <p:cNvSpPr/>
          <p:nvPr/>
        </p:nvSpPr>
        <p:spPr>
          <a:xfrm>
            <a:off x="6217920" y="2441448"/>
            <a:ext cx="502921" cy="50292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51" name="Image 1" descr="Image 1"/>
          <p:cNvPicPr>
            <a:picLocks noChangeAspect="1"/>
          </p:cNvPicPr>
          <p:nvPr/>
        </p:nvPicPr>
        <p:blipFill>
          <a:blip r:embed="rId4">
            <a:extLst/>
          </a:blip>
          <a:stretch>
            <a:fillRect/>
          </a:stretch>
        </p:blipFill>
        <p:spPr>
          <a:xfrm>
            <a:off x="6283299" y="2506827"/>
            <a:ext cx="372162" cy="372162"/>
          </a:xfrm>
          <a:prstGeom prst="rect">
            <a:avLst/>
          </a:prstGeom>
          <a:ln w="12700">
            <a:miter lim="400000"/>
          </a:ln>
        </p:spPr>
      </p:pic>
      <p:sp>
        <p:nvSpPr>
          <p:cNvPr id="152" name="Text 20"/>
          <p:cNvSpPr txBox="1"/>
          <p:nvPr/>
        </p:nvSpPr>
        <p:spPr>
          <a:xfrm>
            <a:off x="6903719" y="2417503"/>
            <a:ext cx="42062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02050"/>
                </a:solidFill>
              </a:defRPr>
            </a:lvl1pPr>
          </a:lstStyle>
          <a:p>
            <a:pPr/>
            <a:r>
              <a:t>Users</a:t>
            </a:r>
          </a:p>
        </p:txBody>
      </p:sp>
      <p:sp>
        <p:nvSpPr>
          <p:cNvPr id="153" name="Text 21"/>
          <p:cNvSpPr txBox="1"/>
          <p:nvPr/>
        </p:nvSpPr>
        <p:spPr>
          <a:xfrm>
            <a:off x="6903719" y="2729528"/>
            <a:ext cx="42062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5B6B7C"/>
                </a:solidFill>
              </a:defRPr>
            </a:lvl1pPr>
          </a:lstStyle>
          <a:p>
            <a:pPr/>
            <a:r>
              <a:t>Shoppers browsing &amp; purchasing</a:t>
            </a:r>
          </a:p>
        </p:txBody>
      </p:sp>
      <p:sp>
        <p:nvSpPr>
          <p:cNvPr id="154" name="Shape 22"/>
          <p:cNvSpPr/>
          <p:nvPr/>
        </p:nvSpPr>
        <p:spPr>
          <a:xfrm>
            <a:off x="8631935" y="3063239"/>
            <a:ext cx="201169"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0078D4"/>
          </a:solidFill>
          <a:ln w="12700">
            <a:miter lim="400000"/>
          </a:ln>
        </p:spPr>
        <p:txBody>
          <a:bodyPr lIns="45719" rIns="45719"/>
          <a:lstStyle/>
          <a:p>
            <a:pPr/>
          </a:p>
        </p:txBody>
      </p:sp>
      <p:sp>
        <p:nvSpPr>
          <p:cNvPr id="155" name="Shape 23"/>
          <p:cNvSpPr/>
          <p:nvPr/>
        </p:nvSpPr>
        <p:spPr>
          <a:xfrm>
            <a:off x="6080759" y="3246120"/>
            <a:ext cx="5303521" cy="713233"/>
          </a:xfrm>
          <a:prstGeom prst="roundRect">
            <a:avLst>
              <a:gd name="adj" fmla="val 10256"/>
            </a:avLst>
          </a:prstGeom>
          <a:solidFill>
            <a:srgbClr val="F4F9FD"/>
          </a:solidFill>
          <a:ln w="12700">
            <a:solidFill>
              <a:srgbClr val="D7E6F5"/>
            </a:solidFill>
          </a:ln>
        </p:spPr>
        <p:txBody>
          <a:bodyPr lIns="45719" rIns="45719"/>
          <a:lstStyle/>
          <a:p>
            <a:pPr/>
          </a:p>
        </p:txBody>
      </p:sp>
      <p:sp>
        <p:nvSpPr>
          <p:cNvPr id="156" name="Shape 24"/>
          <p:cNvSpPr/>
          <p:nvPr/>
        </p:nvSpPr>
        <p:spPr>
          <a:xfrm>
            <a:off x="6217920" y="3355847"/>
            <a:ext cx="502921" cy="50292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57" name="Image 2" descr="Image 2"/>
          <p:cNvPicPr>
            <a:picLocks noChangeAspect="1"/>
          </p:cNvPicPr>
          <p:nvPr/>
        </p:nvPicPr>
        <p:blipFill>
          <a:blip r:embed="rId5">
            <a:extLst/>
          </a:blip>
          <a:stretch>
            <a:fillRect/>
          </a:stretch>
        </p:blipFill>
        <p:spPr>
          <a:xfrm>
            <a:off x="6283299" y="3421227"/>
            <a:ext cx="372162" cy="372162"/>
          </a:xfrm>
          <a:prstGeom prst="rect">
            <a:avLst/>
          </a:prstGeom>
          <a:ln w="12700">
            <a:miter lim="400000"/>
          </a:ln>
        </p:spPr>
      </p:pic>
      <p:sp>
        <p:nvSpPr>
          <p:cNvPr id="158" name="Text 25"/>
          <p:cNvSpPr txBox="1"/>
          <p:nvPr/>
        </p:nvSpPr>
        <p:spPr>
          <a:xfrm>
            <a:off x="6903719" y="3331903"/>
            <a:ext cx="42062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02050"/>
                </a:solidFill>
              </a:defRPr>
            </a:lvl1pPr>
          </a:lstStyle>
          <a:p>
            <a:pPr/>
            <a:r>
              <a:t>Application</a:t>
            </a:r>
          </a:p>
        </p:txBody>
      </p:sp>
      <p:sp>
        <p:nvSpPr>
          <p:cNvPr id="159" name="Text 26"/>
          <p:cNvSpPr txBox="1"/>
          <p:nvPr/>
        </p:nvSpPr>
        <p:spPr>
          <a:xfrm>
            <a:off x="6903719" y="3643928"/>
            <a:ext cx="42062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5B6B7C"/>
                </a:solidFill>
              </a:defRPr>
            </a:lvl1pPr>
          </a:lstStyle>
          <a:p>
            <a:pPr/>
            <a:r>
              <a:t>Web / API layer on Azure VM</a:t>
            </a:r>
          </a:p>
        </p:txBody>
      </p:sp>
      <p:sp>
        <p:nvSpPr>
          <p:cNvPr id="160" name="Shape 27"/>
          <p:cNvSpPr/>
          <p:nvPr/>
        </p:nvSpPr>
        <p:spPr>
          <a:xfrm>
            <a:off x="8631935" y="3977640"/>
            <a:ext cx="201169"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0078D4"/>
          </a:solidFill>
          <a:ln w="12700">
            <a:miter lim="400000"/>
          </a:ln>
        </p:spPr>
        <p:txBody>
          <a:bodyPr lIns="45719" rIns="45719"/>
          <a:lstStyle/>
          <a:p>
            <a:pPr/>
          </a:p>
        </p:txBody>
      </p:sp>
      <p:sp>
        <p:nvSpPr>
          <p:cNvPr id="161" name="Shape 28"/>
          <p:cNvSpPr/>
          <p:nvPr/>
        </p:nvSpPr>
        <p:spPr>
          <a:xfrm>
            <a:off x="6080759" y="4160520"/>
            <a:ext cx="5303521" cy="713233"/>
          </a:xfrm>
          <a:prstGeom prst="roundRect">
            <a:avLst>
              <a:gd name="adj" fmla="val 10256"/>
            </a:avLst>
          </a:prstGeom>
          <a:solidFill>
            <a:srgbClr val="F4F9FD"/>
          </a:solidFill>
          <a:ln w="12700">
            <a:solidFill>
              <a:srgbClr val="D7E6F5"/>
            </a:solidFill>
          </a:ln>
        </p:spPr>
        <p:txBody>
          <a:bodyPr lIns="45719" rIns="45719"/>
          <a:lstStyle/>
          <a:p>
            <a:pPr/>
          </a:p>
        </p:txBody>
      </p:sp>
      <p:sp>
        <p:nvSpPr>
          <p:cNvPr id="162" name="Shape 29"/>
          <p:cNvSpPr/>
          <p:nvPr/>
        </p:nvSpPr>
        <p:spPr>
          <a:xfrm>
            <a:off x="6217920" y="4270247"/>
            <a:ext cx="502921" cy="50292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63" name="Image 3" descr="Image 3"/>
          <p:cNvPicPr>
            <a:picLocks noChangeAspect="1"/>
          </p:cNvPicPr>
          <p:nvPr/>
        </p:nvPicPr>
        <p:blipFill>
          <a:blip r:embed="rId6">
            <a:extLst/>
          </a:blip>
          <a:stretch>
            <a:fillRect/>
          </a:stretch>
        </p:blipFill>
        <p:spPr>
          <a:xfrm>
            <a:off x="6283299" y="4335627"/>
            <a:ext cx="372162" cy="372162"/>
          </a:xfrm>
          <a:prstGeom prst="rect">
            <a:avLst/>
          </a:prstGeom>
          <a:ln w="12700">
            <a:miter lim="400000"/>
          </a:ln>
        </p:spPr>
      </p:pic>
      <p:sp>
        <p:nvSpPr>
          <p:cNvPr id="164" name="Text 30"/>
          <p:cNvSpPr txBox="1"/>
          <p:nvPr/>
        </p:nvSpPr>
        <p:spPr>
          <a:xfrm>
            <a:off x="6903719" y="4246303"/>
            <a:ext cx="42062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02050"/>
                </a:solidFill>
              </a:defRPr>
            </a:lvl1pPr>
          </a:lstStyle>
          <a:p>
            <a:pPr/>
            <a:r>
              <a:t>Database</a:t>
            </a:r>
          </a:p>
        </p:txBody>
      </p:sp>
      <p:sp>
        <p:nvSpPr>
          <p:cNvPr id="165" name="Text 31"/>
          <p:cNvSpPr txBox="1"/>
          <p:nvPr/>
        </p:nvSpPr>
        <p:spPr>
          <a:xfrm>
            <a:off x="6903719" y="4558328"/>
            <a:ext cx="42062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5B6B7C"/>
                </a:solidFill>
              </a:defRPr>
            </a:lvl1pPr>
          </a:lstStyle>
          <a:p>
            <a:pPr/>
            <a:r>
              <a:t>Transactional order data</a:t>
            </a:r>
          </a:p>
        </p:txBody>
      </p:sp>
      <p:sp>
        <p:nvSpPr>
          <p:cNvPr id="166" name="Shape 32"/>
          <p:cNvSpPr/>
          <p:nvPr/>
        </p:nvSpPr>
        <p:spPr>
          <a:xfrm>
            <a:off x="8631935" y="4892040"/>
            <a:ext cx="201169"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0078D4"/>
          </a:solidFill>
          <a:ln w="12700">
            <a:miter lim="400000"/>
          </a:ln>
        </p:spPr>
        <p:txBody>
          <a:bodyPr lIns="45719" rIns="45719"/>
          <a:lstStyle/>
          <a:p>
            <a:pPr/>
          </a:p>
        </p:txBody>
      </p:sp>
      <p:sp>
        <p:nvSpPr>
          <p:cNvPr id="167" name="Shape 33"/>
          <p:cNvSpPr/>
          <p:nvPr/>
        </p:nvSpPr>
        <p:spPr>
          <a:xfrm>
            <a:off x="6080759" y="5074920"/>
            <a:ext cx="5303521" cy="713233"/>
          </a:xfrm>
          <a:prstGeom prst="roundRect">
            <a:avLst>
              <a:gd name="adj" fmla="val 10256"/>
            </a:avLst>
          </a:prstGeom>
          <a:solidFill>
            <a:srgbClr val="F4F9FD"/>
          </a:solidFill>
          <a:ln w="12700">
            <a:solidFill>
              <a:srgbClr val="D7E6F5"/>
            </a:solidFill>
          </a:ln>
        </p:spPr>
        <p:txBody>
          <a:bodyPr lIns="45719" rIns="45719"/>
          <a:lstStyle/>
          <a:p>
            <a:pPr/>
          </a:p>
        </p:txBody>
      </p:sp>
      <p:sp>
        <p:nvSpPr>
          <p:cNvPr id="168" name="Shape 34"/>
          <p:cNvSpPr/>
          <p:nvPr/>
        </p:nvSpPr>
        <p:spPr>
          <a:xfrm>
            <a:off x="6217920" y="5184647"/>
            <a:ext cx="502921" cy="50292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69" name="Image 4" descr="Image 4"/>
          <p:cNvPicPr>
            <a:picLocks noChangeAspect="1"/>
          </p:cNvPicPr>
          <p:nvPr/>
        </p:nvPicPr>
        <p:blipFill>
          <a:blip r:embed="rId7">
            <a:extLst/>
          </a:blip>
          <a:stretch>
            <a:fillRect/>
          </a:stretch>
        </p:blipFill>
        <p:spPr>
          <a:xfrm>
            <a:off x="6283299" y="5250027"/>
            <a:ext cx="372162" cy="372162"/>
          </a:xfrm>
          <a:prstGeom prst="rect">
            <a:avLst/>
          </a:prstGeom>
          <a:ln w="12700">
            <a:miter lim="400000"/>
          </a:ln>
        </p:spPr>
      </p:pic>
      <p:sp>
        <p:nvSpPr>
          <p:cNvPr id="170" name="Text 35"/>
          <p:cNvSpPr txBox="1"/>
          <p:nvPr/>
        </p:nvSpPr>
        <p:spPr>
          <a:xfrm>
            <a:off x="6903719" y="5160703"/>
            <a:ext cx="42062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02050"/>
                </a:solidFill>
              </a:defRPr>
            </a:lvl1pPr>
          </a:lstStyle>
          <a:p>
            <a:pPr/>
            <a:r>
              <a:t>Azure Storage</a:t>
            </a:r>
          </a:p>
        </p:txBody>
      </p:sp>
      <p:sp>
        <p:nvSpPr>
          <p:cNvPr id="171" name="Text 36"/>
          <p:cNvSpPr txBox="1"/>
          <p:nvPr/>
        </p:nvSpPr>
        <p:spPr>
          <a:xfrm>
            <a:off x="6903719" y="5472728"/>
            <a:ext cx="42062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5B6B7C"/>
                </a:solidFill>
              </a:defRPr>
            </a:lvl1pPr>
          </a:lstStyle>
          <a:p>
            <a:pPr/>
            <a:r>
              <a:t>Premium SSD-backed managed disk</a:t>
            </a:r>
          </a:p>
        </p:txBody>
      </p:sp>
      <p:sp>
        <p:nvSpPr>
          <p:cNvPr id="172" name="Text 37"/>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173" name="Shape 38"/>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174" name="Text 39"/>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178"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REQUIREMENTS ANALYSIS</a:t>
            </a:r>
          </a:p>
        </p:txBody>
      </p:sp>
      <p:sp>
        <p:nvSpPr>
          <p:cNvPr id="179"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Workload Requirements Analysis</a:t>
            </a:r>
          </a:p>
        </p:txBody>
      </p:sp>
      <p:graphicFrame>
        <p:nvGraphicFramePr>
          <p:cNvPr id="180" name="Table 0"/>
          <p:cNvGraphicFramePr/>
          <p:nvPr/>
        </p:nvGraphicFramePr>
        <p:xfrm>
          <a:off x="548640" y="1554480"/>
          <a:ext cx="6492241" cy="34244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17520"/>
                <a:gridCol w="3474720"/>
              </a:tblGrid>
              <a:tr h="489204">
                <a:tc>
                  <a:txBody>
                    <a:bodyPr/>
                    <a:lstStyle/>
                    <a:p>
                      <a:pPr algn="l">
                        <a:defRPr sz="1800"/>
                      </a:pPr>
                      <a:r>
                        <a:rPr b="1" sz="1300">
                          <a:solidFill>
                            <a:srgbClr val="FFFFFF"/>
                          </a:solidFill>
                        </a:rPr>
                        <a:t>Requirement</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0078D4"/>
                    </a:solidFill>
                  </a:tcPr>
                </a:tc>
                <a:tc>
                  <a:txBody>
                    <a:bodyPr/>
                    <a:lstStyle/>
                    <a:p>
                      <a:pPr algn="l">
                        <a:defRPr sz="1800"/>
                      </a:pPr>
                      <a:r>
                        <a:rPr b="1" sz="1300">
                          <a:solidFill>
                            <a:srgbClr val="FFFFFF"/>
                          </a:solidFill>
                        </a:rPr>
                        <a:t>Need</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0078D4"/>
                    </a:solidFill>
                  </a:tcPr>
                </a:tc>
              </a:tr>
              <a:tr h="489204">
                <a:tc>
                  <a:txBody>
                    <a:bodyPr/>
                    <a:lstStyle/>
                    <a:p>
                      <a:pPr algn="l">
                        <a:defRPr sz="1800"/>
                      </a:pPr>
                      <a:r>
                        <a:rPr sz="1200">
                          <a:solidFill>
                            <a:srgbClr val="1B2A3C"/>
                          </a:solidFill>
                        </a:rPr>
                        <a:t>Access Pattern</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FFFFF"/>
                    </a:solidFill>
                  </a:tcPr>
                </a:tc>
                <a:tc>
                  <a:txBody>
                    <a:bodyPr/>
                    <a:lstStyle/>
                    <a:p>
                      <a:pPr algn="l">
                        <a:defRPr sz="1800"/>
                      </a:pPr>
                      <a:r>
                        <a:rPr sz="1200">
                          <a:solidFill>
                            <a:srgbClr val="1B2A3C"/>
                          </a:solidFill>
                        </a:rPr>
                        <a:t>Frequent read / write</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FFFFF"/>
                    </a:solidFill>
                  </a:tcPr>
                </a:tc>
              </a:tr>
              <a:tr h="489204">
                <a:tc>
                  <a:txBody>
                    <a:bodyPr/>
                    <a:lstStyle/>
                    <a:p>
                      <a:pPr algn="l">
                        <a:defRPr sz="1800"/>
                      </a:pPr>
                      <a:r>
                        <a:rPr sz="1200">
                          <a:solidFill>
                            <a:srgbClr val="1B2A3C"/>
                          </a:solidFill>
                        </a:rPr>
                        <a:t>Latency</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4F9FD"/>
                    </a:solidFill>
                  </a:tcPr>
                </a:tc>
                <a:tc>
                  <a:txBody>
                    <a:bodyPr/>
                    <a:lstStyle/>
                    <a:p>
                      <a:pPr algn="l">
                        <a:defRPr sz="1800"/>
                      </a:pPr>
                      <a:r>
                        <a:rPr b="1" sz="1200">
                          <a:solidFill>
                            <a:srgbClr val="1B2A3C"/>
                          </a:solidFill>
                        </a:rPr>
                        <a:t>Low</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4F9FD"/>
                    </a:solidFill>
                  </a:tcPr>
                </a:tc>
              </a:tr>
              <a:tr h="489204">
                <a:tc>
                  <a:txBody>
                    <a:bodyPr/>
                    <a:lstStyle/>
                    <a:p>
                      <a:pPr algn="l">
                        <a:defRPr sz="1800"/>
                      </a:pPr>
                      <a:r>
                        <a:rPr sz="1200">
                          <a:solidFill>
                            <a:srgbClr val="1B2A3C"/>
                          </a:solidFill>
                        </a:rPr>
                        <a:t>IOPS</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FFFFF"/>
                    </a:solidFill>
                  </a:tcPr>
                </a:tc>
                <a:tc>
                  <a:txBody>
                    <a:bodyPr/>
                    <a:lstStyle/>
                    <a:p>
                      <a:pPr algn="l">
                        <a:defRPr sz="1800"/>
                      </a:pPr>
                      <a:r>
                        <a:rPr b="1" sz="1200">
                          <a:solidFill>
                            <a:srgbClr val="1B2A3C"/>
                          </a:solidFill>
                        </a:rPr>
                        <a:t>High</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FFFFF"/>
                    </a:solidFill>
                  </a:tcPr>
                </a:tc>
              </a:tr>
              <a:tr h="489204">
                <a:tc>
                  <a:txBody>
                    <a:bodyPr/>
                    <a:lstStyle/>
                    <a:p>
                      <a:pPr algn="l">
                        <a:defRPr sz="1800"/>
                      </a:pPr>
                      <a:r>
                        <a:rPr sz="1200">
                          <a:solidFill>
                            <a:srgbClr val="1B2A3C"/>
                          </a:solidFill>
                        </a:rPr>
                        <a:t>Throughput</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4F9FD"/>
                    </a:solidFill>
                  </a:tcPr>
                </a:tc>
                <a:tc>
                  <a:txBody>
                    <a:bodyPr/>
                    <a:lstStyle/>
                    <a:p>
                      <a:pPr algn="l">
                        <a:defRPr sz="1800"/>
                      </a:pPr>
                      <a:r>
                        <a:rPr b="1" sz="1200">
                          <a:solidFill>
                            <a:srgbClr val="1B2A3C"/>
                          </a:solidFill>
                        </a:rPr>
                        <a:t>High</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4F9FD"/>
                    </a:solidFill>
                  </a:tcPr>
                </a:tc>
              </a:tr>
              <a:tr h="489204">
                <a:tc>
                  <a:txBody>
                    <a:bodyPr/>
                    <a:lstStyle/>
                    <a:p>
                      <a:pPr algn="l">
                        <a:defRPr sz="1800"/>
                      </a:pPr>
                      <a:r>
                        <a:rPr sz="1200">
                          <a:solidFill>
                            <a:srgbClr val="1B2A3C"/>
                          </a:solidFill>
                        </a:rPr>
                        <a:t>Availability</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FFFFF"/>
                    </a:solidFill>
                  </a:tcPr>
                </a:tc>
                <a:tc>
                  <a:txBody>
                    <a:bodyPr/>
                    <a:lstStyle/>
                    <a:p>
                      <a:pPr algn="l">
                        <a:defRPr sz="1800"/>
                      </a:pPr>
                      <a:r>
                        <a:rPr b="1" sz="1200">
                          <a:solidFill>
                            <a:srgbClr val="1B2A3C"/>
                          </a:solidFill>
                        </a:rPr>
                        <a:t>High</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FFFFF"/>
                    </a:solidFill>
                  </a:tcPr>
                </a:tc>
              </a:tr>
              <a:tr h="489204">
                <a:tc>
                  <a:txBody>
                    <a:bodyPr/>
                    <a:lstStyle/>
                    <a:p>
                      <a:pPr algn="l">
                        <a:defRPr sz="1800"/>
                      </a:pPr>
                      <a:r>
                        <a:rPr sz="1200">
                          <a:solidFill>
                            <a:srgbClr val="1B2A3C"/>
                          </a:solidFill>
                        </a:rPr>
                        <a:t>Cost</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4F9FD"/>
                    </a:solidFill>
                  </a:tcPr>
                </a:tc>
                <a:tc>
                  <a:txBody>
                    <a:bodyPr/>
                    <a:lstStyle/>
                    <a:p>
                      <a:pPr algn="l">
                        <a:defRPr sz="1800"/>
                      </a:pPr>
                      <a:r>
                        <a:rPr b="1" sz="1200">
                          <a:solidFill>
                            <a:srgbClr val="1B2A3C"/>
                          </a:solidFill>
                        </a:rPr>
                        <a:t>Optimized</a:t>
                      </a:r>
                    </a:p>
                  </a:txBody>
                  <a:tcPr marL="45720" marR="45720" marT="45720" marB="45720" anchor="ctr" anchorCtr="0" horzOverflow="overflow">
                    <a:lnL w="12700">
                      <a:solidFill>
                        <a:srgbClr val="D7E6F5"/>
                      </a:solidFill>
                    </a:lnL>
                    <a:lnR w="12700">
                      <a:solidFill>
                        <a:srgbClr val="D7E6F5"/>
                      </a:solidFill>
                    </a:lnR>
                    <a:lnT w="12700">
                      <a:solidFill>
                        <a:srgbClr val="D7E6F5"/>
                      </a:solidFill>
                    </a:lnT>
                    <a:lnB w="12700">
                      <a:solidFill>
                        <a:srgbClr val="D7E6F5"/>
                      </a:solidFill>
                    </a:lnB>
                    <a:solidFill>
                      <a:srgbClr val="F4F9FD"/>
                    </a:solidFill>
                  </a:tcPr>
                </a:tc>
              </a:tr>
            </a:tbl>
          </a:graphicData>
        </a:graphic>
      </p:graphicFrame>
      <p:sp>
        <p:nvSpPr>
          <p:cNvPr id="181" name="Text 2"/>
          <p:cNvSpPr txBox="1"/>
          <p:nvPr/>
        </p:nvSpPr>
        <p:spPr>
          <a:xfrm>
            <a:off x="594359" y="5171693"/>
            <a:ext cx="640080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Requirements shape the decision</a:t>
            </a:r>
          </a:p>
        </p:txBody>
      </p:sp>
      <p:sp>
        <p:nvSpPr>
          <p:cNvPr id="182" name="Text 3"/>
          <p:cNvSpPr txBox="1"/>
          <p:nvPr/>
        </p:nvSpPr>
        <p:spPr>
          <a:xfrm>
            <a:off x="594359" y="5689049"/>
            <a:ext cx="640080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Frequent transactional access combined with strict low-latency and high-IOPS needs rules out low-cost, low-performance storage tiers — directly steering the selection toward a premium, high-performance option.</a:t>
            </a:r>
          </a:p>
        </p:txBody>
      </p:sp>
      <p:sp>
        <p:nvSpPr>
          <p:cNvPr id="183" name="Shape 4"/>
          <p:cNvSpPr/>
          <p:nvPr/>
        </p:nvSpPr>
        <p:spPr>
          <a:xfrm>
            <a:off x="7315200" y="1554480"/>
            <a:ext cx="4343400" cy="4480560"/>
          </a:xfrm>
          <a:prstGeom prst="roundRect">
            <a:avLst>
              <a:gd name="adj" fmla="val 1684"/>
            </a:avLst>
          </a:prstGeom>
          <a:solidFill>
            <a:srgbClr val="002050"/>
          </a:solidFill>
          <a:ln w="12700">
            <a:solidFill>
              <a:srgbClr val="002050"/>
            </a:solidFill>
          </a:ln>
        </p:spPr>
        <p:txBody>
          <a:bodyPr lIns="45719" rIns="45719"/>
          <a:lstStyle/>
          <a:p>
            <a:pPr/>
          </a:p>
        </p:txBody>
      </p:sp>
      <p:sp>
        <p:nvSpPr>
          <p:cNvPr id="184" name="Shape 5"/>
          <p:cNvSpPr/>
          <p:nvPr/>
        </p:nvSpPr>
        <p:spPr>
          <a:xfrm>
            <a:off x="7589519" y="1810511"/>
            <a:ext cx="777241" cy="77724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185" name="Image 0" descr="Image 0"/>
          <p:cNvPicPr>
            <a:picLocks noChangeAspect="1"/>
          </p:cNvPicPr>
          <p:nvPr/>
        </p:nvPicPr>
        <p:blipFill>
          <a:blip r:embed="rId3">
            <a:extLst/>
          </a:blip>
          <a:stretch>
            <a:fillRect/>
          </a:stretch>
        </p:blipFill>
        <p:spPr>
          <a:xfrm>
            <a:off x="7690560" y="1911553"/>
            <a:ext cx="575159" cy="575159"/>
          </a:xfrm>
          <a:prstGeom prst="rect">
            <a:avLst/>
          </a:prstGeom>
          <a:ln w="12700">
            <a:miter lim="400000"/>
          </a:ln>
        </p:spPr>
      </p:pic>
      <p:sp>
        <p:nvSpPr>
          <p:cNvPr id="186" name="Text 6"/>
          <p:cNvSpPr txBox="1"/>
          <p:nvPr/>
        </p:nvSpPr>
        <p:spPr>
          <a:xfrm>
            <a:off x="7635239" y="2772410"/>
            <a:ext cx="374904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04999"/>
              </a:lnSpc>
              <a:defRPr sz="1500">
                <a:solidFill>
                  <a:srgbClr val="FFFFFF"/>
                </a:solidFill>
                <a:latin typeface="Cambria"/>
                <a:ea typeface="Cambria"/>
                <a:cs typeface="Cambria"/>
                <a:sym typeface="Cambria"/>
              </a:defRPr>
            </a:lvl1pPr>
          </a:lstStyle>
          <a:p>
            <a:pPr/>
            <a:r>
              <a:t>How Requirements Drive Selection</a:t>
            </a:r>
          </a:p>
        </p:txBody>
      </p:sp>
      <p:sp>
        <p:nvSpPr>
          <p:cNvPr id="187" name="Shape 7"/>
          <p:cNvSpPr/>
          <p:nvPr/>
        </p:nvSpPr>
        <p:spPr>
          <a:xfrm>
            <a:off x="7635240" y="3383279"/>
            <a:ext cx="109729" cy="109729"/>
          </a:xfrm>
          <a:prstGeom prst="ellipse">
            <a:avLst/>
          </a:prstGeom>
          <a:solidFill>
            <a:srgbClr val="50E6FF"/>
          </a:solidFill>
          <a:ln w="12700">
            <a:miter lim="400000"/>
          </a:ln>
        </p:spPr>
        <p:txBody>
          <a:bodyPr lIns="45719" rIns="45719"/>
          <a:lstStyle/>
          <a:p>
            <a:pPr/>
          </a:p>
        </p:txBody>
      </p:sp>
      <p:sp>
        <p:nvSpPr>
          <p:cNvPr id="188" name="Text 8"/>
          <p:cNvSpPr txBox="1"/>
          <p:nvPr/>
        </p:nvSpPr>
        <p:spPr>
          <a:xfrm>
            <a:off x="7955279" y="3384725"/>
            <a:ext cx="35661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100">
                <a:solidFill>
                  <a:srgbClr val="E4EFFB"/>
                </a:solidFill>
              </a:defRPr>
            </a:lvl1pPr>
          </a:lstStyle>
          <a:p>
            <a:pPr/>
            <a:r>
              <a:t>High IOPS + Low Latency  →  Eliminates HDD-class storage</a:t>
            </a:r>
          </a:p>
        </p:txBody>
      </p:sp>
      <p:sp>
        <p:nvSpPr>
          <p:cNvPr id="189" name="Shape 9"/>
          <p:cNvSpPr/>
          <p:nvPr/>
        </p:nvSpPr>
        <p:spPr>
          <a:xfrm>
            <a:off x="7635240" y="3950208"/>
            <a:ext cx="109729" cy="109729"/>
          </a:xfrm>
          <a:prstGeom prst="ellipse">
            <a:avLst/>
          </a:prstGeom>
          <a:solidFill>
            <a:srgbClr val="50E6FF"/>
          </a:solidFill>
          <a:ln w="12700">
            <a:miter lim="400000"/>
          </a:ln>
        </p:spPr>
        <p:txBody>
          <a:bodyPr lIns="45719" rIns="45719"/>
          <a:lstStyle/>
          <a:p>
            <a:pPr/>
          </a:p>
        </p:txBody>
      </p:sp>
      <p:sp>
        <p:nvSpPr>
          <p:cNvPr id="190" name="Text 10"/>
          <p:cNvSpPr txBox="1"/>
          <p:nvPr/>
        </p:nvSpPr>
        <p:spPr>
          <a:xfrm>
            <a:off x="7955279" y="3951653"/>
            <a:ext cx="35661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100">
                <a:solidFill>
                  <a:srgbClr val="E4EFFB"/>
                </a:solidFill>
              </a:defRPr>
            </a:lvl1pPr>
          </a:lstStyle>
          <a:p>
            <a:pPr/>
            <a:r>
              <a:t>High Throughput  →  Requires SSD-backed disks</a:t>
            </a:r>
          </a:p>
        </p:txBody>
      </p:sp>
      <p:sp>
        <p:nvSpPr>
          <p:cNvPr id="191" name="Shape 11"/>
          <p:cNvSpPr/>
          <p:nvPr/>
        </p:nvSpPr>
        <p:spPr>
          <a:xfrm>
            <a:off x="7635240" y="4517135"/>
            <a:ext cx="109729" cy="109729"/>
          </a:xfrm>
          <a:prstGeom prst="ellipse">
            <a:avLst/>
          </a:prstGeom>
          <a:solidFill>
            <a:srgbClr val="50E6FF"/>
          </a:solidFill>
          <a:ln w="12700">
            <a:miter lim="400000"/>
          </a:ln>
        </p:spPr>
        <p:txBody>
          <a:bodyPr lIns="45719" rIns="45719"/>
          <a:lstStyle/>
          <a:p>
            <a:pPr/>
          </a:p>
        </p:txBody>
      </p:sp>
      <p:sp>
        <p:nvSpPr>
          <p:cNvPr id="192" name="Text 12"/>
          <p:cNvSpPr txBox="1"/>
          <p:nvPr/>
        </p:nvSpPr>
        <p:spPr>
          <a:xfrm>
            <a:off x="7955279" y="4518581"/>
            <a:ext cx="35661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100">
                <a:solidFill>
                  <a:srgbClr val="E4EFFB"/>
                </a:solidFill>
              </a:defRPr>
            </a:lvl1pPr>
          </a:lstStyle>
          <a:p>
            <a:pPr/>
            <a:r>
              <a:t>High Availability  →  Managed, redundant storage tier</a:t>
            </a:r>
          </a:p>
        </p:txBody>
      </p:sp>
      <p:sp>
        <p:nvSpPr>
          <p:cNvPr id="193" name="Shape 13"/>
          <p:cNvSpPr/>
          <p:nvPr/>
        </p:nvSpPr>
        <p:spPr>
          <a:xfrm>
            <a:off x="7635240" y="5084064"/>
            <a:ext cx="109729" cy="109729"/>
          </a:xfrm>
          <a:prstGeom prst="ellipse">
            <a:avLst/>
          </a:prstGeom>
          <a:solidFill>
            <a:srgbClr val="50E6FF"/>
          </a:solidFill>
          <a:ln w="12700">
            <a:miter lim="400000"/>
          </a:ln>
        </p:spPr>
        <p:txBody>
          <a:bodyPr lIns="45719" rIns="45719"/>
          <a:lstStyle/>
          <a:p>
            <a:pPr/>
          </a:p>
        </p:txBody>
      </p:sp>
      <p:sp>
        <p:nvSpPr>
          <p:cNvPr id="194" name="Text 14"/>
          <p:cNvSpPr txBox="1"/>
          <p:nvPr/>
        </p:nvSpPr>
        <p:spPr>
          <a:xfrm>
            <a:off x="7955279" y="5085509"/>
            <a:ext cx="35661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100">
                <a:solidFill>
                  <a:srgbClr val="E4EFFB"/>
                </a:solidFill>
              </a:defRPr>
            </a:lvl1pPr>
          </a:lstStyle>
          <a:p>
            <a:pPr/>
            <a:r>
              <a:t>Cost Optimization  →  Right-size tier, avoid over-provisioning</a:t>
            </a:r>
          </a:p>
        </p:txBody>
      </p:sp>
      <p:sp>
        <p:nvSpPr>
          <p:cNvPr id="195" name="Text 15"/>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196" name="Shape 16"/>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197" name="Text 17"/>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201"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STORAGE OPTIONS</a:t>
            </a:r>
          </a:p>
        </p:txBody>
      </p:sp>
      <p:sp>
        <p:nvSpPr>
          <p:cNvPr id="202"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Azure Storage Performance Options</a:t>
            </a:r>
          </a:p>
        </p:txBody>
      </p:sp>
      <p:sp>
        <p:nvSpPr>
          <p:cNvPr id="203" name="Shape 2"/>
          <p:cNvSpPr/>
          <p:nvPr/>
        </p:nvSpPr>
        <p:spPr>
          <a:xfrm>
            <a:off x="548640" y="1691639"/>
            <a:ext cx="3520441" cy="3749042"/>
          </a:xfrm>
          <a:prstGeom prst="roundRect">
            <a:avLst>
              <a:gd name="adj" fmla="val 2078"/>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04" name="Shape 3"/>
          <p:cNvSpPr/>
          <p:nvPr/>
        </p:nvSpPr>
        <p:spPr>
          <a:xfrm>
            <a:off x="1851660" y="1984248"/>
            <a:ext cx="914401" cy="91440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205" name="Image 0" descr="Image 0"/>
          <p:cNvPicPr>
            <a:picLocks noChangeAspect="1"/>
          </p:cNvPicPr>
          <p:nvPr/>
        </p:nvPicPr>
        <p:blipFill>
          <a:blip r:embed="rId3">
            <a:extLst/>
          </a:blip>
          <a:stretch>
            <a:fillRect/>
          </a:stretch>
        </p:blipFill>
        <p:spPr>
          <a:xfrm>
            <a:off x="1979676" y="2112264"/>
            <a:ext cx="658369" cy="658369"/>
          </a:xfrm>
          <a:prstGeom prst="rect">
            <a:avLst/>
          </a:prstGeom>
          <a:ln w="12700">
            <a:miter lim="400000"/>
          </a:ln>
        </p:spPr>
      </p:pic>
      <p:sp>
        <p:nvSpPr>
          <p:cNvPr id="206" name="Text 4"/>
          <p:cNvSpPr txBox="1"/>
          <p:nvPr/>
        </p:nvSpPr>
        <p:spPr>
          <a:xfrm>
            <a:off x="777239" y="3016757"/>
            <a:ext cx="3063242"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002050"/>
                </a:solidFill>
                <a:latin typeface="Cambria"/>
                <a:ea typeface="Cambria"/>
                <a:cs typeface="Cambria"/>
                <a:sym typeface="Cambria"/>
              </a:defRPr>
            </a:lvl1pPr>
          </a:lstStyle>
          <a:p>
            <a:pPr/>
            <a:r>
              <a:t>Standard HDD</a:t>
            </a:r>
          </a:p>
        </p:txBody>
      </p:sp>
      <p:sp>
        <p:nvSpPr>
          <p:cNvPr id="207" name="Text 5"/>
          <p:cNvSpPr txBox="1"/>
          <p:nvPr/>
        </p:nvSpPr>
        <p:spPr>
          <a:xfrm>
            <a:off x="777239" y="3487727"/>
            <a:ext cx="306324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i="1" sz="1200">
                <a:solidFill>
                  <a:srgbClr val="0078D4"/>
                </a:solidFill>
              </a:defRPr>
            </a:lvl1pPr>
          </a:lstStyle>
          <a:p>
            <a:pPr/>
            <a:r>
              <a:t>Low-cost workloads</a:t>
            </a:r>
          </a:p>
        </p:txBody>
      </p:sp>
      <p:sp>
        <p:nvSpPr>
          <p:cNvPr id="208" name="Text 6"/>
          <p:cNvSpPr txBox="1"/>
          <p:nvPr/>
        </p:nvSpPr>
        <p:spPr>
          <a:xfrm>
            <a:off x="868680" y="4180289"/>
            <a:ext cx="288036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100">
                <a:solidFill>
                  <a:srgbClr val="5B6B7C"/>
                </a:solidFill>
              </a:defRPr>
            </a:lvl1pPr>
          </a:lstStyle>
          <a:p>
            <a:pPr/>
            <a:r>
              <a:t>Backup, archival, infrequent access. Lowest IOPS &amp; throughput.</a:t>
            </a:r>
          </a:p>
        </p:txBody>
      </p:sp>
      <p:sp>
        <p:nvSpPr>
          <p:cNvPr id="209" name="Shape 7"/>
          <p:cNvSpPr/>
          <p:nvPr/>
        </p:nvSpPr>
        <p:spPr>
          <a:xfrm>
            <a:off x="4343400" y="1691639"/>
            <a:ext cx="3520441" cy="3749042"/>
          </a:xfrm>
          <a:prstGeom prst="roundRect">
            <a:avLst>
              <a:gd name="adj" fmla="val 2078"/>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10" name="Shape 8"/>
          <p:cNvSpPr/>
          <p:nvPr/>
        </p:nvSpPr>
        <p:spPr>
          <a:xfrm>
            <a:off x="5646420" y="1984248"/>
            <a:ext cx="914401" cy="91440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211" name="Image 1" descr="Image 1"/>
          <p:cNvPicPr>
            <a:picLocks noChangeAspect="1"/>
          </p:cNvPicPr>
          <p:nvPr/>
        </p:nvPicPr>
        <p:blipFill>
          <a:blip r:embed="rId3">
            <a:extLst/>
          </a:blip>
          <a:stretch>
            <a:fillRect/>
          </a:stretch>
        </p:blipFill>
        <p:spPr>
          <a:xfrm>
            <a:off x="5774435" y="2112264"/>
            <a:ext cx="658369" cy="658369"/>
          </a:xfrm>
          <a:prstGeom prst="rect">
            <a:avLst/>
          </a:prstGeom>
          <a:ln w="12700">
            <a:miter lim="400000"/>
          </a:ln>
        </p:spPr>
      </p:pic>
      <p:sp>
        <p:nvSpPr>
          <p:cNvPr id="212" name="Text 9"/>
          <p:cNvSpPr txBox="1"/>
          <p:nvPr/>
        </p:nvSpPr>
        <p:spPr>
          <a:xfrm>
            <a:off x="4572000" y="3016757"/>
            <a:ext cx="306324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002050"/>
                </a:solidFill>
                <a:latin typeface="Cambria"/>
                <a:ea typeface="Cambria"/>
                <a:cs typeface="Cambria"/>
                <a:sym typeface="Cambria"/>
              </a:defRPr>
            </a:lvl1pPr>
          </a:lstStyle>
          <a:p>
            <a:pPr/>
            <a:r>
              <a:t>Standard SSD</a:t>
            </a:r>
          </a:p>
        </p:txBody>
      </p:sp>
      <p:sp>
        <p:nvSpPr>
          <p:cNvPr id="213" name="Text 10"/>
          <p:cNvSpPr txBox="1"/>
          <p:nvPr/>
        </p:nvSpPr>
        <p:spPr>
          <a:xfrm>
            <a:off x="4572000" y="3487727"/>
            <a:ext cx="30632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i="1" sz="1200">
                <a:solidFill>
                  <a:srgbClr val="0078D4"/>
                </a:solidFill>
              </a:defRPr>
            </a:lvl1pPr>
          </a:lstStyle>
          <a:p>
            <a:pPr/>
            <a:r>
              <a:t>General applications</a:t>
            </a:r>
          </a:p>
        </p:txBody>
      </p:sp>
      <p:sp>
        <p:nvSpPr>
          <p:cNvPr id="214" name="Text 11"/>
          <p:cNvSpPr txBox="1"/>
          <p:nvPr/>
        </p:nvSpPr>
        <p:spPr>
          <a:xfrm>
            <a:off x="4663440" y="4180289"/>
            <a:ext cx="288036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100">
                <a:solidFill>
                  <a:srgbClr val="5B6B7C"/>
                </a:solidFill>
              </a:defRPr>
            </a:lvl1pPr>
          </a:lstStyle>
          <a:p>
            <a:pPr/>
            <a:r>
              <a:t>Balanced cost and performance for typical business applications.</a:t>
            </a:r>
          </a:p>
        </p:txBody>
      </p:sp>
      <p:sp>
        <p:nvSpPr>
          <p:cNvPr id="215" name="Shape 12"/>
          <p:cNvSpPr/>
          <p:nvPr/>
        </p:nvSpPr>
        <p:spPr>
          <a:xfrm>
            <a:off x="8138159" y="1581911"/>
            <a:ext cx="3520441" cy="3968498"/>
          </a:xfrm>
          <a:prstGeom prst="roundRect">
            <a:avLst>
              <a:gd name="adj" fmla="val 2597"/>
            </a:avLst>
          </a:prstGeom>
          <a:solidFill>
            <a:srgbClr val="0078D4"/>
          </a:solidFill>
          <a:ln w="12700">
            <a:solidFill>
              <a:srgbClr val="0078D4"/>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16" name="Shape 13"/>
          <p:cNvSpPr/>
          <p:nvPr/>
        </p:nvSpPr>
        <p:spPr>
          <a:xfrm>
            <a:off x="9441180" y="1874520"/>
            <a:ext cx="914401" cy="914401"/>
          </a:xfrm>
          <a:prstGeom prst="ellipse">
            <a:avLst/>
          </a:prstGeom>
          <a:solidFill>
            <a:srgbClr val="FFFFFF"/>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217" name="Image 2" descr="Image 2"/>
          <p:cNvPicPr>
            <a:picLocks noChangeAspect="1"/>
          </p:cNvPicPr>
          <p:nvPr/>
        </p:nvPicPr>
        <p:blipFill>
          <a:blip r:embed="rId4">
            <a:extLst/>
          </a:blip>
          <a:stretch>
            <a:fillRect/>
          </a:stretch>
        </p:blipFill>
        <p:spPr>
          <a:xfrm>
            <a:off x="9569195" y="2002535"/>
            <a:ext cx="658369" cy="658369"/>
          </a:xfrm>
          <a:prstGeom prst="rect">
            <a:avLst/>
          </a:prstGeom>
          <a:ln w="12700">
            <a:miter lim="400000"/>
          </a:ln>
        </p:spPr>
      </p:pic>
      <p:sp>
        <p:nvSpPr>
          <p:cNvPr id="218" name="Text 14"/>
          <p:cNvSpPr txBox="1"/>
          <p:nvPr/>
        </p:nvSpPr>
        <p:spPr>
          <a:xfrm>
            <a:off x="8366759" y="2952749"/>
            <a:ext cx="306324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Premium SSD</a:t>
            </a:r>
          </a:p>
        </p:txBody>
      </p:sp>
      <p:sp>
        <p:nvSpPr>
          <p:cNvPr id="219" name="Text 15"/>
          <p:cNvSpPr txBox="1"/>
          <p:nvPr/>
        </p:nvSpPr>
        <p:spPr>
          <a:xfrm>
            <a:off x="8366759" y="3414575"/>
            <a:ext cx="30632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i="1" sz="1200">
                <a:solidFill>
                  <a:srgbClr val="50E6FF"/>
                </a:solidFill>
              </a:defRPr>
            </a:lvl1pPr>
          </a:lstStyle>
          <a:p>
            <a:pPr/>
            <a:r>
              <a:t>High-performance applications</a:t>
            </a:r>
          </a:p>
        </p:txBody>
      </p:sp>
      <p:sp>
        <p:nvSpPr>
          <p:cNvPr id="220" name="Text 16"/>
          <p:cNvSpPr txBox="1"/>
          <p:nvPr/>
        </p:nvSpPr>
        <p:spPr>
          <a:xfrm>
            <a:off x="8458200" y="4088848"/>
            <a:ext cx="2880361" cy="4176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100">
                <a:solidFill>
                  <a:srgbClr val="E4EFFB"/>
                </a:solidFill>
              </a:defRPr>
            </a:lvl1pPr>
          </a:lstStyle>
          <a:p>
            <a:pPr/>
            <a:r>
              <a:t>Low latency, high IOPS &amp; throughput for transactional workloads.</a:t>
            </a:r>
          </a:p>
        </p:txBody>
      </p:sp>
      <p:sp>
        <p:nvSpPr>
          <p:cNvPr id="221" name="Shape 17"/>
          <p:cNvSpPr/>
          <p:nvPr/>
        </p:nvSpPr>
        <p:spPr>
          <a:xfrm>
            <a:off x="9121140" y="5330952"/>
            <a:ext cx="1554481" cy="347473"/>
          </a:xfrm>
          <a:prstGeom prst="roundRect">
            <a:avLst>
              <a:gd name="adj" fmla="val 50000"/>
            </a:avLst>
          </a:prstGeom>
          <a:solidFill>
            <a:srgbClr val="FFB900"/>
          </a:solidFill>
          <a:ln w="12700">
            <a:miter lim="400000"/>
          </a:ln>
        </p:spPr>
        <p:txBody>
          <a:bodyPr lIns="45719" rIns="45719"/>
          <a:lstStyle/>
          <a:p>
            <a:pPr/>
          </a:p>
        </p:txBody>
      </p:sp>
      <p:sp>
        <p:nvSpPr>
          <p:cNvPr id="222" name="Text 18"/>
          <p:cNvSpPr txBox="1"/>
          <p:nvPr/>
        </p:nvSpPr>
        <p:spPr>
          <a:xfrm>
            <a:off x="9166859" y="5390432"/>
            <a:ext cx="1463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pc="150" sz="1000">
                <a:solidFill>
                  <a:srgbClr val="002050"/>
                </a:solidFill>
              </a:defRPr>
            </a:lvl1pPr>
          </a:lstStyle>
          <a:p>
            <a:pPr/>
            <a:r>
              <a:t>SELECTED</a:t>
            </a:r>
          </a:p>
        </p:txBody>
      </p:sp>
      <p:sp>
        <p:nvSpPr>
          <p:cNvPr id="223" name="Text 19"/>
          <p:cNvSpPr txBox="1"/>
          <p:nvPr/>
        </p:nvSpPr>
        <p:spPr>
          <a:xfrm>
            <a:off x="594359" y="5750866"/>
            <a:ext cx="109728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200">
                <a:solidFill>
                  <a:srgbClr val="5B6B7C"/>
                </a:solidFill>
              </a:defRPr>
            </a:lvl1pPr>
          </a:lstStyle>
          <a:p>
            <a:pPr/>
            <a:r>
              <a:t>Premium SSD is selected for this workload — it is purpose-built for latency-sensitive, high-IOPS transactional applications like the assumed online shopping scenario.</a:t>
            </a:r>
          </a:p>
        </p:txBody>
      </p:sp>
      <p:sp>
        <p:nvSpPr>
          <p:cNvPr id="224" name="Text 20"/>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225" name="Shape 21"/>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226" name="Text 22"/>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230"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PREMIUM SSD TIERS</a:t>
            </a:r>
          </a:p>
        </p:txBody>
      </p:sp>
      <p:sp>
        <p:nvSpPr>
          <p:cNvPr id="231"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Azure Premium SSD Performance Tiers</a:t>
            </a:r>
          </a:p>
        </p:txBody>
      </p:sp>
      <p:sp>
        <p:nvSpPr>
          <p:cNvPr id="232" name="Text 2"/>
          <p:cNvSpPr txBox="1"/>
          <p:nvPr/>
        </p:nvSpPr>
        <p:spPr>
          <a:xfrm>
            <a:off x="594359" y="1239773"/>
            <a:ext cx="502920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Performance tier determines:</a:t>
            </a:r>
          </a:p>
        </p:txBody>
      </p:sp>
      <p:sp>
        <p:nvSpPr>
          <p:cNvPr id="233" name="Shape 3"/>
          <p:cNvSpPr/>
          <p:nvPr/>
        </p:nvSpPr>
        <p:spPr>
          <a:xfrm>
            <a:off x="548640" y="1600200"/>
            <a:ext cx="365761" cy="3657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234" name="Image 0" descr="Image 0"/>
          <p:cNvPicPr>
            <a:picLocks noChangeAspect="1"/>
          </p:cNvPicPr>
          <p:nvPr/>
        </p:nvPicPr>
        <p:blipFill>
          <a:blip r:embed="rId3">
            <a:extLst/>
          </a:blip>
          <a:stretch>
            <a:fillRect/>
          </a:stretch>
        </p:blipFill>
        <p:spPr>
          <a:xfrm>
            <a:off x="588873" y="1640433"/>
            <a:ext cx="285294" cy="285294"/>
          </a:xfrm>
          <a:prstGeom prst="rect">
            <a:avLst/>
          </a:prstGeom>
          <a:ln w="12700">
            <a:miter lim="400000"/>
          </a:ln>
        </p:spPr>
      </p:pic>
      <p:sp>
        <p:nvSpPr>
          <p:cNvPr id="235" name="Text 4"/>
          <p:cNvSpPr txBox="1"/>
          <p:nvPr/>
        </p:nvSpPr>
        <p:spPr>
          <a:xfrm>
            <a:off x="1051559" y="1642793"/>
            <a:ext cx="45720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B7C"/>
                </a:solidFill>
              </a:defRPr>
            </a:lvl1pPr>
          </a:lstStyle>
          <a:p>
            <a:pPr/>
            <a:r>
              <a:t>IOPS (input/output operations per second)</a:t>
            </a:r>
          </a:p>
        </p:txBody>
      </p:sp>
      <p:sp>
        <p:nvSpPr>
          <p:cNvPr id="236" name="Shape 5"/>
          <p:cNvSpPr/>
          <p:nvPr/>
        </p:nvSpPr>
        <p:spPr>
          <a:xfrm>
            <a:off x="548640" y="2057400"/>
            <a:ext cx="365761" cy="3657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237" name="Image 1" descr="Image 1"/>
          <p:cNvPicPr>
            <a:picLocks noChangeAspect="1"/>
          </p:cNvPicPr>
          <p:nvPr/>
        </p:nvPicPr>
        <p:blipFill>
          <a:blip r:embed="rId3">
            <a:extLst/>
          </a:blip>
          <a:stretch>
            <a:fillRect/>
          </a:stretch>
        </p:blipFill>
        <p:spPr>
          <a:xfrm>
            <a:off x="588873" y="2097633"/>
            <a:ext cx="285294" cy="285294"/>
          </a:xfrm>
          <a:prstGeom prst="rect">
            <a:avLst/>
          </a:prstGeom>
          <a:ln w="12700">
            <a:miter lim="400000"/>
          </a:ln>
        </p:spPr>
      </p:pic>
      <p:sp>
        <p:nvSpPr>
          <p:cNvPr id="238" name="Text 6"/>
          <p:cNvSpPr txBox="1"/>
          <p:nvPr/>
        </p:nvSpPr>
        <p:spPr>
          <a:xfrm>
            <a:off x="1051559" y="2099993"/>
            <a:ext cx="45720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B7C"/>
                </a:solidFill>
              </a:defRPr>
            </a:lvl1pPr>
          </a:lstStyle>
          <a:p>
            <a:pPr/>
            <a:r>
              <a:t>Throughput (data transfer rate, MB/s)</a:t>
            </a:r>
          </a:p>
        </p:txBody>
      </p:sp>
      <p:sp>
        <p:nvSpPr>
          <p:cNvPr id="239" name="Shape 7"/>
          <p:cNvSpPr/>
          <p:nvPr/>
        </p:nvSpPr>
        <p:spPr>
          <a:xfrm>
            <a:off x="548640" y="2514600"/>
            <a:ext cx="365761" cy="3657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240" name="Image 2" descr="Image 2"/>
          <p:cNvPicPr>
            <a:picLocks noChangeAspect="1"/>
          </p:cNvPicPr>
          <p:nvPr/>
        </p:nvPicPr>
        <p:blipFill>
          <a:blip r:embed="rId3">
            <a:extLst/>
          </a:blip>
          <a:stretch>
            <a:fillRect/>
          </a:stretch>
        </p:blipFill>
        <p:spPr>
          <a:xfrm>
            <a:off x="588873" y="2554833"/>
            <a:ext cx="285294" cy="285294"/>
          </a:xfrm>
          <a:prstGeom prst="rect">
            <a:avLst/>
          </a:prstGeom>
          <a:ln w="12700">
            <a:miter lim="400000"/>
          </a:ln>
        </p:spPr>
      </p:pic>
      <p:sp>
        <p:nvSpPr>
          <p:cNvPr id="241" name="Text 8"/>
          <p:cNvSpPr txBox="1"/>
          <p:nvPr/>
        </p:nvSpPr>
        <p:spPr>
          <a:xfrm>
            <a:off x="1051559" y="2557193"/>
            <a:ext cx="45720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B7C"/>
                </a:solidFill>
              </a:defRPr>
            </a:lvl1pPr>
          </a:lstStyle>
          <a:p>
            <a:pPr/>
            <a:r>
              <a:t>Overall disk performance ceiling</a:t>
            </a:r>
          </a:p>
        </p:txBody>
      </p:sp>
      <p:sp>
        <p:nvSpPr>
          <p:cNvPr id="242" name="Shape 9"/>
          <p:cNvSpPr/>
          <p:nvPr/>
        </p:nvSpPr>
        <p:spPr>
          <a:xfrm>
            <a:off x="548640" y="3246120"/>
            <a:ext cx="5212080" cy="1874521"/>
          </a:xfrm>
          <a:prstGeom prst="roundRect">
            <a:avLst>
              <a:gd name="adj" fmla="val 3902"/>
            </a:avLst>
          </a:prstGeom>
          <a:solidFill>
            <a:srgbClr val="002050"/>
          </a:solidFill>
          <a:ln w="12700">
            <a:solidFill>
              <a:srgbClr val="002050"/>
            </a:solidFill>
          </a:ln>
        </p:spPr>
        <p:txBody>
          <a:bodyPr lIns="45719" rIns="45719"/>
          <a:lstStyle/>
          <a:p>
            <a:pPr/>
          </a:p>
        </p:txBody>
      </p:sp>
      <p:sp>
        <p:nvSpPr>
          <p:cNvPr id="243" name="Text 10"/>
          <p:cNvSpPr txBox="1"/>
          <p:nvPr/>
        </p:nvSpPr>
        <p:spPr>
          <a:xfrm>
            <a:off x="868680" y="3415328"/>
            <a:ext cx="2651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000">
                <a:solidFill>
                  <a:srgbClr val="50E6FF"/>
                </a:solidFill>
              </a:defRPr>
            </a:lvl1pPr>
          </a:lstStyle>
          <a:p>
            <a:pPr/>
            <a:r>
              <a:t>EXAMPLE TIER</a:t>
            </a:r>
          </a:p>
        </p:txBody>
      </p:sp>
      <p:sp>
        <p:nvSpPr>
          <p:cNvPr id="244" name="Text 11"/>
          <p:cNvSpPr txBox="1"/>
          <p:nvPr/>
        </p:nvSpPr>
        <p:spPr>
          <a:xfrm>
            <a:off x="868680" y="3633469"/>
            <a:ext cx="1737361" cy="688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4000">
                <a:solidFill>
                  <a:srgbClr val="FFFFFF"/>
                </a:solidFill>
                <a:latin typeface="Cambria"/>
                <a:ea typeface="Cambria"/>
                <a:cs typeface="Cambria"/>
                <a:sym typeface="Cambria"/>
              </a:defRPr>
            </a:lvl1pPr>
          </a:lstStyle>
          <a:p>
            <a:pPr/>
            <a:r>
              <a:t>P10</a:t>
            </a:r>
          </a:p>
        </p:txBody>
      </p:sp>
      <p:sp>
        <p:nvSpPr>
          <p:cNvPr id="245" name="Shape 12"/>
          <p:cNvSpPr/>
          <p:nvPr/>
        </p:nvSpPr>
        <p:spPr>
          <a:xfrm flipH="1">
            <a:off x="2606039" y="3703320"/>
            <a:ext cx="1" cy="1234441"/>
          </a:xfrm>
          <a:prstGeom prst="line">
            <a:avLst/>
          </a:prstGeom>
          <a:ln w="19050">
            <a:solidFill>
              <a:srgbClr val="15477F"/>
            </a:solidFill>
          </a:ln>
        </p:spPr>
        <p:txBody>
          <a:bodyPr lIns="45719" rIns="45719"/>
          <a:lstStyle/>
          <a:p>
            <a:pPr/>
          </a:p>
        </p:txBody>
      </p:sp>
      <p:sp>
        <p:nvSpPr>
          <p:cNvPr id="246" name="Text 13"/>
          <p:cNvSpPr txBox="1"/>
          <p:nvPr/>
        </p:nvSpPr>
        <p:spPr>
          <a:xfrm>
            <a:off x="2880360" y="3620769"/>
            <a:ext cx="1280161" cy="485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600">
                <a:solidFill>
                  <a:srgbClr val="50E6FF"/>
                </a:solidFill>
                <a:latin typeface="Cambria"/>
                <a:ea typeface="Cambria"/>
                <a:cs typeface="Cambria"/>
                <a:sym typeface="Cambria"/>
              </a:defRPr>
            </a:lvl1pPr>
          </a:lstStyle>
          <a:p>
            <a:pPr/>
            <a:r>
              <a:t>500</a:t>
            </a:r>
          </a:p>
        </p:txBody>
      </p:sp>
      <p:sp>
        <p:nvSpPr>
          <p:cNvPr id="247" name="Text 14"/>
          <p:cNvSpPr txBox="1"/>
          <p:nvPr/>
        </p:nvSpPr>
        <p:spPr>
          <a:xfrm>
            <a:off x="2880360" y="4137704"/>
            <a:ext cx="1280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1000">
                <a:solidFill>
                  <a:srgbClr val="CFE3F7"/>
                </a:solidFill>
              </a:defRPr>
            </a:lvl1pPr>
          </a:lstStyle>
          <a:p>
            <a:pPr/>
            <a:r>
              <a:t>IOPS</a:t>
            </a:r>
          </a:p>
        </p:txBody>
      </p:sp>
      <p:sp>
        <p:nvSpPr>
          <p:cNvPr id="248" name="Text 15"/>
          <p:cNvSpPr txBox="1"/>
          <p:nvPr/>
        </p:nvSpPr>
        <p:spPr>
          <a:xfrm>
            <a:off x="4297679" y="3652519"/>
            <a:ext cx="1371602"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200">
                <a:solidFill>
                  <a:srgbClr val="50E6FF"/>
                </a:solidFill>
                <a:latin typeface="Cambria"/>
                <a:ea typeface="Cambria"/>
                <a:cs typeface="Cambria"/>
                <a:sym typeface="Cambria"/>
              </a:defRPr>
            </a:lvl1pPr>
          </a:lstStyle>
          <a:p>
            <a:pPr/>
            <a:r>
              <a:t>100 MB/s</a:t>
            </a:r>
          </a:p>
        </p:txBody>
      </p:sp>
      <p:sp>
        <p:nvSpPr>
          <p:cNvPr id="249" name="Text 16"/>
          <p:cNvSpPr txBox="1"/>
          <p:nvPr/>
        </p:nvSpPr>
        <p:spPr>
          <a:xfrm>
            <a:off x="4297679" y="4137704"/>
            <a:ext cx="137160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1000">
                <a:solidFill>
                  <a:srgbClr val="CFE3F7"/>
                </a:solidFill>
              </a:defRPr>
            </a:lvl1pPr>
          </a:lstStyle>
          <a:p>
            <a:pPr/>
            <a:r>
              <a:t>THROUGHPUT</a:t>
            </a:r>
          </a:p>
        </p:txBody>
      </p:sp>
      <p:sp>
        <p:nvSpPr>
          <p:cNvPr id="250" name="Text 17"/>
          <p:cNvSpPr txBox="1"/>
          <p:nvPr/>
        </p:nvSpPr>
        <p:spPr>
          <a:xfrm>
            <a:off x="594360" y="5327826"/>
            <a:ext cx="5120640"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5B6B7C"/>
                </a:solidFill>
              </a:defRPr>
            </a:lvl1pPr>
          </a:lstStyle>
          <a:p>
            <a:pPr/>
            <a:r>
              <a:t>Higher tiers increase performance — and cost — proportionally.</a:t>
            </a:r>
          </a:p>
        </p:txBody>
      </p:sp>
      <p:sp>
        <p:nvSpPr>
          <p:cNvPr id="251" name="Shape 18"/>
          <p:cNvSpPr/>
          <p:nvPr/>
        </p:nvSpPr>
        <p:spPr>
          <a:xfrm>
            <a:off x="6035040" y="1234439"/>
            <a:ext cx="5623560" cy="4983481"/>
          </a:xfrm>
          <a:prstGeom prst="roundRect">
            <a:avLst>
              <a:gd name="adj" fmla="val 1468"/>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52" name="Text 19"/>
          <p:cNvSpPr txBox="1"/>
          <p:nvPr/>
        </p:nvSpPr>
        <p:spPr>
          <a:xfrm>
            <a:off x="6355079" y="1441626"/>
            <a:ext cx="502920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20" sz="1100">
                <a:solidFill>
                  <a:srgbClr val="0078D4"/>
                </a:solidFill>
              </a:defRPr>
            </a:lvl1pPr>
          </a:lstStyle>
          <a:p>
            <a:pPr/>
            <a:r>
              <a:t>PERFORMANCE TIER COMPARISON</a:t>
            </a:r>
          </a:p>
        </p:txBody>
      </p:sp>
      <p:sp>
        <p:nvSpPr>
          <p:cNvPr id="253" name="Shape 20"/>
          <p:cNvSpPr/>
          <p:nvPr/>
        </p:nvSpPr>
        <p:spPr>
          <a:xfrm>
            <a:off x="6400800" y="4777740"/>
            <a:ext cx="685800" cy="1028701"/>
          </a:xfrm>
          <a:prstGeom prst="roundRect">
            <a:avLst>
              <a:gd name="adj" fmla="val 6667"/>
            </a:avLst>
          </a:prstGeom>
          <a:solidFill>
            <a:srgbClr val="FFB900"/>
          </a:solidFill>
          <a:ln w="12700">
            <a:miter lim="400000"/>
          </a:ln>
        </p:spPr>
        <p:txBody>
          <a:bodyPr lIns="45719" rIns="45719"/>
          <a:lstStyle/>
          <a:p>
            <a:pPr/>
          </a:p>
        </p:txBody>
      </p:sp>
      <p:sp>
        <p:nvSpPr>
          <p:cNvPr id="254" name="Text 21"/>
          <p:cNvSpPr txBox="1"/>
          <p:nvPr/>
        </p:nvSpPr>
        <p:spPr>
          <a:xfrm>
            <a:off x="6400800" y="5885609"/>
            <a:ext cx="685800"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002050"/>
                </a:solidFill>
              </a:defRPr>
            </a:lvl1pPr>
          </a:lstStyle>
          <a:p>
            <a:pPr/>
            <a:r>
              <a:t>P10</a:t>
            </a:r>
          </a:p>
        </p:txBody>
      </p:sp>
      <p:sp>
        <p:nvSpPr>
          <p:cNvPr id="255" name="Text 22"/>
          <p:cNvSpPr txBox="1"/>
          <p:nvPr/>
        </p:nvSpPr>
        <p:spPr>
          <a:xfrm>
            <a:off x="6309360" y="4537622"/>
            <a:ext cx="86868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002050"/>
                </a:solidFill>
              </a:defRPr>
            </a:lvl1pPr>
          </a:lstStyle>
          <a:p>
            <a:pPr/>
            <a:r>
              <a:t>500</a:t>
            </a:r>
          </a:p>
        </p:txBody>
      </p:sp>
      <p:sp>
        <p:nvSpPr>
          <p:cNvPr id="256" name="Shape 23"/>
          <p:cNvSpPr/>
          <p:nvPr/>
        </p:nvSpPr>
        <p:spPr>
          <a:xfrm>
            <a:off x="7379207" y="4377690"/>
            <a:ext cx="685801" cy="1428751"/>
          </a:xfrm>
          <a:prstGeom prst="roundRect">
            <a:avLst>
              <a:gd name="adj" fmla="val 6667"/>
            </a:avLst>
          </a:prstGeom>
          <a:solidFill>
            <a:srgbClr val="0078D4"/>
          </a:solidFill>
          <a:ln w="12700">
            <a:miter lim="400000"/>
          </a:ln>
        </p:spPr>
        <p:txBody>
          <a:bodyPr lIns="45719" rIns="45719"/>
          <a:lstStyle/>
          <a:p>
            <a:pPr/>
          </a:p>
        </p:txBody>
      </p:sp>
      <p:sp>
        <p:nvSpPr>
          <p:cNvPr id="257" name="Text 24"/>
          <p:cNvSpPr txBox="1"/>
          <p:nvPr/>
        </p:nvSpPr>
        <p:spPr>
          <a:xfrm>
            <a:off x="7379207" y="5885609"/>
            <a:ext cx="6858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002050"/>
                </a:solidFill>
              </a:defRPr>
            </a:lvl1pPr>
          </a:lstStyle>
          <a:p>
            <a:pPr/>
            <a:r>
              <a:t>P15</a:t>
            </a:r>
          </a:p>
        </p:txBody>
      </p:sp>
      <p:sp>
        <p:nvSpPr>
          <p:cNvPr id="258" name="Text 25"/>
          <p:cNvSpPr txBox="1"/>
          <p:nvPr/>
        </p:nvSpPr>
        <p:spPr>
          <a:xfrm>
            <a:off x="7287767" y="4137572"/>
            <a:ext cx="86868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002050"/>
                </a:solidFill>
              </a:defRPr>
            </a:lvl1pPr>
          </a:lstStyle>
          <a:p>
            <a:pPr/>
            <a:r>
              <a:t>1100</a:t>
            </a:r>
          </a:p>
        </p:txBody>
      </p:sp>
      <p:sp>
        <p:nvSpPr>
          <p:cNvPr id="259" name="Shape 26"/>
          <p:cNvSpPr/>
          <p:nvPr/>
        </p:nvSpPr>
        <p:spPr>
          <a:xfrm>
            <a:off x="8357616" y="3977640"/>
            <a:ext cx="685801" cy="1828801"/>
          </a:xfrm>
          <a:prstGeom prst="roundRect">
            <a:avLst>
              <a:gd name="adj" fmla="val 6667"/>
            </a:avLst>
          </a:prstGeom>
          <a:solidFill>
            <a:srgbClr val="0078D4"/>
          </a:solidFill>
          <a:ln w="12700">
            <a:miter lim="400000"/>
          </a:ln>
        </p:spPr>
        <p:txBody>
          <a:bodyPr lIns="45719" rIns="45719"/>
          <a:lstStyle/>
          <a:p>
            <a:pPr/>
          </a:p>
        </p:txBody>
      </p:sp>
      <p:sp>
        <p:nvSpPr>
          <p:cNvPr id="260" name="Text 27"/>
          <p:cNvSpPr txBox="1"/>
          <p:nvPr/>
        </p:nvSpPr>
        <p:spPr>
          <a:xfrm>
            <a:off x="8357615" y="5885609"/>
            <a:ext cx="6858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002050"/>
                </a:solidFill>
              </a:defRPr>
            </a:lvl1pPr>
          </a:lstStyle>
          <a:p>
            <a:pPr/>
            <a:r>
              <a:t>P20</a:t>
            </a:r>
          </a:p>
        </p:txBody>
      </p:sp>
      <p:sp>
        <p:nvSpPr>
          <p:cNvPr id="261" name="Text 28"/>
          <p:cNvSpPr txBox="1"/>
          <p:nvPr/>
        </p:nvSpPr>
        <p:spPr>
          <a:xfrm>
            <a:off x="8266176" y="3737522"/>
            <a:ext cx="86868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002050"/>
                </a:solidFill>
              </a:defRPr>
            </a:lvl1pPr>
          </a:lstStyle>
          <a:p>
            <a:pPr/>
            <a:r>
              <a:t>2300</a:t>
            </a:r>
          </a:p>
        </p:txBody>
      </p:sp>
      <p:sp>
        <p:nvSpPr>
          <p:cNvPr id="262" name="Shape 29"/>
          <p:cNvSpPr/>
          <p:nvPr/>
        </p:nvSpPr>
        <p:spPr>
          <a:xfrm>
            <a:off x="9336023" y="3520440"/>
            <a:ext cx="685801" cy="2286001"/>
          </a:xfrm>
          <a:prstGeom prst="roundRect">
            <a:avLst>
              <a:gd name="adj" fmla="val 6667"/>
            </a:avLst>
          </a:prstGeom>
          <a:solidFill>
            <a:srgbClr val="0078D4"/>
          </a:solidFill>
          <a:ln w="12700">
            <a:miter lim="400000"/>
          </a:ln>
        </p:spPr>
        <p:txBody>
          <a:bodyPr lIns="45719" rIns="45719"/>
          <a:lstStyle/>
          <a:p>
            <a:pPr/>
          </a:p>
        </p:txBody>
      </p:sp>
      <p:sp>
        <p:nvSpPr>
          <p:cNvPr id="263" name="Text 30"/>
          <p:cNvSpPr txBox="1"/>
          <p:nvPr/>
        </p:nvSpPr>
        <p:spPr>
          <a:xfrm>
            <a:off x="9336023" y="5885609"/>
            <a:ext cx="6858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002050"/>
                </a:solidFill>
              </a:defRPr>
            </a:lvl1pPr>
          </a:lstStyle>
          <a:p>
            <a:pPr/>
            <a:r>
              <a:t>P30</a:t>
            </a:r>
          </a:p>
        </p:txBody>
      </p:sp>
      <p:sp>
        <p:nvSpPr>
          <p:cNvPr id="264" name="Text 31"/>
          <p:cNvSpPr txBox="1"/>
          <p:nvPr/>
        </p:nvSpPr>
        <p:spPr>
          <a:xfrm>
            <a:off x="9244583" y="3280322"/>
            <a:ext cx="86868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002050"/>
                </a:solidFill>
              </a:defRPr>
            </a:lvl1pPr>
          </a:lstStyle>
          <a:p>
            <a:pPr/>
            <a:r>
              <a:t>5000</a:t>
            </a:r>
          </a:p>
        </p:txBody>
      </p:sp>
      <p:sp>
        <p:nvSpPr>
          <p:cNvPr id="265" name="Shape 32"/>
          <p:cNvSpPr/>
          <p:nvPr/>
        </p:nvSpPr>
        <p:spPr>
          <a:xfrm>
            <a:off x="10314431" y="3063239"/>
            <a:ext cx="685801" cy="2743201"/>
          </a:xfrm>
          <a:prstGeom prst="roundRect">
            <a:avLst>
              <a:gd name="adj" fmla="val 6667"/>
            </a:avLst>
          </a:prstGeom>
          <a:solidFill>
            <a:srgbClr val="0078D4"/>
          </a:solidFill>
          <a:ln w="12700">
            <a:miter lim="400000"/>
          </a:ln>
        </p:spPr>
        <p:txBody>
          <a:bodyPr lIns="45719" rIns="45719"/>
          <a:lstStyle/>
          <a:p>
            <a:pPr/>
          </a:p>
        </p:txBody>
      </p:sp>
      <p:sp>
        <p:nvSpPr>
          <p:cNvPr id="266" name="Text 33"/>
          <p:cNvSpPr txBox="1"/>
          <p:nvPr/>
        </p:nvSpPr>
        <p:spPr>
          <a:xfrm>
            <a:off x="10314431" y="5885609"/>
            <a:ext cx="6858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002050"/>
                </a:solidFill>
              </a:defRPr>
            </a:lvl1pPr>
          </a:lstStyle>
          <a:p>
            <a:pPr/>
            <a:r>
              <a:t>P40</a:t>
            </a:r>
          </a:p>
        </p:txBody>
      </p:sp>
      <p:sp>
        <p:nvSpPr>
          <p:cNvPr id="267" name="Text 34"/>
          <p:cNvSpPr txBox="1"/>
          <p:nvPr/>
        </p:nvSpPr>
        <p:spPr>
          <a:xfrm>
            <a:off x="10222991" y="2823122"/>
            <a:ext cx="86868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002050"/>
                </a:solidFill>
              </a:defRPr>
            </a:lvl1pPr>
          </a:lstStyle>
          <a:p>
            <a:pPr/>
            <a:r>
              <a:t>7500</a:t>
            </a:r>
          </a:p>
        </p:txBody>
      </p:sp>
      <p:sp>
        <p:nvSpPr>
          <p:cNvPr id="268" name="Text 35"/>
          <p:cNvSpPr txBox="1"/>
          <p:nvPr/>
        </p:nvSpPr>
        <p:spPr>
          <a:xfrm>
            <a:off x="6355079" y="6224691"/>
            <a:ext cx="50292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900">
                <a:solidFill>
                  <a:srgbClr val="5B6B7C"/>
                </a:solidFill>
              </a:defRPr>
            </a:lvl1pPr>
          </a:lstStyle>
          <a:p>
            <a:pPr/>
            <a:r>
              <a:t>IOPS by performance tier (illustrative scale)</a:t>
            </a:r>
          </a:p>
        </p:txBody>
      </p:sp>
      <p:sp>
        <p:nvSpPr>
          <p:cNvPr id="269" name="Text 36"/>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270" name="Shape 37"/>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271" name="Text 38"/>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275"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IMPLEMENTATION</a:t>
            </a:r>
          </a:p>
        </p:txBody>
      </p:sp>
      <p:sp>
        <p:nvSpPr>
          <p:cNvPr id="276"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Azure Implementation Steps</a:t>
            </a:r>
          </a:p>
        </p:txBody>
      </p:sp>
      <p:sp>
        <p:nvSpPr>
          <p:cNvPr id="277" name="Shape 2"/>
          <p:cNvSpPr/>
          <p:nvPr/>
        </p:nvSpPr>
        <p:spPr>
          <a:xfrm>
            <a:off x="548640" y="1554480"/>
            <a:ext cx="3611880"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78" name="Shape 3"/>
          <p:cNvSpPr/>
          <p:nvPr/>
        </p:nvSpPr>
        <p:spPr>
          <a:xfrm>
            <a:off x="777240" y="1783079"/>
            <a:ext cx="502921" cy="502921"/>
          </a:xfrm>
          <a:prstGeom prst="ellipse">
            <a:avLst/>
          </a:prstGeom>
          <a:solidFill>
            <a:srgbClr val="0078D4"/>
          </a:solidFill>
          <a:ln w="12700">
            <a:miter lim="400000"/>
          </a:ln>
        </p:spPr>
        <p:txBody>
          <a:bodyPr lIns="45719" rIns="45719"/>
          <a:lstStyle/>
          <a:p>
            <a:pPr/>
          </a:p>
        </p:txBody>
      </p:sp>
      <p:sp>
        <p:nvSpPr>
          <p:cNvPr id="279" name="Text 4"/>
          <p:cNvSpPr txBox="1"/>
          <p:nvPr/>
        </p:nvSpPr>
        <p:spPr>
          <a:xfrm>
            <a:off x="822960" y="1855469"/>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1</a:t>
            </a:r>
          </a:p>
        </p:txBody>
      </p:sp>
      <p:sp>
        <p:nvSpPr>
          <p:cNvPr id="280" name="Text 5"/>
          <p:cNvSpPr txBox="1"/>
          <p:nvPr/>
        </p:nvSpPr>
        <p:spPr>
          <a:xfrm>
            <a:off x="1463039" y="1907285"/>
            <a:ext cx="2468882"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Create Azure Resource Group</a:t>
            </a:r>
          </a:p>
        </p:txBody>
      </p:sp>
      <p:sp>
        <p:nvSpPr>
          <p:cNvPr id="281" name="Text 6"/>
          <p:cNvSpPr txBox="1"/>
          <p:nvPr/>
        </p:nvSpPr>
        <p:spPr>
          <a:xfrm>
            <a:off x="822959" y="2721510"/>
            <a:ext cx="3063242" cy="41828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5B6B7C"/>
                </a:solidFill>
              </a:defRPr>
            </a:lvl1pPr>
          </a:lstStyle>
          <a:p>
            <a:pPr/>
            <a:r>
              <a:t>Logical container to organize all related storage &amp; compute resources.</a:t>
            </a:r>
          </a:p>
        </p:txBody>
      </p:sp>
      <p:sp>
        <p:nvSpPr>
          <p:cNvPr id="282" name="Shape 8"/>
          <p:cNvSpPr/>
          <p:nvPr/>
        </p:nvSpPr>
        <p:spPr>
          <a:xfrm>
            <a:off x="4389120" y="1554480"/>
            <a:ext cx="3611880"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83" name="Shape 9"/>
          <p:cNvSpPr/>
          <p:nvPr/>
        </p:nvSpPr>
        <p:spPr>
          <a:xfrm>
            <a:off x="4617720" y="1783079"/>
            <a:ext cx="502921" cy="502921"/>
          </a:xfrm>
          <a:prstGeom prst="ellipse">
            <a:avLst/>
          </a:prstGeom>
          <a:solidFill>
            <a:srgbClr val="0078D4"/>
          </a:solidFill>
          <a:ln w="12700">
            <a:miter lim="400000"/>
          </a:ln>
        </p:spPr>
        <p:txBody>
          <a:bodyPr lIns="45719" rIns="45719"/>
          <a:lstStyle/>
          <a:p>
            <a:pPr/>
          </a:p>
        </p:txBody>
      </p:sp>
      <p:sp>
        <p:nvSpPr>
          <p:cNvPr id="284" name="Text 10"/>
          <p:cNvSpPr txBox="1"/>
          <p:nvPr/>
        </p:nvSpPr>
        <p:spPr>
          <a:xfrm>
            <a:off x="4663440" y="1855469"/>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2</a:t>
            </a:r>
          </a:p>
        </p:txBody>
      </p:sp>
      <p:sp>
        <p:nvSpPr>
          <p:cNvPr id="285" name="Text 11"/>
          <p:cNvSpPr txBox="1"/>
          <p:nvPr/>
        </p:nvSpPr>
        <p:spPr>
          <a:xfrm>
            <a:off x="5303520" y="1907285"/>
            <a:ext cx="246888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Create Managed Disk</a:t>
            </a:r>
          </a:p>
        </p:txBody>
      </p:sp>
      <p:sp>
        <p:nvSpPr>
          <p:cNvPr id="286" name="Text 12"/>
          <p:cNvSpPr txBox="1"/>
          <p:nvPr/>
        </p:nvSpPr>
        <p:spPr>
          <a:xfrm>
            <a:off x="4663440" y="2721510"/>
            <a:ext cx="3063241" cy="41828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5B6B7C"/>
                </a:solidFill>
              </a:defRPr>
            </a:lvl1pPr>
          </a:lstStyle>
          <a:p>
            <a:pPr/>
            <a:r>
              <a:t>Provision a new managed disk resource within the resource group.</a:t>
            </a:r>
          </a:p>
        </p:txBody>
      </p:sp>
      <p:sp>
        <p:nvSpPr>
          <p:cNvPr id="287" name="Shape 14"/>
          <p:cNvSpPr/>
          <p:nvPr/>
        </p:nvSpPr>
        <p:spPr>
          <a:xfrm>
            <a:off x="8229600" y="1554480"/>
            <a:ext cx="3611880"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88" name="Shape 15"/>
          <p:cNvSpPr/>
          <p:nvPr/>
        </p:nvSpPr>
        <p:spPr>
          <a:xfrm>
            <a:off x="8458200" y="1783079"/>
            <a:ext cx="502921" cy="502921"/>
          </a:xfrm>
          <a:prstGeom prst="ellipse">
            <a:avLst/>
          </a:prstGeom>
          <a:solidFill>
            <a:srgbClr val="0078D4"/>
          </a:solidFill>
          <a:ln w="12700">
            <a:miter lim="400000"/>
          </a:ln>
        </p:spPr>
        <p:txBody>
          <a:bodyPr lIns="45719" rIns="45719"/>
          <a:lstStyle/>
          <a:p>
            <a:pPr/>
          </a:p>
        </p:txBody>
      </p:sp>
      <p:sp>
        <p:nvSpPr>
          <p:cNvPr id="289" name="Text 16"/>
          <p:cNvSpPr txBox="1"/>
          <p:nvPr/>
        </p:nvSpPr>
        <p:spPr>
          <a:xfrm>
            <a:off x="8503919" y="1855469"/>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3</a:t>
            </a:r>
          </a:p>
        </p:txBody>
      </p:sp>
      <p:sp>
        <p:nvSpPr>
          <p:cNvPr id="290" name="Text 17"/>
          <p:cNvSpPr txBox="1"/>
          <p:nvPr/>
        </p:nvSpPr>
        <p:spPr>
          <a:xfrm>
            <a:off x="9144000" y="1907285"/>
            <a:ext cx="246888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Select Premium SSD</a:t>
            </a:r>
          </a:p>
        </p:txBody>
      </p:sp>
      <p:sp>
        <p:nvSpPr>
          <p:cNvPr id="291" name="Text 18"/>
          <p:cNvSpPr txBox="1"/>
          <p:nvPr/>
        </p:nvSpPr>
        <p:spPr>
          <a:xfrm>
            <a:off x="8503919" y="2721510"/>
            <a:ext cx="3063241" cy="41828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5B6B7C"/>
                </a:solidFill>
              </a:defRPr>
            </a:lvl1pPr>
          </a:lstStyle>
          <a:p>
            <a:pPr/>
            <a:r>
              <a:t>Choose the Premium SSD disk type for high-performance workloads.</a:t>
            </a:r>
          </a:p>
        </p:txBody>
      </p:sp>
      <p:sp>
        <p:nvSpPr>
          <p:cNvPr id="292" name="Shape 19"/>
          <p:cNvSpPr/>
          <p:nvPr/>
        </p:nvSpPr>
        <p:spPr>
          <a:xfrm>
            <a:off x="548640" y="3776471"/>
            <a:ext cx="3611880"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93" name="Shape 20"/>
          <p:cNvSpPr/>
          <p:nvPr/>
        </p:nvSpPr>
        <p:spPr>
          <a:xfrm>
            <a:off x="777240" y="4005071"/>
            <a:ext cx="502921" cy="502921"/>
          </a:xfrm>
          <a:prstGeom prst="ellipse">
            <a:avLst/>
          </a:prstGeom>
          <a:solidFill>
            <a:srgbClr val="0078D4"/>
          </a:solidFill>
          <a:ln w="12700">
            <a:miter lim="400000"/>
          </a:ln>
        </p:spPr>
        <p:txBody>
          <a:bodyPr lIns="45719" rIns="45719"/>
          <a:lstStyle/>
          <a:p>
            <a:pPr/>
          </a:p>
        </p:txBody>
      </p:sp>
      <p:sp>
        <p:nvSpPr>
          <p:cNvPr id="294" name="Text 21"/>
          <p:cNvSpPr txBox="1"/>
          <p:nvPr/>
        </p:nvSpPr>
        <p:spPr>
          <a:xfrm>
            <a:off x="822960" y="4077461"/>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4</a:t>
            </a:r>
          </a:p>
        </p:txBody>
      </p:sp>
      <p:sp>
        <p:nvSpPr>
          <p:cNvPr id="295" name="Text 22"/>
          <p:cNvSpPr txBox="1"/>
          <p:nvPr/>
        </p:nvSpPr>
        <p:spPr>
          <a:xfrm>
            <a:off x="1463039" y="4129278"/>
            <a:ext cx="2468882"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Configure Disk Size</a:t>
            </a:r>
          </a:p>
        </p:txBody>
      </p:sp>
      <p:sp>
        <p:nvSpPr>
          <p:cNvPr id="296" name="Text 23"/>
          <p:cNvSpPr txBox="1"/>
          <p:nvPr/>
        </p:nvSpPr>
        <p:spPr>
          <a:xfrm>
            <a:off x="822959" y="4943502"/>
            <a:ext cx="3063242" cy="41828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5B6B7C"/>
                </a:solidFill>
              </a:defRPr>
            </a:lvl1pPr>
          </a:lstStyle>
          <a:p>
            <a:pPr/>
            <a:r>
              <a:t>Set capacity based on application data and growth requirements.</a:t>
            </a:r>
          </a:p>
        </p:txBody>
      </p:sp>
      <p:sp>
        <p:nvSpPr>
          <p:cNvPr id="297" name="Shape 25"/>
          <p:cNvSpPr/>
          <p:nvPr/>
        </p:nvSpPr>
        <p:spPr>
          <a:xfrm>
            <a:off x="4389120" y="3776471"/>
            <a:ext cx="3611880"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298" name="Shape 26"/>
          <p:cNvSpPr/>
          <p:nvPr/>
        </p:nvSpPr>
        <p:spPr>
          <a:xfrm>
            <a:off x="4617720" y="4005071"/>
            <a:ext cx="502921" cy="502921"/>
          </a:xfrm>
          <a:prstGeom prst="ellipse">
            <a:avLst/>
          </a:prstGeom>
          <a:solidFill>
            <a:srgbClr val="0078D4"/>
          </a:solidFill>
          <a:ln w="12700">
            <a:miter lim="400000"/>
          </a:ln>
        </p:spPr>
        <p:txBody>
          <a:bodyPr lIns="45719" rIns="45719"/>
          <a:lstStyle/>
          <a:p>
            <a:pPr/>
          </a:p>
        </p:txBody>
      </p:sp>
      <p:sp>
        <p:nvSpPr>
          <p:cNvPr id="299" name="Text 27"/>
          <p:cNvSpPr txBox="1"/>
          <p:nvPr/>
        </p:nvSpPr>
        <p:spPr>
          <a:xfrm>
            <a:off x="4663440" y="4077461"/>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5</a:t>
            </a:r>
          </a:p>
        </p:txBody>
      </p:sp>
      <p:sp>
        <p:nvSpPr>
          <p:cNvPr id="300" name="Text 28"/>
          <p:cNvSpPr txBox="1"/>
          <p:nvPr/>
        </p:nvSpPr>
        <p:spPr>
          <a:xfrm>
            <a:off x="5303520" y="4129278"/>
            <a:ext cx="246888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Select Performance Tier</a:t>
            </a:r>
          </a:p>
        </p:txBody>
      </p:sp>
      <p:sp>
        <p:nvSpPr>
          <p:cNvPr id="301" name="Text 29"/>
          <p:cNvSpPr txBox="1"/>
          <p:nvPr/>
        </p:nvSpPr>
        <p:spPr>
          <a:xfrm>
            <a:off x="4663440" y="4943502"/>
            <a:ext cx="3063241" cy="41828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5B6B7C"/>
                </a:solidFill>
              </a:defRPr>
            </a:lvl1pPr>
          </a:lstStyle>
          <a:p>
            <a:pPr/>
            <a:r>
              <a:t>Assign the appropriate tier (e.g., P10) to match workload IOPS/throughput.</a:t>
            </a:r>
          </a:p>
        </p:txBody>
      </p:sp>
      <p:sp>
        <p:nvSpPr>
          <p:cNvPr id="302" name="Shape 31"/>
          <p:cNvSpPr/>
          <p:nvPr/>
        </p:nvSpPr>
        <p:spPr>
          <a:xfrm>
            <a:off x="8229600" y="3776471"/>
            <a:ext cx="3611880"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303" name="Shape 32"/>
          <p:cNvSpPr/>
          <p:nvPr/>
        </p:nvSpPr>
        <p:spPr>
          <a:xfrm>
            <a:off x="8458200" y="4005071"/>
            <a:ext cx="502921" cy="502921"/>
          </a:xfrm>
          <a:prstGeom prst="ellipse">
            <a:avLst/>
          </a:prstGeom>
          <a:solidFill>
            <a:srgbClr val="0078D4"/>
          </a:solidFill>
          <a:ln w="12700">
            <a:miter lim="400000"/>
          </a:ln>
        </p:spPr>
        <p:txBody>
          <a:bodyPr lIns="45719" rIns="45719"/>
          <a:lstStyle/>
          <a:p>
            <a:pPr/>
          </a:p>
        </p:txBody>
      </p:sp>
      <p:sp>
        <p:nvSpPr>
          <p:cNvPr id="304" name="Text 33"/>
          <p:cNvSpPr txBox="1"/>
          <p:nvPr/>
        </p:nvSpPr>
        <p:spPr>
          <a:xfrm>
            <a:off x="8503919" y="4077461"/>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6</a:t>
            </a:r>
          </a:p>
        </p:txBody>
      </p:sp>
      <p:sp>
        <p:nvSpPr>
          <p:cNvPr id="305" name="Text 34"/>
          <p:cNvSpPr txBox="1"/>
          <p:nvPr/>
        </p:nvSpPr>
        <p:spPr>
          <a:xfrm>
            <a:off x="9144000" y="4129278"/>
            <a:ext cx="246888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002050"/>
                </a:solidFill>
                <a:latin typeface="Cambria"/>
                <a:ea typeface="Cambria"/>
                <a:cs typeface="Cambria"/>
                <a:sym typeface="Cambria"/>
              </a:defRPr>
            </a:lvl1pPr>
          </a:lstStyle>
          <a:p>
            <a:pPr/>
            <a:r>
              <a:t>Monitor Performance</a:t>
            </a:r>
          </a:p>
        </p:txBody>
      </p:sp>
      <p:sp>
        <p:nvSpPr>
          <p:cNvPr id="306" name="Text 35"/>
          <p:cNvSpPr txBox="1"/>
          <p:nvPr/>
        </p:nvSpPr>
        <p:spPr>
          <a:xfrm>
            <a:off x="8503919" y="4943502"/>
            <a:ext cx="3063241" cy="41828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5B6B7C"/>
                </a:solidFill>
              </a:defRPr>
            </a:lvl1pPr>
          </a:lstStyle>
          <a:p>
            <a:pPr/>
            <a:r>
              <a:t>Track IOPS, throughput &amp; latency post-deployment via Azure Monitor.</a:t>
            </a:r>
          </a:p>
        </p:txBody>
      </p:sp>
      <p:sp>
        <p:nvSpPr>
          <p:cNvPr id="307" name="Text 36"/>
          <p:cNvSpPr txBox="1"/>
          <p:nvPr/>
        </p:nvSpPr>
        <p:spPr>
          <a:xfrm>
            <a:off x="594359" y="5875064"/>
            <a:ext cx="10972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5B6B7C"/>
                </a:solidFill>
              </a:defRPr>
            </a:lvl1pPr>
          </a:lstStyle>
          <a:p>
            <a:pPr/>
            <a:r>
              <a:t>Azure Portal screenshot placeholder — insert deployment screen captures here for the live demo.</a:t>
            </a:r>
          </a:p>
        </p:txBody>
      </p:sp>
      <p:sp>
        <p:nvSpPr>
          <p:cNvPr id="308" name="Text 37"/>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309" name="Shape 38"/>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310" name="Text 39"/>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2050"/>
        </a:solidFill>
      </p:bgPr>
    </p:bg>
    <p:spTree>
      <p:nvGrpSpPr>
        <p:cNvPr id="1" name=""/>
        <p:cNvGrpSpPr/>
        <p:nvPr/>
      </p:nvGrpSpPr>
      <p:grpSpPr>
        <a:xfrm>
          <a:off x="0" y="0"/>
          <a:ext cx="0" cy="0"/>
          <a:chOff x="0" y="0"/>
          <a:chExt cx="0" cy="0"/>
        </a:xfrm>
      </p:grpSpPr>
      <p:sp>
        <p:nvSpPr>
          <p:cNvPr id="314" name="Shape 0"/>
          <p:cNvSpPr/>
          <p:nvPr/>
        </p:nvSpPr>
        <p:spPr>
          <a:xfrm>
            <a:off x="-1645921" y="-1645921"/>
            <a:ext cx="4206242" cy="4206242"/>
          </a:xfrm>
          <a:prstGeom prst="ellipse">
            <a:avLst/>
          </a:prstGeom>
          <a:solidFill>
            <a:srgbClr val="0A2E5C"/>
          </a:solidFill>
          <a:ln w="12700">
            <a:miter lim="400000"/>
          </a:ln>
        </p:spPr>
        <p:txBody>
          <a:bodyPr lIns="45719" rIns="45719"/>
          <a:lstStyle/>
          <a:p>
            <a:pPr/>
          </a:p>
        </p:txBody>
      </p:sp>
      <p:sp>
        <p:nvSpPr>
          <p:cNvPr id="315" name="Text 1"/>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50E6FF"/>
                </a:solidFill>
              </a:defRPr>
            </a:lvl1pPr>
          </a:lstStyle>
          <a:p>
            <a:pPr/>
            <a:r>
              <a:t>SYSTEM ARCHITECTURE</a:t>
            </a:r>
          </a:p>
        </p:txBody>
      </p:sp>
      <p:sp>
        <p:nvSpPr>
          <p:cNvPr id="316" name="Text 2"/>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FFFFFF"/>
                </a:solidFill>
                <a:latin typeface="Cambria"/>
                <a:ea typeface="Cambria"/>
                <a:cs typeface="Cambria"/>
                <a:sym typeface="Cambria"/>
              </a:defRPr>
            </a:lvl1pPr>
          </a:lstStyle>
          <a:p>
            <a:pPr/>
            <a:r>
              <a:t>Proposed Architecture</a:t>
            </a:r>
          </a:p>
        </p:txBody>
      </p:sp>
      <p:sp>
        <p:nvSpPr>
          <p:cNvPr id="317" name="Shape 3"/>
          <p:cNvSpPr/>
          <p:nvPr/>
        </p:nvSpPr>
        <p:spPr>
          <a:xfrm>
            <a:off x="3169767" y="1645920"/>
            <a:ext cx="5852161" cy="749809"/>
          </a:xfrm>
          <a:prstGeom prst="roundRect">
            <a:avLst>
              <a:gd name="adj" fmla="val 10976"/>
            </a:avLst>
          </a:prstGeom>
          <a:solidFill>
            <a:srgbClr val="0A2E5C"/>
          </a:solidFill>
          <a:ln w="15875">
            <a:solidFill>
              <a:srgbClr val="2B88D8"/>
            </a:solidFill>
          </a:ln>
        </p:spPr>
        <p:txBody>
          <a:bodyPr lIns="45719" rIns="45719"/>
          <a:lstStyle/>
          <a:p>
            <a:pPr/>
          </a:p>
        </p:txBody>
      </p:sp>
      <p:sp>
        <p:nvSpPr>
          <p:cNvPr id="318" name="Shape 4"/>
          <p:cNvSpPr/>
          <p:nvPr/>
        </p:nvSpPr>
        <p:spPr>
          <a:xfrm>
            <a:off x="3316072" y="1764792"/>
            <a:ext cx="512065" cy="512065"/>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19" name="Image 0" descr="Image 0"/>
          <p:cNvPicPr>
            <a:picLocks noChangeAspect="1"/>
          </p:cNvPicPr>
          <p:nvPr/>
        </p:nvPicPr>
        <p:blipFill>
          <a:blip r:embed="rId3">
            <a:extLst/>
          </a:blip>
          <a:stretch>
            <a:fillRect/>
          </a:stretch>
        </p:blipFill>
        <p:spPr>
          <a:xfrm>
            <a:off x="3382640" y="1831359"/>
            <a:ext cx="378928" cy="378928"/>
          </a:xfrm>
          <a:prstGeom prst="rect">
            <a:avLst/>
          </a:prstGeom>
          <a:ln w="12700">
            <a:miter lim="400000"/>
          </a:ln>
        </p:spPr>
      </p:pic>
      <p:sp>
        <p:nvSpPr>
          <p:cNvPr id="320" name="Text 5"/>
          <p:cNvSpPr txBox="1"/>
          <p:nvPr/>
        </p:nvSpPr>
        <p:spPr>
          <a:xfrm>
            <a:off x="4038448" y="1752408"/>
            <a:ext cx="4754880"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Users</a:t>
            </a:r>
          </a:p>
        </p:txBody>
      </p:sp>
      <p:sp>
        <p:nvSpPr>
          <p:cNvPr id="321" name="Text 6"/>
          <p:cNvSpPr txBox="1"/>
          <p:nvPr/>
        </p:nvSpPr>
        <p:spPr>
          <a:xfrm>
            <a:off x="4038448" y="2080304"/>
            <a:ext cx="475488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CFE3F7"/>
                </a:solidFill>
              </a:defRPr>
            </a:lvl1pPr>
          </a:lstStyle>
          <a:p>
            <a:pPr/>
            <a:r>
              <a:t>Shoppers accessing the application</a:t>
            </a:r>
          </a:p>
        </p:txBody>
      </p:sp>
      <p:sp>
        <p:nvSpPr>
          <p:cNvPr id="322" name="Shape 7"/>
          <p:cNvSpPr/>
          <p:nvPr/>
        </p:nvSpPr>
        <p:spPr>
          <a:xfrm>
            <a:off x="5986119" y="2414016"/>
            <a:ext cx="219457"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0E6FF"/>
          </a:solidFill>
          <a:ln w="12700">
            <a:miter lim="400000"/>
          </a:ln>
        </p:spPr>
        <p:txBody>
          <a:bodyPr lIns="45719" rIns="45719"/>
          <a:lstStyle/>
          <a:p>
            <a:pPr/>
          </a:p>
        </p:txBody>
      </p:sp>
      <p:sp>
        <p:nvSpPr>
          <p:cNvPr id="323" name="Shape 8"/>
          <p:cNvSpPr/>
          <p:nvPr/>
        </p:nvSpPr>
        <p:spPr>
          <a:xfrm>
            <a:off x="3169767" y="2633472"/>
            <a:ext cx="5852161" cy="749809"/>
          </a:xfrm>
          <a:prstGeom prst="roundRect">
            <a:avLst>
              <a:gd name="adj" fmla="val 10976"/>
            </a:avLst>
          </a:prstGeom>
          <a:solidFill>
            <a:srgbClr val="0A2E5C"/>
          </a:solidFill>
          <a:ln w="15875">
            <a:solidFill>
              <a:srgbClr val="2B88D8"/>
            </a:solidFill>
          </a:ln>
        </p:spPr>
        <p:txBody>
          <a:bodyPr lIns="45719" rIns="45719"/>
          <a:lstStyle/>
          <a:p>
            <a:pPr/>
          </a:p>
        </p:txBody>
      </p:sp>
      <p:sp>
        <p:nvSpPr>
          <p:cNvPr id="324" name="Shape 9"/>
          <p:cNvSpPr/>
          <p:nvPr/>
        </p:nvSpPr>
        <p:spPr>
          <a:xfrm>
            <a:off x="3316072" y="2752344"/>
            <a:ext cx="512065" cy="512065"/>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25" name="Image 1" descr="Image 1"/>
          <p:cNvPicPr>
            <a:picLocks noChangeAspect="1"/>
          </p:cNvPicPr>
          <p:nvPr/>
        </p:nvPicPr>
        <p:blipFill>
          <a:blip r:embed="rId4">
            <a:extLst/>
          </a:blip>
          <a:stretch>
            <a:fillRect/>
          </a:stretch>
        </p:blipFill>
        <p:spPr>
          <a:xfrm>
            <a:off x="3382640" y="2818912"/>
            <a:ext cx="378928" cy="378928"/>
          </a:xfrm>
          <a:prstGeom prst="rect">
            <a:avLst/>
          </a:prstGeom>
          <a:ln w="12700">
            <a:miter lim="400000"/>
          </a:ln>
        </p:spPr>
      </p:pic>
      <p:sp>
        <p:nvSpPr>
          <p:cNvPr id="326" name="Text 10"/>
          <p:cNvSpPr txBox="1"/>
          <p:nvPr/>
        </p:nvSpPr>
        <p:spPr>
          <a:xfrm>
            <a:off x="4038448" y="2739960"/>
            <a:ext cx="4754880"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Azure Application</a:t>
            </a:r>
          </a:p>
        </p:txBody>
      </p:sp>
      <p:sp>
        <p:nvSpPr>
          <p:cNvPr id="327" name="Text 11"/>
          <p:cNvSpPr txBox="1"/>
          <p:nvPr/>
        </p:nvSpPr>
        <p:spPr>
          <a:xfrm>
            <a:off x="4038448" y="3067856"/>
            <a:ext cx="475488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CFE3F7"/>
                </a:solidFill>
              </a:defRPr>
            </a:lvl1pPr>
          </a:lstStyle>
          <a:p>
            <a:pPr/>
            <a:r>
              <a:t>Web front-end &amp; API services</a:t>
            </a:r>
          </a:p>
        </p:txBody>
      </p:sp>
      <p:sp>
        <p:nvSpPr>
          <p:cNvPr id="328" name="Shape 12"/>
          <p:cNvSpPr/>
          <p:nvPr/>
        </p:nvSpPr>
        <p:spPr>
          <a:xfrm>
            <a:off x="5986119" y="3401567"/>
            <a:ext cx="219457"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0E6FF"/>
          </a:solidFill>
          <a:ln w="12700">
            <a:miter lim="400000"/>
          </a:ln>
        </p:spPr>
        <p:txBody>
          <a:bodyPr lIns="45719" rIns="45719"/>
          <a:lstStyle/>
          <a:p>
            <a:pPr/>
          </a:p>
        </p:txBody>
      </p:sp>
      <p:sp>
        <p:nvSpPr>
          <p:cNvPr id="329" name="Shape 13"/>
          <p:cNvSpPr/>
          <p:nvPr/>
        </p:nvSpPr>
        <p:spPr>
          <a:xfrm>
            <a:off x="3169767" y="3621023"/>
            <a:ext cx="5852161" cy="749809"/>
          </a:xfrm>
          <a:prstGeom prst="roundRect">
            <a:avLst>
              <a:gd name="adj" fmla="val 10976"/>
            </a:avLst>
          </a:prstGeom>
          <a:solidFill>
            <a:srgbClr val="0A2E5C"/>
          </a:solidFill>
          <a:ln w="15875">
            <a:solidFill>
              <a:srgbClr val="2B88D8"/>
            </a:solidFill>
          </a:ln>
        </p:spPr>
        <p:txBody>
          <a:bodyPr lIns="45719" rIns="45719"/>
          <a:lstStyle/>
          <a:p>
            <a:pPr/>
          </a:p>
        </p:txBody>
      </p:sp>
      <p:sp>
        <p:nvSpPr>
          <p:cNvPr id="330" name="Shape 14"/>
          <p:cNvSpPr/>
          <p:nvPr/>
        </p:nvSpPr>
        <p:spPr>
          <a:xfrm>
            <a:off x="3316072" y="3739896"/>
            <a:ext cx="512065" cy="512065"/>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31" name="Image 2" descr="Image 2"/>
          <p:cNvPicPr>
            <a:picLocks noChangeAspect="1"/>
          </p:cNvPicPr>
          <p:nvPr/>
        </p:nvPicPr>
        <p:blipFill>
          <a:blip r:embed="rId5">
            <a:extLst/>
          </a:blip>
          <a:stretch>
            <a:fillRect/>
          </a:stretch>
        </p:blipFill>
        <p:spPr>
          <a:xfrm>
            <a:off x="3382640" y="3806464"/>
            <a:ext cx="378928" cy="378928"/>
          </a:xfrm>
          <a:prstGeom prst="rect">
            <a:avLst/>
          </a:prstGeom>
          <a:ln w="12700">
            <a:miter lim="400000"/>
          </a:ln>
        </p:spPr>
      </p:pic>
      <p:sp>
        <p:nvSpPr>
          <p:cNvPr id="332" name="Text 15"/>
          <p:cNvSpPr txBox="1"/>
          <p:nvPr/>
        </p:nvSpPr>
        <p:spPr>
          <a:xfrm>
            <a:off x="4038448" y="3727512"/>
            <a:ext cx="4754880"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Virtual Machine</a:t>
            </a:r>
          </a:p>
        </p:txBody>
      </p:sp>
      <p:sp>
        <p:nvSpPr>
          <p:cNvPr id="333" name="Text 16"/>
          <p:cNvSpPr txBox="1"/>
          <p:nvPr/>
        </p:nvSpPr>
        <p:spPr>
          <a:xfrm>
            <a:off x="4038448" y="4055408"/>
            <a:ext cx="475488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CFE3F7"/>
                </a:solidFill>
              </a:defRPr>
            </a:lvl1pPr>
          </a:lstStyle>
          <a:p>
            <a:pPr/>
            <a:r>
              <a:t>Compute hosting the application</a:t>
            </a:r>
          </a:p>
        </p:txBody>
      </p:sp>
      <p:sp>
        <p:nvSpPr>
          <p:cNvPr id="334" name="Shape 17"/>
          <p:cNvSpPr/>
          <p:nvPr/>
        </p:nvSpPr>
        <p:spPr>
          <a:xfrm>
            <a:off x="5986119" y="4389120"/>
            <a:ext cx="219457"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0E6FF"/>
          </a:solidFill>
          <a:ln w="12700">
            <a:miter lim="400000"/>
          </a:ln>
        </p:spPr>
        <p:txBody>
          <a:bodyPr lIns="45719" rIns="45719"/>
          <a:lstStyle/>
          <a:p>
            <a:pPr/>
          </a:p>
        </p:txBody>
      </p:sp>
      <p:sp>
        <p:nvSpPr>
          <p:cNvPr id="335" name="Shape 18"/>
          <p:cNvSpPr/>
          <p:nvPr/>
        </p:nvSpPr>
        <p:spPr>
          <a:xfrm>
            <a:off x="3169767" y="4608576"/>
            <a:ext cx="5852161" cy="749809"/>
          </a:xfrm>
          <a:prstGeom prst="roundRect">
            <a:avLst>
              <a:gd name="adj" fmla="val 10976"/>
            </a:avLst>
          </a:prstGeom>
          <a:solidFill>
            <a:srgbClr val="0A2E5C"/>
          </a:solidFill>
          <a:ln w="15875">
            <a:solidFill>
              <a:srgbClr val="2B88D8"/>
            </a:solidFill>
          </a:ln>
        </p:spPr>
        <p:txBody>
          <a:bodyPr lIns="45719" rIns="45719"/>
          <a:lstStyle/>
          <a:p>
            <a:pPr/>
          </a:p>
        </p:txBody>
      </p:sp>
      <p:sp>
        <p:nvSpPr>
          <p:cNvPr id="336" name="Shape 19"/>
          <p:cNvSpPr/>
          <p:nvPr/>
        </p:nvSpPr>
        <p:spPr>
          <a:xfrm>
            <a:off x="3316072" y="4727447"/>
            <a:ext cx="512065" cy="512065"/>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37" name="Image 3" descr="Image 3"/>
          <p:cNvPicPr>
            <a:picLocks noChangeAspect="1"/>
          </p:cNvPicPr>
          <p:nvPr/>
        </p:nvPicPr>
        <p:blipFill>
          <a:blip r:embed="rId6">
            <a:extLst/>
          </a:blip>
          <a:stretch>
            <a:fillRect/>
          </a:stretch>
        </p:blipFill>
        <p:spPr>
          <a:xfrm>
            <a:off x="3382640" y="4794015"/>
            <a:ext cx="378928" cy="378928"/>
          </a:xfrm>
          <a:prstGeom prst="rect">
            <a:avLst/>
          </a:prstGeom>
          <a:ln w="12700">
            <a:miter lim="400000"/>
          </a:ln>
        </p:spPr>
      </p:pic>
      <p:sp>
        <p:nvSpPr>
          <p:cNvPr id="338" name="Text 20"/>
          <p:cNvSpPr txBox="1"/>
          <p:nvPr/>
        </p:nvSpPr>
        <p:spPr>
          <a:xfrm>
            <a:off x="4038448" y="4715064"/>
            <a:ext cx="4754880"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Premium SSD Managed Disk</a:t>
            </a:r>
          </a:p>
        </p:txBody>
      </p:sp>
      <p:sp>
        <p:nvSpPr>
          <p:cNvPr id="339" name="Text 21"/>
          <p:cNvSpPr txBox="1"/>
          <p:nvPr/>
        </p:nvSpPr>
        <p:spPr>
          <a:xfrm>
            <a:off x="4038448" y="5042960"/>
            <a:ext cx="475488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CFE3F7"/>
                </a:solidFill>
              </a:defRPr>
            </a:lvl1pPr>
          </a:lstStyle>
          <a:p>
            <a:pPr/>
            <a:r>
              <a:t>High-performance disk attached to VM</a:t>
            </a:r>
          </a:p>
        </p:txBody>
      </p:sp>
      <p:sp>
        <p:nvSpPr>
          <p:cNvPr id="340" name="Shape 22"/>
          <p:cNvSpPr/>
          <p:nvPr/>
        </p:nvSpPr>
        <p:spPr>
          <a:xfrm>
            <a:off x="5986119" y="5376671"/>
            <a:ext cx="219457"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0E6FF"/>
          </a:solidFill>
          <a:ln w="12700">
            <a:miter lim="400000"/>
          </a:ln>
        </p:spPr>
        <p:txBody>
          <a:bodyPr lIns="45719" rIns="45719"/>
          <a:lstStyle/>
          <a:p>
            <a:pPr/>
          </a:p>
        </p:txBody>
      </p:sp>
      <p:sp>
        <p:nvSpPr>
          <p:cNvPr id="341" name="Shape 23"/>
          <p:cNvSpPr/>
          <p:nvPr/>
        </p:nvSpPr>
        <p:spPr>
          <a:xfrm>
            <a:off x="3169767" y="5596128"/>
            <a:ext cx="5852161" cy="749809"/>
          </a:xfrm>
          <a:prstGeom prst="roundRect">
            <a:avLst>
              <a:gd name="adj" fmla="val 10976"/>
            </a:avLst>
          </a:prstGeom>
          <a:solidFill>
            <a:srgbClr val="0A2E5C"/>
          </a:solidFill>
          <a:ln w="15875">
            <a:solidFill>
              <a:srgbClr val="2B88D8"/>
            </a:solidFill>
          </a:ln>
        </p:spPr>
        <p:txBody>
          <a:bodyPr lIns="45719" rIns="45719"/>
          <a:lstStyle/>
          <a:p>
            <a:pPr/>
          </a:p>
        </p:txBody>
      </p:sp>
      <p:sp>
        <p:nvSpPr>
          <p:cNvPr id="342" name="Shape 24"/>
          <p:cNvSpPr/>
          <p:nvPr/>
        </p:nvSpPr>
        <p:spPr>
          <a:xfrm>
            <a:off x="3316072" y="5715000"/>
            <a:ext cx="512065" cy="512064"/>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43" name="Image 4" descr="Image 4"/>
          <p:cNvPicPr>
            <a:picLocks noChangeAspect="1"/>
          </p:cNvPicPr>
          <p:nvPr/>
        </p:nvPicPr>
        <p:blipFill>
          <a:blip r:embed="rId7">
            <a:extLst/>
          </a:blip>
          <a:stretch>
            <a:fillRect/>
          </a:stretch>
        </p:blipFill>
        <p:spPr>
          <a:xfrm>
            <a:off x="3382640" y="5781568"/>
            <a:ext cx="378928" cy="378928"/>
          </a:xfrm>
          <a:prstGeom prst="rect">
            <a:avLst/>
          </a:prstGeom>
          <a:ln w="12700">
            <a:miter lim="400000"/>
          </a:ln>
        </p:spPr>
      </p:pic>
      <p:sp>
        <p:nvSpPr>
          <p:cNvPr id="344" name="Text 25"/>
          <p:cNvSpPr txBox="1"/>
          <p:nvPr/>
        </p:nvSpPr>
        <p:spPr>
          <a:xfrm>
            <a:off x="4038448" y="5702616"/>
            <a:ext cx="4754880"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Azure Storage Performance Tier</a:t>
            </a:r>
          </a:p>
        </p:txBody>
      </p:sp>
      <p:sp>
        <p:nvSpPr>
          <p:cNvPr id="345" name="Text 26"/>
          <p:cNvSpPr txBox="1"/>
          <p:nvPr/>
        </p:nvSpPr>
        <p:spPr>
          <a:xfrm>
            <a:off x="4038448" y="6030512"/>
            <a:ext cx="475488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CFE3F7"/>
                </a:solidFill>
              </a:defRPr>
            </a:lvl1pPr>
          </a:lstStyle>
          <a:p>
            <a:pPr/>
            <a:r>
              <a:t>Tier configured for workload IOPS &amp; throughput</a:t>
            </a:r>
          </a:p>
        </p:txBody>
      </p:sp>
      <p:sp>
        <p:nvSpPr>
          <p:cNvPr id="346" name="Text 27"/>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347" name="Shape 28"/>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348" name="Text 29"/>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352"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DECISION RATIONALE</a:t>
            </a:r>
          </a:p>
        </p:txBody>
      </p:sp>
      <p:sp>
        <p:nvSpPr>
          <p:cNvPr id="353"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Performance Tier Selection Decision</a:t>
            </a:r>
          </a:p>
        </p:txBody>
      </p:sp>
      <p:sp>
        <p:nvSpPr>
          <p:cNvPr id="354" name="Shape 2"/>
          <p:cNvSpPr/>
          <p:nvPr/>
        </p:nvSpPr>
        <p:spPr>
          <a:xfrm>
            <a:off x="548640" y="1554480"/>
            <a:ext cx="5349241"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355" name="Text 3"/>
          <p:cNvSpPr txBox="1"/>
          <p:nvPr/>
        </p:nvSpPr>
        <p:spPr>
          <a:xfrm>
            <a:off x="868680" y="1761666"/>
            <a:ext cx="4663440"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20" sz="1100">
                <a:solidFill>
                  <a:srgbClr val="0078D4"/>
                </a:solidFill>
              </a:defRPr>
            </a:lvl1pPr>
          </a:lstStyle>
          <a:p>
            <a:pPr/>
            <a:r>
              <a:t>WORKLOAD CHARACTERISTICS</a:t>
            </a:r>
          </a:p>
        </p:txBody>
      </p:sp>
      <p:sp>
        <p:nvSpPr>
          <p:cNvPr id="356" name="Shape 4"/>
          <p:cNvSpPr/>
          <p:nvPr/>
        </p:nvSpPr>
        <p:spPr>
          <a:xfrm>
            <a:off x="822960" y="2148839"/>
            <a:ext cx="502921" cy="50292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57" name="Image 0" descr="Image 0"/>
          <p:cNvPicPr>
            <a:picLocks noChangeAspect="1"/>
          </p:cNvPicPr>
          <p:nvPr/>
        </p:nvPicPr>
        <p:blipFill>
          <a:blip r:embed="rId3">
            <a:extLst/>
          </a:blip>
          <a:stretch>
            <a:fillRect/>
          </a:stretch>
        </p:blipFill>
        <p:spPr>
          <a:xfrm>
            <a:off x="888339" y="2214220"/>
            <a:ext cx="372162" cy="372162"/>
          </a:xfrm>
          <a:prstGeom prst="rect">
            <a:avLst/>
          </a:prstGeom>
          <a:ln w="12700">
            <a:miter lim="400000"/>
          </a:ln>
        </p:spPr>
      </p:pic>
      <p:sp>
        <p:nvSpPr>
          <p:cNvPr id="358" name="Text 5"/>
          <p:cNvSpPr txBox="1"/>
          <p:nvPr/>
        </p:nvSpPr>
        <p:spPr>
          <a:xfrm>
            <a:off x="1508759" y="2275771"/>
            <a:ext cx="411480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B2A3C"/>
                </a:solidFill>
              </a:defRPr>
            </a:lvl1pPr>
          </a:lstStyle>
          <a:p>
            <a:pPr/>
            <a:r>
              <a:t>High transaction volume</a:t>
            </a:r>
          </a:p>
        </p:txBody>
      </p:sp>
      <p:sp>
        <p:nvSpPr>
          <p:cNvPr id="359" name="Shape 6"/>
          <p:cNvSpPr/>
          <p:nvPr/>
        </p:nvSpPr>
        <p:spPr>
          <a:xfrm>
            <a:off x="822960" y="2770632"/>
            <a:ext cx="502921" cy="50292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60" name="Image 1" descr="Image 1"/>
          <p:cNvPicPr>
            <a:picLocks noChangeAspect="1"/>
          </p:cNvPicPr>
          <p:nvPr/>
        </p:nvPicPr>
        <p:blipFill>
          <a:blip r:embed="rId4">
            <a:extLst/>
          </a:blip>
          <a:stretch>
            <a:fillRect/>
          </a:stretch>
        </p:blipFill>
        <p:spPr>
          <a:xfrm>
            <a:off x="888339" y="2836011"/>
            <a:ext cx="372162" cy="372162"/>
          </a:xfrm>
          <a:prstGeom prst="rect">
            <a:avLst/>
          </a:prstGeom>
          <a:ln w="12700">
            <a:miter lim="400000"/>
          </a:ln>
        </p:spPr>
      </p:pic>
      <p:sp>
        <p:nvSpPr>
          <p:cNvPr id="361" name="Text 7"/>
          <p:cNvSpPr txBox="1"/>
          <p:nvPr/>
        </p:nvSpPr>
        <p:spPr>
          <a:xfrm>
            <a:off x="1508759" y="2897563"/>
            <a:ext cx="411480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B2A3C"/>
                </a:solidFill>
              </a:defRPr>
            </a:lvl1pPr>
          </a:lstStyle>
          <a:p>
            <a:pPr/>
            <a:r>
              <a:t>Low latency requirement</a:t>
            </a:r>
          </a:p>
        </p:txBody>
      </p:sp>
      <p:sp>
        <p:nvSpPr>
          <p:cNvPr id="362" name="Shape 8"/>
          <p:cNvSpPr/>
          <p:nvPr/>
        </p:nvSpPr>
        <p:spPr>
          <a:xfrm>
            <a:off x="548640" y="3657600"/>
            <a:ext cx="5349241" cy="2377440"/>
          </a:xfrm>
          <a:prstGeom prst="roundRect">
            <a:avLst>
              <a:gd name="adj" fmla="val 3077"/>
            </a:avLst>
          </a:prstGeom>
          <a:solidFill>
            <a:srgbClr val="0078D4"/>
          </a:solidFill>
          <a:ln w="12700">
            <a:solidFill>
              <a:srgbClr val="0078D4"/>
            </a:solidFill>
          </a:ln>
        </p:spPr>
        <p:txBody>
          <a:bodyPr lIns="45719" rIns="45719"/>
          <a:lstStyle/>
          <a:p>
            <a:pPr/>
          </a:p>
        </p:txBody>
      </p:sp>
      <p:sp>
        <p:nvSpPr>
          <p:cNvPr id="363" name="Text 9"/>
          <p:cNvSpPr txBox="1"/>
          <p:nvPr/>
        </p:nvSpPr>
        <p:spPr>
          <a:xfrm>
            <a:off x="868680" y="3864785"/>
            <a:ext cx="4663440"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20" sz="1100">
                <a:solidFill>
                  <a:srgbClr val="50E6FF"/>
                </a:solidFill>
              </a:defRPr>
            </a:lvl1pPr>
          </a:lstStyle>
          <a:p>
            <a:pPr/>
            <a:r>
              <a:t>DECISION</a:t>
            </a:r>
          </a:p>
        </p:txBody>
      </p:sp>
      <p:sp>
        <p:nvSpPr>
          <p:cNvPr id="364" name="Shape 10"/>
          <p:cNvSpPr/>
          <p:nvPr/>
        </p:nvSpPr>
        <p:spPr>
          <a:xfrm>
            <a:off x="822960" y="4251959"/>
            <a:ext cx="128017" cy="128017"/>
          </a:xfrm>
          <a:prstGeom prst="ellipse">
            <a:avLst/>
          </a:prstGeom>
          <a:solidFill>
            <a:srgbClr val="FFFFFF"/>
          </a:solidFill>
          <a:ln w="12700">
            <a:miter lim="400000"/>
          </a:ln>
        </p:spPr>
        <p:txBody>
          <a:bodyPr lIns="45719" rIns="45719"/>
          <a:lstStyle/>
          <a:p>
            <a:pPr/>
          </a:p>
        </p:txBody>
      </p:sp>
      <p:sp>
        <p:nvSpPr>
          <p:cNvPr id="365" name="Text 11"/>
          <p:cNvSpPr txBox="1"/>
          <p:nvPr/>
        </p:nvSpPr>
        <p:spPr>
          <a:xfrm>
            <a:off x="1142999" y="4242107"/>
            <a:ext cx="4572001"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FFFFFF"/>
                </a:solidFill>
              </a:defRPr>
            </a:lvl1pPr>
          </a:lstStyle>
          <a:p>
            <a:pPr/>
            <a:r>
              <a:t>Adopt Premium SSD managed disks</a:t>
            </a:r>
          </a:p>
        </p:txBody>
      </p:sp>
      <p:sp>
        <p:nvSpPr>
          <p:cNvPr id="366" name="Shape 12"/>
          <p:cNvSpPr/>
          <p:nvPr/>
        </p:nvSpPr>
        <p:spPr>
          <a:xfrm>
            <a:off x="822960" y="4818888"/>
            <a:ext cx="128017" cy="128017"/>
          </a:xfrm>
          <a:prstGeom prst="ellipse">
            <a:avLst/>
          </a:prstGeom>
          <a:solidFill>
            <a:srgbClr val="FFFFFF"/>
          </a:solidFill>
          <a:ln w="12700">
            <a:miter lim="400000"/>
          </a:ln>
        </p:spPr>
        <p:txBody>
          <a:bodyPr lIns="45719" rIns="45719"/>
          <a:lstStyle/>
          <a:p>
            <a:pPr/>
          </a:p>
        </p:txBody>
      </p:sp>
      <p:sp>
        <p:nvSpPr>
          <p:cNvPr id="367" name="Text 13"/>
          <p:cNvSpPr txBox="1"/>
          <p:nvPr/>
        </p:nvSpPr>
        <p:spPr>
          <a:xfrm>
            <a:off x="1142999" y="4809035"/>
            <a:ext cx="45720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FFFFFF"/>
                </a:solidFill>
              </a:defRPr>
            </a:lvl1pPr>
          </a:lstStyle>
          <a:p>
            <a:pPr/>
            <a:r>
              <a:t>Start with P10 performance tier as baseline</a:t>
            </a:r>
          </a:p>
        </p:txBody>
      </p:sp>
      <p:sp>
        <p:nvSpPr>
          <p:cNvPr id="368" name="Shape 14"/>
          <p:cNvSpPr/>
          <p:nvPr/>
        </p:nvSpPr>
        <p:spPr>
          <a:xfrm>
            <a:off x="822960" y="5385815"/>
            <a:ext cx="128017" cy="128017"/>
          </a:xfrm>
          <a:prstGeom prst="ellipse">
            <a:avLst/>
          </a:prstGeom>
          <a:solidFill>
            <a:srgbClr val="FFFFFF"/>
          </a:solidFill>
          <a:ln w="12700">
            <a:miter lim="400000"/>
          </a:ln>
        </p:spPr>
        <p:txBody>
          <a:bodyPr lIns="45719" rIns="45719"/>
          <a:lstStyle/>
          <a:p>
            <a:pPr/>
          </a:p>
        </p:txBody>
      </p:sp>
      <p:sp>
        <p:nvSpPr>
          <p:cNvPr id="369" name="Text 15"/>
          <p:cNvSpPr txBox="1"/>
          <p:nvPr/>
        </p:nvSpPr>
        <p:spPr>
          <a:xfrm>
            <a:off x="1142999" y="5375963"/>
            <a:ext cx="4572001"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200">
                <a:solidFill>
                  <a:srgbClr val="FFFFFF"/>
                </a:solidFill>
              </a:defRPr>
            </a:lvl1pPr>
          </a:lstStyle>
          <a:p>
            <a:pPr/>
            <a:r>
              <a:t>Upgrade the performance tier as workload grows</a:t>
            </a:r>
          </a:p>
        </p:txBody>
      </p:sp>
      <p:sp>
        <p:nvSpPr>
          <p:cNvPr id="370" name="Shape 16"/>
          <p:cNvSpPr/>
          <p:nvPr/>
        </p:nvSpPr>
        <p:spPr>
          <a:xfrm>
            <a:off x="6172200" y="1554480"/>
            <a:ext cx="5486400" cy="4480560"/>
          </a:xfrm>
          <a:prstGeom prst="roundRect">
            <a:avLst>
              <a:gd name="adj" fmla="val 1633"/>
            </a:avLst>
          </a:prstGeom>
          <a:solidFill>
            <a:srgbClr val="002050"/>
          </a:solidFill>
          <a:ln w="12700">
            <a:solidFill>
              <a:srgbClr val="002050"/>
            </a:solidFill>
          </a:ln>
        </p:spPr>
        <p:txBody>
          <a:bodyPr lIns="45719" rIns="45719"/>
          <a:lstStyle/>
          <a:p>
            <a:pPr/>
          </a:p>
        </p:txBody>
      </p:sp>
      <p:sp>
        <p:nvSpPr>
          <p:cNvPr id="371" name="Text 17"/>
          <p:cNvSpPr txBox="1"/>
          <p:nvPr/>
        </p:nvSpPr>
        <p:spPr>
          <a:xfrm>
            <a:off x="6492239" y="1761666"/>
            <a:ext cx="48463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20" sz="1100">
                <a:solidFill>
                  <a:srgbClr val="50E6FF"/>
                </a:solidFill>
              </a:defRPr>
            </a:lvl1pPr>
          </a:lstStyle>
          <a:p>
            <a:pPr/>
            <a:r>
              <a:t>DECISION PROCESS</a:t>
            </a:r>
          </a:p>
        </p:txBody>
      </p:sp>
      <p:sp>
        <p:nvSpPr>
          <p:cNvPr id="372" name="Shape 18"/>
          <p:cNvSpPr/>
          <p:nvPr/>
        </p:nvSpPr>
        <p:spPr>
          <a:xfrm>
            <a:off x="6446520" y="2240279"/>
            <a:ext cx="4937760" cy="960121"/>
          </a:xfrm>
          <a:prstGeom prst="roundRect">
            <a:avLst>
              <a:gd name="adj" fmla="val 7619"/>
            </a:avLst>
          </a:prstGeom>
          <a:solidFill>
            <a:srgbClr val="0A2E5C"/>
          </a:solidFill>
          <a:ln w="12700">
            <a:solidFill>
              <a:srgbClr val="2B88D8"/>
            </a:solidFill>
          </a:ln>
        </p:spPr>
        <p:txBody>
          <a:bodyPr lIns="45719" rIns="45719"/>
          <a:lstStyle/>
          <a:p>
            <a:pPr/>
          </a:p>
        </p:txBody>
      </p:sp>
      <p:sp>
        <p:nvSpPr>
          <p:cNvPr id="373" name="Shape 19"/>
          <p:cNvSpPr/>
          <p:nvPr/>
        </p:nvSpPr>
        <p:spPr>
          <a:xfrm>
            <a:off x="6629400" y="2441448"/>
            <a:ext cx="566928" cy="566929"/>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74" name="Image 2" descr="Image 2"/>
          <p:cNvPicPr>
            <a:picLocks noChangeAspect="1"/>
          </p:cNvPicPr>
          <p:nvPr/>
        </p:nvPicPr>
        <p:blipFill>
          <a:blip r:embed="rId5">
            <a:extLst/>
          </a:blip>
          <a:stretch>
            <a:fillRect/>
          </a:stretch>
        </p:blipFill>
        <p:spPr>
          <a:xfrm>
            <a:off x="6703100" y="2515148"/>
            <a:ext cx="419528" cy="419529"/>
          </a:xfrm>
          <a:prstGeom prst="rect">
            <a:avLst/>
          </a:prstGeom>
          <a:ln w="12700">
            <a:miter lim="400000"/>
          </a:ln>
        </p:spPr>
      </p:pic>
      <p:sp>
        <p:nvSpPr>
          <p:cNvPr id="375" name="Text 20"/>
          <p:cNvSpPr txBox="1"/>
          <p:nvPr/>
        </p:nvSpPr>
        <p:spPr>
          <a:xfrm>
            <a:off x="7406639" y="2401632"/>
            <a:ext cx="3794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Workload Analysis</a:t>
            </a:r>
          </a:p>
        </p:txBody>
      </p:sp>
      <p:sp>
        <p:nvSpPr>
          <p:cNvPr id="376" name="Text 21"/>
          <p:cNvSpPr txBox="1"/>
          <p:nvPr/>
        </p:nvSpPr>
        <p:spPr>
          <a:xfrm>
            <a:off x="7406639" y="2807252"/>
            <a:ext cx="3794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CFE3F7"/>
                </a:solidFill>
              </a:defRPr>
            </a:lvl1pPr>
          </a:lstStyle>
          <a:p>
            <a:pPr/>
            <a:r>
              <a:t>Assess access pattern, IOPS, latency needs</a:t>
            </a:r>
          </a:p>
        </p:txBody>
      </p:sp>
      <p:sp>
        <p:nvSpPr>
          <p:cNvPr id="377" name="Shape 22"/>
          <p:cNvSpPr/>
          <p:nvPr/>
        </p:nvSpPr>
        <p:spPr>
          <a:xfrm>
            <a:off x="8814816" y="3218688"/>
            <a:ext cx="201169"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lnTo>
                  <a:pt x="5400" y="11700"/>
                </a:lnTo>
                <a:lnTo>
                  <a:pt x="5400" y="0"/>
                </a:lnTo>
                <a:lnTo>
                  <a:pt x="16200" y="0"/>
                </a:lnTo>
                <a:lnTo>
                  <a:pt x="16200" y="11700"/>
                </a:lnTo>
                <a:lnTo>
                  <a:pt x="21600" y="11700"/>
                </a:lnTo>
                <a:lnTo>
                  <a:pt x="10800" y="21600"/>
                </a:lnTo>
                <a:close/>
              </a:path>
            </a:pathLst>
          </a:custGeom>
          <a:solidFill>
            <a:srgbClr val="50E6FF"/>
          </a:solidFill>
          <a:ln w="12700">
            <a:miter lim="400000"/>
          </a:ln>
        </p:spPr>
        <p:txBody>
          <a:bodyPr lIns="45719" rIns="45719"/>
          <a:lstStyle/>
          <a:p>
            <a:pPr/>
          </a:p>
        </p:txBody>
      </p:sp>
      <p:sp>
        <p:nvSpPr>
          <p:cNvPr id="378" name="Shape 23"/>
          <p:cNvSpPr/>
          <p:nvPr/>
        </p:nvSpPr>
        <p:spPr>
          <a:xfrm>
            <a:off x="6446520" y="3456432"/>
            <a:ext cx="4937760" cy="960121"/>
          </a:xfrm>
          <a:prstGeom prst="roundRect">
            <a:avLst>
              <a:gd name="adj" fmla="val 7619"/>
            </a:avLst>
          </a:prstGeom>
          <a:solidFill>
            <a:srgbClr val="0A2E5C"/>
          </a:solidFill>
          <a:ln w="12700">
            <a:solidFill>
              <a:srgbClr val="2B88D8"/>
            </a:solidFill>
          </a:ln>
        </p:spPr>
        <p:txBody>
          <a:bodyPr lIns="45719" rIns="45719"/>
          <a:lstStyle/>
          <a:p>
            <a:pPr/>
          </a:p>
        </p:txBody>
      </p:sp>
      <p:sp>
        <p:nvSpPr>
          <p:cNvPr id="379" name="Shape 24"/>
          <p:cNvSpPr/>
          <p:nvPr/>
        </p:nvSpPr>
        <p:spPr>
          <a:xfrm>
            <a:off x="6629400" y="3657600"/>
            <a:ext cx="566928" cy="566928"/>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80" name="Image 3" descr="Image 3"/>
          <p:cNvPicPr>
            <a:picLocks noChangeAspect="1"/>
          </p:cNvPicPr>
          <p:nvPr/>
        </p:nvPicPr>
        <p:blipFill>
          <a:blip r:embed="rId6">
            <a:extLst/>
          </a:blip>
          <a:stretch>
            <a:fillRect/>
          </a:stretch>
        </p:blipFill>
        <p:spPr>
          <a:xfrm>
            <a:off x="6703100" y="3731300"/>
            <a:ext cx="419528" cy="419528"/>
          </a:xfrm>
          <a:prstGeom prst="rect">
            <a:avLst/>
          </a:prstGeom>
          <a:ln w="12700">
            <a:miter lim="400000"/>
          </a:ln>
        </p:spPr>
      </p:pic>
      <p:sp>
        <p:nvSpPr>
          <p:cNvPr id="381" name="Text 25"/>
          <p:cNvSpPr txBox="1"/>
          <p:nvPr/>
        </p:nvSpPr>
        <p:spPr>
          <a:xfrm>
            <a:off x="7406639" y="3617784"/>
            <a:ext cx="3794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Storage Selection</a:t>
            </a:r>
          </a:p>
        </p:txBody>
      </p:sp>
      <p:sp>
        <p:nvSpPr>
          <p:cNvPr id="382" name="Text 26"/>
          <p:cNvSpPr txBox="1"/>
          <p:nvPr/>
        </p:nvSpPr>
        <p:spPr>
          <a:xfrm>
            <a:off x="7406639" y="4023404"/>
            <a:ext cx="3794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CFE3F7"/>
                </a:solidFill>
              </a:defRPr>
            </a:lvl1pPr>
          </a:lstStyle>
          <a:p>
            <a:pPr/>
            <a:r>
              <a:t>Choose Premium SSD tier (P10 baseline)</a:t>
            </a:r>
          </a:p>
        </p:txBody>
      </p:sp>
      <p:sp>
        <p:nvSpPr>
          <p:cNvPr id="383" name="Shape 27"/>
          <p:cNvSpPr/>
          <p:nvPr/>
        </p:nvSpPr>
        <p:spPr>
          <a:xfrm>
            <a:off x="8814816" y="4434840"/>
            <a:ext cx="201169"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00"/>
                </a:moveTo>
                <a:lnTo>
                  <a:pt x="5400" y="11700"/>
                </a:lnTo>
                <a:lnTo>
                  <a:pt x="5400" y="0"/>
                </a:lnTo>
                <a:lnTo>
                  <a:pt x="16200" y="0"/>
                </a:lnTo>
                <a:lnTo>
                  <a:pt x="16200" y="11700"/>
                </a:lnTo>
                <a:lnTo>
                  <a:pt x="21600" y="11700"/>
                </a:lnTo>
                <a:lnTo>
                  <a:pt x="10800" y="21600"/>
                </a:lnTo>
                <a:close/>
              </a:path>
            </a:pathLst>
          </a:custGeom>
          <a:solidFill>
            <a:srgbClr val="50E6FF"/>
          </a:solidFill>
          <a:ln w="12700">
            <a:miter lim="400000"/>
          </a:ln>
        </p:spPr>
        <p:txBody>
          <a:bodyPr lIns="45719" rIns="45719"/>
          <a:lstStyle/>
          <a:p>
            <a:pPr/>
          </a:p>
        </p:txBody>
      </p:sp>
      <p:sp>
        <p:nvSpPr>
          <p:cNvPr id="384" name="Shape 28"/>
          <p:cNvSpPr/>
          <p:nvPr/>
        </p:nvSpPr>
        <p:spPr>
          <a:xfrm>
            <a:off x="6446520" y="4672584"/>
            <a:ext cx="4937760" cy="960121"/>
          </a:xfrm>
          <a:prstGeom prst="roundRect">
            <a:avLst>
              <a:gd name="adj" fmla="val 7619"/>
            </a:avLst>
          </a:prstGeom>
          <a:solidFill>
            <a:srgbClr val="0A2E5C"/>
          </a:solidFill>
          <a:ln w="12700">
            <a:solidFill>
              <a:srgbClr val="2B88D8"/>
            </a:solidFill>
          </a:ln>
        </p:spPr>
        <p:txBody>
          <a:bodyPr lIns="45719" rIns="45719"/>
          <a:lstStyle/>
          <a:p>
            <a:pPr/>
          </a:p>
        </p:txBody>
      </p:sp>
      <p:sp>
        <p:nvSpPr>
          <p:cNvPr id="385" name="Shape 29"/>
          <p:cNvSpPr/>
          <p:nvPr/>
        </p:nvSpPr>
        <p:spPr>
          <a:xfrm>
            <a:off x="6629400" y="4873752"/>
            <a:ext cx="566928" cy="566929"/>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86" name="Image 4" descr="Image 4"/>
          <p:cNvPicPr>
            <a:picLocks noChangeAspect="1"/>
          </p:cNvPicPr>
          <p:nvPr/>
        </p:nvPicPr>
        <p:blipFill>
          <a:blip r:embed="rId7">
            <a:extLst/>
          </a:blip>
          <a:stretch>
            <a:fillRect/>
          </a:stretch>
        </p:blipFill>
        <p:spPr>
          <a:xfrm>
            <a:off x="6703100" y="4947453"/>
            <a:ext cx="419528" cy="419528"/>
          </a:xfrm>
          <a:prstGeom prst="rect">
            <a:avLst/>
          </a:prstGeom>
          <a:ln w="12700">
            <a:miter lim="400000"/>
          </a:ln>
        </p:spPr>
      </p:pic>
      <p:sp>
        <p:nvSpPr>
          <p:cNvPr id="387" name="Text 30"/>
          <p:cNvSpPr txBox="1"/>
          <p:nvPr/>
        </p:nvSpPr>
        <p:spPr>
          <a:xfrm>
            <a:off x="7406639" y="4833936"/>
            <a:ext cx="3794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FFFFF"/>
                </a:solidFill>
              </a:defRPr>
            </a:lvl1pPr>
          </a:lstStyle>
          <a:p>
            <a:pPr/>
            <a:r>
              <a:t>Performance Optimization</a:t>
            </a:r>
          </a:p>
        </p:txBody>
      </p:sp>
      <p:sp>
        <p:nvSpPr>
          <p:cNvPr id="388" name="Text 31"/>
          <p:cNvSpPr txBox="1"/>
          <p:nvPr/>
        </p:nvSpPr>
        <p:spPr>
          <a:xfrm>
            <a:off x="7406639" y="5239556"/>
            <a:ext cx="3794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000">
                <a:solidFill>
                  <a:srgbClr val="CFE3F7"/>
                </a:solidFill>
              </a:defRPr>
            </a:lvl1pPr>
          </a:lstStyle>
          <a:p>
            <a:pPr/>
            <a:r>
              <a:t>Monitor and scale tier as demand increases</a:t>
            </a:r>
          </a:p>
        </p:txBody>
      </p:sp>
      <p:sp>
        <p:nvSpPr>
          <p:cNvPr id="389" name="Text 32"/>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390" name="Shape 33"/>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391" name="Text 34"/>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395"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COST OPTIMIZATION</a:t>
            </a:r>
          </a:p>
        </p:txBody>
      </p:sp>
      <p:sp>
        <p:nvSpPr>
          <p:cNvPr id="396"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Balancing Performance and Cost</a:t>
            </a:r>
          </a:p>
        </p:txBody>
      </p:sp>
      <p:sp>
        <p:nvSpPr>
          <p:cNvPr id="397" name="Shape 2"/>
          <p:cNvSpPr/>
          <p:nvPr/>
        </p:nvSpPr>
        <p:spPr>
          <a:xfrm>
            <a:off x="548640" y="1600200"/>
            <a:ext cx="5349241"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398" name="Shape 3"/>
          <p:cNvSpPr/>
          <p:nvPr/>
        </p:nvSpPr>
        <p:spPr>
          <a:xfrm>
            <a:off x="822960" y="1892807"/>
            <a:ext cx="914401" cy="91440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399" name="Image 0" descr="Image 0"/>
          <p:cNvPicPr>
            <a:picLocks noChangeAspect="1"/>
          </p:cNvPicPr>
          <p:nvPr/>
        </p:nvPicPr>
        <p:blipFill>
          <a:blip r:embed="rId3">
            <a:extLst/>
          </a:blip>
          <a:stretch>
            <a:fillRect/>
          </a:stretch>
        </p:blipFill>
        <p:spPr>
          <a:xfrm>
            <a:off x="950975" y="2020823"/>
            <a:ext cx="658369" cy="658369"/>
          </a:xfrm>
          <a:prstGeom prst="rect">
            <a:avLst/>
          </a:prstGeom>
          <a:ln w="12700">
            <a:miter lim="400000"/>
          </a:ln>
        </p:spPr>
      </p:pic>
      <p:sp>
        <p:nvSpPr>
          <p:cNvPr id="400" name="Text 4"/>
          <p:cNvSpPr txBox="1"/>
          <p:nvPr/>
        </p:nvSpPr>
        <p:spPr>
          <a:xfrm>
            <a:off x="1965959" y="1931162"/>
            <a:ext cx="36576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Avoid Over-Provisioning</a:t>
            </a:r>
          </a:p>
        </p:txBody>
      </p:sp>
      <p:sp>
        <p:nvSpPr>
          <p:cNvPr id="401" name="Text 5"/>
          <p:cNvSpPr txBox="1"/>
          <p:nvPr/>
        </p:nvSpPr>
        <p:spPr>
          <a:xfrm>
            <a:off x="1965959" y="2666957"/>
            <a:ext cx="365760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Do not select maximum performance tiers unnecessarily — higher tiers cost more regardless of actual use.</a:t>
            </a:r>
          </a:p>
        </p:txBody>
      </p:sp>
      <p:sp>
        <p:nvSpPr>
          <p:cNvPr id="402" name="Shape 6"/>
          <p:cNvSpPr/>
          <p:nvPr/>
        </p:nvSpPr>
        <p:spPr>
          <a:xfrm>
            <a:off x="6217920" y="1600200"/>
            <a:ext cx="5349241"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03" name="Shape 7"/>
          <p:cNvSpPr/>
          <p:nvPr/>
        </p:nvSpPr>
        <p:spPr>
          <a:xfrm>
            <a:off x="6492240" y="1892807"/>
            <a:ext cx="914401" cy="91440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04" name="Image 1" descr="Image 1"/>
          <p:cNvPicPr>
            <a:picLocks noChangeAspect="1"/>
          </p:cNvPicPr>
          <p:nvPr/>
        </p:nvPicPr>
        <p:blipFill>
          <a:blip r:embed="rId4">
            <a:extLst/>
          </a:blip>
          <a:stretch>
            <a:fillRect/>
          </a:stretch>
        </p:blipFill>
        <p:spPr>
          <a:xfrm>
            <a:off x="6620256" y="2020823"/>
            <a:ext cx="658369" cy="658369"/>
          </a:xfrm>
          <a:prstGeom prst="rect">
            <a:avLst/>
          </a:prstGeom>
          <a:ln w="12700">
            <a:miter lim="400000"/>
          </a:ln>
        </p:spPr>
      </p:pic>
      <p:sp>
        <p:nvSpPr>
          <p:cNvPr id="405" name="Text 8"/>
          <p:cNvSpPr txBox="1"/>
          <p:nvPr/>
        </p:nvSpPr>
        <p:spPr>
          <a:xfrm>
            <a:off x="7635239" y="1931162"/>
            <a:ext cx="36576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Monitor Usage Continuously</a:t>
            </a:r>
          </a:p>
        </p:txBody>
      </p:sp>
      <p:sp>
        <p:nvSpPr>
          <p:cNvPr id="406" name="Text 9"/>
          <p:cNvSpPr txBox="1"/>
          <p:nvPr/>
        </p:nvSpPr>
        <p:spPr>
          <a:xfrm>
            <a:off x="7635239" y="2666957"/>
            <a:ext cx="365760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Track real workload usage patterns to validate whether the chosen tier is appropriate.</a:t>
            </a:r>
          </a:p>
        </p:txBody>
      </p:sp>
      <p:sp>
        <p:nvSpPr>
          <p:cNvPr id="407" name="Shape 10"/>
          <p:cNvSpPr/>
          <p:nvPr/>
        </p:nvSpPr>
        <p:spPr>
          <a:xfrm>
            <a:off x="548640" y="3840479"/>
            <a:ext cx="5349241"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08" name="Shape 11"/>
          <p:cNvSpPr/>
          <p:nvPr/>
        </p:nvSpPr>
        <p:spPr>
          <a:xfrm>
            <a:off x="822960" y="4133088"/>
            <a:ext cx="914401" cy="91440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09" name="Image 2" descr="Image 2"/>
          <p:cNvPicPr>
            <a:picLocks noChangeAspect="1"/>
          </p:cNvPicPr>
          <p:nvPr/>
        </p:nvPicPr>
        <p:blipFill>
          <a:blip r:embed="rId5">
            <a:extLst/>
          </a:blip>
          <a:stretch>
            <a:fillRect/>
          </a:stretch>
        </p:blipFill>
        <p:spPr>
          <a:xfrm>
            <a:off x="950975" y="4261103"/>
            <a:ext cx="658369" cy="658369"/>
          </a:xfrm>
          <a:prstGeom prst="rect">
            <a:avLst/>
          </a:prstGeom>
          <a:ln w="12700">
            <a:miter lim="400000"/>
          </a:ln>
        </p:spPr>
      </p:pic>
      <p:sp>
        <p:nvSpPr>
          <p:cNvPr id="410" name="Text 12"/>
          <p:cNvSpPr txBox="1"/>
          <p:nvPr/>
        </p:nvSpPr>
        <p:spPr>
          <a:xfrm>
            <a:off x="1965959" y="4171441"/>
            <a:ext cx="36576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Scale Only When Required</a:t>
            </a:r>
          </a:p>
        </p:txBody>
      </p:sp>
      <p:sp>
        <p:nvSpPr>
          <p:cNvPr id="411" name="Text 13"/>
          <p:cNvSpPr txBox="1"/>
          <p:nvPr/>
        </p:nvSpPr>
        <p:spPr>
          <a:xfrm>
            <a:off x="1965959" y="4907237"/>
            <a:ext cx="365760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Increase performance tier only when monitored data shows genuine demand growth.</a:t>
            </a:r>
          </a:p>
        </p:txBody>
      </p:sp>
      <p:sp>
        <p:nvSpPr>
          <p:cNvPr id="412" name="Shape 14"/>
          <p:cNvSpPr/>
          <p:nvPr/>
        </p:nvSpPr>
        <p:spPr>
          <a:xfrm>
            <a:off x="6217920" y="3840479"/>
            <a:ext cx="5349241" cy="1965961"/>
          </a:xfrm>
          <a:prstGeom prst="roundRect">
            <a:avLst>
              <a:gd name="adj" fmla="val 3721"/>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13" name="Shape 15"/>
          <p:cNvSpPr/>
          <p:nvPr/>
        </p:nvSpPr>
        <p:spPr>
          <a:xfrm>
            <a:off x="6492240" y="4133088"/>
            <a:ext cx="914401" cy="91440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14" name="Image 3" descr="Image 3"/>
          <p:cNvPicPr>
            <a:picLocks noChangeAspect="1"/>
          </p:cNvPicPr>
          <p:nvPr/>
        </p:nvPicPr>
        <p:blipFill>
          <a:blip r:embed="rId6">
            <a:extLst/>
          </a:blip>
          <a:stretch>
            <a:fillRect/>
          </a:stretch>
        </p:blipFill>
        <p:spPr>
          <a:xfrm>
            <a:off x="6620256" y="4261103"/>
            <a:ext cx="658369" cy="658369"/>
          </a:xfrm>
          <a:prstGeom prst="rect">
            <a:avLst/>
          </a:prstGeom>
          <a:ln w="12700">
            <a:miter lim="400000"/>
          </a:ln>
        </p:spPr>
      </p:pic>
      <p:sp>
        <p:nvSpPr>
          <p:cNvPr id="415" name="Text 16"/>
          <p:cNvSpPr txBox="1"/>
          <p:nvPr/>
        </p:nvSpPr>
        <p:spPr>
          <a:xfrm>
            <a:off x="7635239" y="4171441"/>
            <a:ext cx="36576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Balance Performance &amp; Cost</a:t>
            </a:r>
          </a:p>
        </p:txBody>
      </p:sp>
      <p:sp>
        <p:nvSpPr>
          <p:cNvPr id="416" name="Text 17"/>
          <p:cNvSpPr txBox="1"/>
          <p:nvPr/>
        </p:nvSpPr>
        <p:spPr>
          <a:xfrm>
            <a:off x="7635239" y="4907237"/>
            <a:ext cx="3657601" cy="4176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Aim for the lowest-cost tier that still reliably meets application performance targets.</a:t>
            </a:r>
          </a:p>
        </p:txBody>
      </p:sp>
      <p:sp>
        <p:nvSpPr>
          <p:cNvPr id="417" name="Text 18"/>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418" name="Shape 19"/>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419" name="Text 20"/>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2050"/>
        </a:solidFill>
      </p:bgPr>
    </p:bg>
    <p:spTree>
      <p:nvGrpSpPr>
        <p:cNvPr id="1" name=""/>
        <p:cNvGrpSpPr/>
        <p:nvPr/>
      </p:nvGrpSpPr>
      <p:grpSpPr>
        <a:xfrm>
          <a:off x="0" y="0"/>
          <a:ext cx="0" cy="0"/>
          <a:chOff x="0" y="0"/>
          <a:chExt cx="0" cy="0"/>
        </a:xfrm>
      </p:grpSpPr>
      <p:sp>
        <p:nvSpPr>
          <p:cNvPr id="423" name="Shape 0"/>
          <p:cNvSpPr/>
          <p:nvPr/>
        </p:nvSpPr>
        <p:spPr>
          <a:xfrm>
            <a:off x="9875519" y="-1371601"/>
            <a:ext cx="4206241" cy="4206242"/>
          </a:xfrm>
          <a:prstGeom prst="ellipse">
            <a:avLst/>
          </a:prstGeom>
          <a:solidFill>
            <a:srgbClr val="0A2E5C"/>
          </a:solidFill>
          <a:ln w="12700">
            <a:miter lim="400000"/>
          </a:ln>
        </p:spPr>
        <p:txBody>
          <a:bodyPr lIns="45719" rIns="45719"/>
          <a:lstStyle/>
          <a:p>
            <a:pPr/>
          </a:p>
        </p:txBody>
      </p:sp>
      <p:sp>
        <p:nvSpPr>
          <p:cNvPr id="424" name="Text 1"/>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50E6FF"/>
                </a:solidFill>
              </a:defRPr>
            </a:lvl1pPr>
          </a:lstStyle>
          <a:p>
            <a:pPr/>
            <a:r>
              <a:t>SOLUTION BENEFITS</a:t>
            </a:r>
          </a:p>
        </p:txBody>
      </p:sp>
      <p:sp>
        <p:nvSpPr>
          <p:cNvPr id="425" name="Text 2"/>
          <p:cNvSpPr txBox="1"/>
          <p:nvPr/>
        </p:nvSpPr>
        <p:spPr>
          <a:xfrm>
            <a:off x="594359" y="704088"/>
            <a:ext cx="1042416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FFFFFF"/>
                </a:solidFill>
                <a:latin typeface="Cambria"/>
                <a:ea typeface="Cambria"/>
                <a:cs typeface="Cambria"/>
                <a:sym typeface="Cambria"/>
              </a:defRPr>
            </a:lvl1pPr>
          </a:lstStyle>
          <a:p>
            <a:pPr/>
            <a:r>
              <a:t>Advantages of the Selected Solution</a:t>
            </a:r>
          </a:p>
        </p:txBody>
      </p:sp>
      <p:sp>
        <p:nvSpPr>
          <p:cNvPr id="426" name="Shape 3"/>
          <p:cNvSpPr/>
          <p:nvPr/>
        </p:nvSpPr>
        <p:spPr>
          <a:xfrm>
            <a:off x="548640" y="2148839"/>
            <a:ext cx="2084833" cy="3383281"/>
          </a:xfrm>
          <a:prstGeom prst="roundRect">
            <a:avLst>
              <a:gd name="adj" fmla="val 4386"/>
            </a:avLst>
          </a:prstGeom>
          <a:solidFill>
            <a:srgbClr val="0A2E5C"/>
          </a:solidFill>
          <a:ln w="12700">
            <a:solidFill>
              <a:srgbClr val="15477F"/>
            </a:solidFill>
          </a:ln>
        </p:spPr>
        <p:txBody>
          <a:bodyPr lIns="45719" rIns="45719"/>
          <a:lstStyle/>
          <a:p>
            <a:pPr/>
          </a:p>
        </p:txBody>
      </p:sp>
      <p:sp>
        <p:nvSpPr>
          <p:cNvPr id="427" name="Shape 4"/>
          <p:cNvSpPr/>
          <p:nvPr/>
        </p:nvSpPr>
        <p:spPr>
          <a:xfrm>
            <a:off x="1179575" y="2468879"/>
            <a:ext cx="822962" cy="8229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28" name="Image 0" descr="Image 0"/>
          <p:cNvPicPr>
            <a:picLocks noChangeAspect="1"/>
          </p:cNvPicPr>
          <p:nvPr/>
        </p:nvPicPr>
        <p:blipFill>
          <a:blip r:embed="rId3">
            <a:extLst/>
          </a:blip>
          <a:stretch>
            <a:fillRect/>
          </a:stretch>
        </p:blipFill>
        <p:spPr>
          <a:xfrm>
            <a:off x="1294789" y="2584094"/>
            <a:ext cx="592532" cy="592531"/>
          </a:xfrm>
          <a:prstGeom prst="rect">
            <a:avLst/>
          </a:prstGeom>
          <a:ln w="12700">
            <a:miter lim="400000"/>
          </a:ln>
        </p:spPr>
      </p:pic>
      <p:sp>
        <p:nvSpPr>
          <p:cNvPr id="429" name="Text 5"/>
          <p:cNvSpPr txBox="1"/>
          <p:nvPr/>
        </p:nvSpPr>
        <p:spPr>
          <a:xfrm>
            <a:off x="731520" y="3722370"/>
            <a:ext cx="1719073"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300">
                <a:solidFill>
                  <a:srgbClr val="FFFFFF"/>
                </a:solidFill>
                <a:latin typeface="Cambria"/>
                <a:ea typeface="Cambria"/>
                <a:cs typeface="Cambria"/>
                <a:sym typeface="Cambria"/>
              </a:defRPr>
            </a:lvl1pPr>
          </a:lstStyle>
          <a:p>
            <a:pPr/>
            <a:r>
              <a:t>High Performance</a:t>
            </a:r>
          </a:p>
        </p:txBody>
      </p:sp>
      <p:sp>
        <p:nvSpPr>
          <p:cNvPr id="430" name="Text 6"/>
          <p:cNvSpPr txBox="1"/>
          <p:nvPr/>
        </p:nvSpPr>
        <p:spPr>
          <a:xfrm>
            <a:off x="758952" y="4516690"/>
            <a:ext cx="1664208" cy="613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000">
                <a:solidFill>
                  <a:srgbClr val="CFE3F7"/>
                </a:solidFill>
              </a:defRPr>
            </a:lvl1pPr>
          </a:lstStyle>
          <a:p>
            <a:pPr/>
            <a:r>
              <a:t>Meets demanding transactional throughput needs.</a:t>
            </a:r>
          </a:p>
        </p:txBody>
      </p:sp>
      <p:sp>
        <p:nvSpPr>
          <p:cNvPr id="431" name="Shape 7"/>
          <p:cNvSpPr/>
          <p:nvPr/>
        </p:nvSpPr>
        <p:spPr>
          <a:xfrm>
            <a:off x="2770632" y="2148839"/>
            <a:ext cx="2084833" cy="3383281"/>
          </a:xfrm>
          <a:prstGeom prst="roundRect">
            <a:avLst>
              <a:gd name="adj" fmla="val 4386"/>
            </a:avLst>
          </a:prstGeom>
          <a:solidFill>
            <a:srgbClr val="0A2E5C"/>
          </a:solidFill>
          <a:ln w="12700">
            <a:solidFill>
              <a:srgbClr val="15477F"/>
            </a:solidFill>
          </a:ln>
        </p:spPr>
        <p:txBody>
          <a:bodyPr lIns="45719" rIns="45719"/>
          <a:lstStyle/>
          <a:p>
            <a:pPr/>
          </a:p>
        </p:txBody>
      </p:sp>
      <p:sp>
        <p:nvSpPr>
          <p:cNvPr id="432" name="Shape 8"/>
          <p:cNvSpPr/>
          <p:nvPr/>
        </p:nvSpPr>
        <p:spPr>
          <a:xfrm>
            <a:off x="3401567" y="2468879"/>
            <a:ext cx="822961" cy="8229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33" name="Image 1" descr="Image 1"/>
          <p:cNvPicPr>
            <a:picLocks noChangeAspect="1"/>
          </p:cNvPicPr>
          <p:nvPr/>
        </p:nvPicPr>
        <p:blipFill>
          <a:blip r:embed="rId4">
            <a:extLst/>
          </a:blip>
          <a:stretch>
            <a:fillRect/>
          </a:stretch>
        </p:blipFill>
        <p:spPr>
          <a:xfrm>
            <a:off x="3516781" y="2584094"/>
            <a:ext cx="592532" cy="592531"/>
          </a:xfrm>
          <a:prstGeom prst="rect">
            <a:avLst/>
          </a:prstGeom>
          <a:ln w="12700">
            <a:miter lim="400000"/>
          </a:ln>
        </p:spPr>
      </p:pic>
      <p:sp>
        <p:nvSpPr>
          <p:cNvPr id="434" name="Text 9"/>
          <p:cNvSpPr txBox="1"/>
          <p:nvPr/>
        </p:nvSpPr>
        <p:spPr>
          <a:xfrm>
            <a:off x="2953512" y="3722370"/>
            <a:ext cx="1719073"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300">
                <a:solidFill>
                  <a:srgbClr val="FFFFFF"/>
                </a:solidFill>
                <a:latin typeface="Cambria"/>
                <a:ea typeface="Cambria"/>
                <a:cs typeface="Cambria"/>
                <a:sym typeface="Cambria"/>
              </a:defRPr>
            </a:lvl1pPr>
          </a:lstStyle>
          <a:p>
            <a:pPr/>
            <a:r>
              <a:t>Low Latency</a:t>
            </a:r>
          </a:p>
        </p:txBody>
      </p:sp>
      <p:sp>
        <p:nvSpPr>
          <p:cNvPr id="435" name="Text 10"/>
          <p:cNvSpPr txBox="1"/>
          <p:nvPr/>
        </p:nvSpPr>
        <p:spPr>
          <a:xfrm>
            <a:off x="2980944" y="4612947"/>
            <a:ext cx="1664208" cy="4210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000">
                <a:solidFill>
                  <a:srgbClr val="CFE3F7"/>
                </a:solidFill>
              </a:defRPr>
            </a:lvl1pPr>
          </a:lstStyle>
          <a:p>
            <a:pPr/>
            <a:r>
              <a:t>Fast response times for user-facing operations.</a:t>
            </a:r>
          </a:p>
        </p:txBody>
      </p:sp>
      <p:sp>
        <p:nvSpPr>
          <p:cNvPr id="436" name="Shape 11"/>
          <p:cNvSpPr/>
          <p:nvPr/>
        </p:nvSpPr>
        <p:spPr>
          <a:xfrm>
            <a:off x="4992623" y="2148839"/>
            <a:ext cx="2084833" cy="3383281"/>
          </a:xfrm>
          <a:prstGeom prst="roundRect">
            <a:avLst>
              <a:gd name="adj" fmla="val 4386"/>
            </a:avLst>
          </a:prstGeom>
          <a:solidFill>
            <a:srgbClr val="0A2E5C"/>
          </a:solidFill>
          <a:ln w="12700">
            <a:solidFill>
              <a:srgbClr val="15477F"/>
            </a:solidFill>
          </a:ln>
        </p:spPr>
        <p:txBody>
          <a:bodyPr lIns="45719" rIns="45719"/>
          <a:lstStyle/>
          <a:p>
            <a:pPr/>
          </a:p>
        </p:txBody>
      </p:sp>
      <p:sp>
        <p:nvSpPr>
          <p:cNvPr id="437" name="Shape 12"/>
          <p:cNvSpPr/>
          <p:nvPr/>
        </p:nvSpPr>
        <p:spPr>
          <a:xfrm>
            <a:off x="5623559" y="2468879"/>
            <a:ext cx="822961" cy="8229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38" name="Image 2" descr="Image 2"/>
          <p:cNvPicPr>
            <a:picLocks noChangeAspect="1"/>
          </p:cNvPicPr>
          <p:nvPr/>
        </p:nvPicPr>
        <p:blipFill>
          <a:blip r:embed="rId5">
            <a:extLst/>
          </a:blip>
          <a:stretch>
            <a:fillRect/>
          </a:stretch>
        </p:blipFill>
        <p:spPr>
          <a:xfrm>
            <a:off x="5738774" y="2584094"/>
            <a:ext cx="592532" cy="592531"/>
          </a:xfrm>
          <a:prstGeom prst="rect">
            <a:avLst/>
          </a:prstGeom>
          <a:ln w="12700">
            <a:miter lim="400000"/>
          </a:ln>
        </p:spPr>
      </p:pic>
      <p:sp>
        <p:nvSpPr>
          <p:cNvPr id="439" name="Text 13"/>
          <p:cNvSpPr txBox="1"/>
          <p:nvPr/>
        </p:nvSpPr>
        <p:spPr>
          <a:xfrm>
            <a:off x="5175504" y="3722370"/>
            <a:ext cx="1719073"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300">
                <a:solidFill>
                  <a:srgbClr val="FFFFFF"/>
                </a:solidFill>
                <a:latin typeface="Cambria"/>
                <a:ea typeface="Cambria"/>
                <a:cs typeface="Cambria"/>
                <a:sym typeface="Cambria"/>
              </a:defRPr>
            </a:lvl1pPr>
          </a:lstStyle>
          <a:p>
            <a:pPr/>
            <a:r>
              <a:t>Scalability</a:t>
            </a:r>
          </a:p>
        </p:txBody>
      </p:sp>
      <p:sp>
        <p:nvSpPr>
          <p:cNvPr id="440" name="Text 14"/>
          <p:cNvSpPr txBox="1"/>
          <p:nvPr/>
        </p:nvSpPr>
        <p:spPr>
          <a:xfrm>
            <a:off x="5202935" y="4612947"/>
            <a:ext cx="1664209" cy="4210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000">
                <a:solidFill>
                  <a:srgbClr val="CFE3F7"/>
                </a:solidFill>
              </a:defRPr>
            </a:lvl1pPr>
          </a:lstStyle>
          <a:p>
            <a:pPr/>
            <a:r>
              <a:t>Performance tier can grow with workload demand.</a:t>
            </a:r>
          </a:p>
        </p:txBody>
      </p:sp>
      <p:sp>
        <p:nvSpPr>
          <p:cNvPr id="441" name="Shape 15"/>
          <p:cNvSpPr/>
          <p:nvPr/>
        </p:nvSpPr>
        <p:spPr>
          <a:xfrm>
            <a:off x="7214616" y="2148839"/>
            <a:ext cx="2084833" cy="3383281"/>
          </a:xfrm>
          <a:prstGeom prst="roundRect">
            <a:avLst>
              <a:gd name="adj" fmla="val 4386"/>
            </a:avLst>
          </a:prstGeom>
          <a:solidFill>
            <a:srgbClr val="0A2E5C"/>
          </a:solidFill>
          <a:ln w="12700">
            <a:solidFill>
              <a:srgbClr val="15477F"/>
            </a:solidFill>
          </a:ln>
        </p:spPr>
        <p:txBody>
          <a:bodyPr lIns="45719" rIns="45719"/>
          <a:lstStyle/>
          <a:p>
            <a:pPr/>
          </a:p>
        </p:txBody>
      </p:sp>
      <p:sp>
        <p:nvSpPr>
          <p:cNvPr id="442" name="Shape 16"/>
          <p:cNvSpPr/>
          <p:nvPr/>
        </p:nvSpPr>
        <p:spPr>
          <a:xfrm>
            <a:off x="7845552" y="2468879"/>
            <a:ext cx="822961" cy="8229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43" name="Image 3" descr="Image 3"/>
          <p:cNvPicPr>
            <a:picLocks noChangeAspect="1"/>
          </p:cNvPicPr>
          <p:nvPr/>
        </p:nvPicPr>
        <p:blipFill>
          <a:blip r:embed="rId6">
            <a:extLst/>
          </a:blip>
          <a:stretch>
            <a:fillRect/>
          </a:stretch>
        </p:blipFill>
        <p:spPr>
          <a:xfrm>
            <a:off x="7960766" y="2584094"/>
            <a:ext cx="592532" cy="592531"/>
          </a:xfrm>
          <a:prstGeom prst="rect">
            <a:avLst/>
          </a:prstGeom>
          <a:ln w="12700">
            <a:miter lim="400000"/>
          </a:ln>
        </p:spPr>
      </p:pic>
      <p:sp>
        <p:nvSpPr>
          <p:cNvPr id="444" name="Text 17"/>
          <p:cNvSpPr txBox="1"/>
          <p:nvPr/>
        </p:nvSpPr>
        <p:spPr>
          <a:xfrm>
            <a:off x="7397495" y="3722370"/>
            <a:ext cx="1719073"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300">
                <a:solidFill>
                  <a:srgbClr val="FFFFFF"/>
                </a:solidFill>
                <a:latin typeface="Cambria"/>
                <a:ea typeface="Cambria"/>
                <a:cs typeface="Cambria"/>
                <a:sym typeface="Cambria"/>
              </a:defRPr>
            </a:lvl1pPr>
          </a:lstStyle>
          <a:p>
            <a:pPr/>
            <a:r>
              <a:t>Flexible Adjustment</a:t>
            </a:r>
          </a:p>
        </p:txBody>
      </p:sp>
      <p:sp>
        <p:nvSpPr>
          <p:cNvPr id="445" name="Text 18"/>
          <p:cNvSpPr txBox="1"/>
          <p:nvPr/>
        </p:nvSpPr>
        <p:spPr>
          <a:xfrm>
            <a:off x="7424927" y="4612947"/>
            <a:ext cx="1664209" cy="4210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000">
                <a:solidFill>
                  <a:srgbClr val="CFE3F7"/>
                </a:solidFill>
              </a:defRPr>
            </a:lvl1pPr>
          </a:lstStyle>
          <a:p>
            <a:pPr/>
            <a:r>
              <a:t>Tier changes without re-architecting storage.</a:t>
            </a:r>
          </a:p>
        </p:txBody>
      </p:sp>
      <p:sp>
        <p:nvSpPr>
          <p:cNvPr id="446" name="Shape 19"/>
          <p:cNvSpPr/>
          <p:nvPr/>
        </p:nvSpPr>
        <p:spPr>
          <a:xfrm>
            <a:off x="9436607" y="2148839"/>
            <a:ext cx="2084833" cy="3383281"/>
          </a:xfrm>
          <a:prstGeom prst="roundRect">
            <a:avLst>
              <a:gd name="adj" fmla="val 4386"/>
            </a:avLst>
          </a:prstGeom>
          <a:solidFill>
            <a:srgbClr val="0A2E5C"/>
          </a:solidFill>
          <a:ln w="12700">
            <a:solidFill>
              <a:srgbClr val="15477F"/>
            </a:solidFill>
          </a:ln>
        </p:spPr>
        <p:txBody>
          <a:bodyPr lIns="45719" rIns="45719"/>
          <a:lstStyle/>
          <a:p>
            <a:pPr/>
          </a:p>
        </p:txBody>
      </p:sp>
      <p:sp>
        <p:nvSpPr>
          <p:cNvPr id="447" name="Shape 20"/>
          <p:cNvSpPr/>
          <p:nvPr/>
        </p:nvSpPr>
        <p:spPr>
          <a:xfrm>
            <a:off x="10067543" y="2468879"/>
            <a:ext cx="822961" cy="822961"/>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48" name="Image 4" descr="Image 4"/>
          <p:cNvPicPr>
            <a:picLocks noChangeAspect="1"/>
          </p:cNvPicPr>
          <p:nvPr/>
        </p:nvPicPr>
        <p:blipFill>
          <a:blip r:embed="rId7">
            <a:extLst/>
          </a:blip>
          <a:stretch>
            <a:fillRect/>
          </a:stretch>
        </p:blipFill>
        <p:spPr>
          <a:xfrm>
            <a:off x="10182758" y="2584094"/>
            <a:ext cx="592532" cy="592531"/>
          </a:xfrm>
          <a:prstGeom prst="rect">
            <a:avLst/>
          </a:prstGeom>
          <a:ln w="12700">
            <a:miter lim="400000"/>
          </a:ln>
        </p:spPr>
      </p:pic>
      <p:sp>
        <p:nvSpPr>
          <p:cNvPr id="449" name="Text 21"/>
          <p:cNvSpPr txBox="1"/>
          <p:nvPr/>
        </p:nvSpPr>
        <p:spPr>
          <a:xfrm>
            <a:off x="9619488" y="3722370"/>
            <a:ext cx="1719073"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300">
                <a:solidFill>
                  <a:srgbClr val="FFFFFF"/>
                </a:solidFill>
                <a:latin typeface="Cambria"/>
                <a:ea typeface="Cambria"/>
                <a:cs typeface="Cambria"/>
                <a:sym typeface="Cambria"/>
              </a:defRPr>
            </a:lvl1pPr>
          </a:lstStyle>
          <a:p>
            <a:pPr/>
            <a:r>
              <a:t>Enterprise-Suitable</a:t>
            </a:r>
          </a:p>
        </p:txBody>
      </p:sp>
      <p:sp>
        <p:nvSpPr>
          <p:cNvPr id="450" name="Text 22"/>
          <p:cNvSpPr txBox="1"/>
          <p:nvPr/>
        </p:nvSpPr>
        <p:spPr>
          <a:xfrm>
            <a:off x="9646919" y="4612947"/>
            <a:ext cx="1664209" cy="4210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20000"/>
              </a:lnSpc>
              <a:defRPr sz="1000">
                <a:solidFill>
                  <a:srgbClr val="CFE3F7"/>
                </a:solidFill>
              </a:defRPr>
            </a:lvl1pPr>
          </a:lstStyle>
          <a:p>
            <a:pPr/>
            <a:r>
              <a:t>Reliable, durable for production applications.</a:t>
            </a:r>
          </a:p>
        </p:txBody>
      </p:sp>
      <p:sp>
        <p:nvSpPr>
          <p:cNvPr id="451" name="Text 23"/>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452" name="Shape 24"/>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453" name="Text 25"/>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13</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457"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LOOKING AHEAD</a:t>
            </a:r>
          </a:p>
        </p:txBody>
      </p:sp>
      <p:sp>
        <p:nvSpPr>
          <p:cNvPr id="458"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Future Enhancements</a:t>
            </a:r>
          </a:p>
        </p:txBody>
      </p:sp>
      <p:sp>
        <p:nvSpPr>
          <p:cNvPr id="459" name="Shape 2"/>
          <p:cNvSpPr/>
          <p:nvPr/>
        </p:nvSpPr>
        <p:spPr>
          <a:xfrm>
            <a:off x="548640" y="1691639"/>
            <a:ext cx="11064241" cy="1024129"/>
          </a:xfrm>
          <a:prstGeom prst="roundRect">
            <a:avLst>
              <a:gd name="adj" fmla="val 7143"/>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60" name="Shape 3"/>
          <p:cNvSpPr/>
          <p:nvPr/>
        </p:nvSpPr>
        <p:spPr>
          <a:xfrm>
            <a:off x="777240" y="1847088"/>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61" name="Image 0" descr="Image 0"/>
          <p:cNvPicPr>
            <a:picLocks noChangeAspect="1"/>
          </p:cNvPicPr>
          <p:nvPr/>
        </p:nvPicPr>
        <p:blipFill>
          <a:blip r:embed="rId3">
            <a:extLst/>
          </a:blip>
          <a:stretch>
            <a:fillRect/>
          </a:stretch>
        </p:blipFill>
        <p:spPr>
          <a:xfrm>
            <a:off x="877092" y="1946940"/>
            <a:ext cx="513527" cy="513528"/>
          </a:xfrm>
          <a:prstGeom prst="rect">
            <a:avLst/>
          </a:prstGeom>
          <a:ln w="12700">
            <a:miter lim="400000"/>
          </a:ln>
        </p:spPr>
      </p:pic>
      <p:sp>
        <p:nvSpPr>
          <p:cNvPr id="462" name="Text 4"/>
          <p:cNvSpPr txBox="1"/>
          <p:nvPr/>
        </p:nvSpPr>
        <p:spPr>
          <a:xfrm>
            <a:off x="1737360" y="1882647"/>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002050"/>
                </a:solidFill>
                <a:latin typeface="Cambria"/>
                <a:ea typeface="Cambria"/>
                <a:cs typeface="Cambria"/>
                <a:sym typeface="Cambria"/>
              </a:defRPr>
            </a:lvl1pPr>
          </a:lstStyle>
          <a:p>
            <a:pPr/>
            <a:r>
              <a:t>Connect with Azure Monitor</a:t>
            </a:r>
          </a:p>
        </p:txBody>
      </p:sp>
      <p:sp>
        <p:nvSpPr>
          <p:cNvPr id="463" name="Text 5"/>
          <p:cNvSpPr txBox="1"/>
          <p:nvPr/>
        </p:nvSpPr>
        <p:spPr>
          <a:xfrm>
            <a:off x="5989319" y="2090849"/>
            <a:ext cx="530352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Enable real-time visibility into IOPS, throughput, and latency metrics.</a:t>
            </a:r>
          </a:p>
        </p:txBody>
      </p:sp>
      <p:sp>
        <p:nvSpPr>
          <p:cNvPr id="464" name="Shape 6"/>
          <p:cNvSpPr/>
          <p:nvPr/>
        </p:nvSpPr>
        <p:spPr>
          <a:xfrm>
            <a:off x="5806440" y="1828800"/>
            <a:ext cx="1" cy="749809"/>
          </a:xfrm>
          <a:prstGeom prst="line">
            <a:avLst/>
          </a:prstGeom>
          <a:ln w="12700">
            <a:solidFill>
              <a:srgbClr val="D7E6F5"/>
            </a:solidFill>
          </a:ln>
        </p:spPr>
        <p:txBody>
          <a:bodyPr lIns="45719" rIns="45719"/>
          <a:lstStyle/>
          <a:p>
            <a:pPr/>
          </a:p>
        </p:txBody>
      </p:sp>
      <p:sp>
        <p:nvSpPr>
          <p:cNvPr id="465" name="Shape 7"/>
          <p:cNvSpPr/>
          <p:nvPr/>
        </p:nvSpPr>
        <p:spPr>
          <a:xfrm>
            <a:off x="548640" y="2862072"/>
            <a:ext cx="11064241" cy="1024128"/>
          </a:xfrm>
          <a:prstGeom prst="roundRect">
            <a:avLst>
              <a:gd name="adj" fmla="val 7143"/>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66" name="Shape 8"/>
          <p:cNvSpPr/>
          <p:nvPr/>
        </p:nvSpPr>
        <p:spPr>
          <a:xfrm>
            <a:off x="777240" y="3017520"/>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67" name="Image 1" descr="Image 1"/>
          <p:cNvPicPr>
            <a:picLocks noChangeAspect="1"/>
          </p:cNvPicPr>
          <p:nvPr/>
        </p:nvPicPr>
        <p:blipFill>
          <a:blip r:embed="rId4">
            <a:extLst/>
          </a:blip>
          <a:stretch>
            <a:fillRect/>
          </a:stretch>
        </p:blipFill>
        <p:spPr>
          <a:xfrm>
            <a:off x="877092" y="3117371"/>
            <a:ext cx="513527" cy="513528"/>
          </a:xfrm>
          <a:prstGeom prst="rect">
            <a:avLst/>
          </a:prstGeom>
          <a:ln w="12700">
            <a:miter lim="400000"/>
          </a:ln>
        </p:spPr>
      </p:pic>
      <p:sp>
        <p:nvSpPr>
          <p:cNvPr id="468" name="Text 9"/>
          <p:cNvSpPr txBox="1"/>
          <p:nvPr/>
        </p:nvSpPr>
        <p:spPr>
          <a:xfrm>
            <a:off x="1737360" y="3053079"/>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002050"/>
                </a:solidFill>
                <a:latin typeface="Cambria"/>
                <a:ea typeface="Cambria"/>
                <a:cs typeface="Cambria"/>
                <a:sym typeface="Cambria"/>
              </a:defRPr>
            </a:lvl1pPr>
          </a:lstStyle>
          <a:p>
            <a:pPr/>
            <a:r>
              <a:t>Implement Automatic Scaling</a:t>
            </a:r>
          </a:p>
        </p:txBody>
      </p:sp>
      <p:sp>
        <p:nvSpPr>
          <p:cNvPr id="469" name="Text 10"/>
          <p:cNvSpPr txBox="1"/>
          <p:nvPr/>
        </p:nvSpPr>
        <p:spPr>
          <a:xfrm>
            <a:off x="5989319" y="3261282"/>
            <a:ext cx="53035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Dynamically adjust performance tier based on live workload demand.</a:t>
            </a:r>
          </a:p>
        </p:txBody>
      </p:sp>
      <p:sp>
        <p:nvSpPr>
          <p:cNvPr id="470" name="Shape 11"/>
          <p:cNvSpPr/>
          <p:nvPr/>
        </p:nvSpPr>
        <p:spPr>
          <a:xfrm>
            <a:off x="5806440" y="2999231"/>
            <a:ext cx="1" cy="749809"/>
          </a:xfrm>
          <a:prstGeom prst="line">
            <a:avLst/>
          </a:prstGeom>
          <a:ln w="12700">
            <a:solidFill>
              <a:srgbClr val="D7E6F5"/>
            </a:solidFill>
          </a:ln>
        </p:spPr>
        <p:txBody>
          <a:bodyPr lIns="45719" rIns="45719"/>
          <a:lstStyle/>
          <a:p>
            <a:pPr/>
          </a:p>
        </p:txBody>
      </p:sp>
      <p:sp>
        <p:nvSpPr>
          <p:cNvPr id="471" name="Shape 12"/>
          <p:cNvSpPr/>
          <p:nvPr/>
        </p:nvSpPr>
        <p:spPr>
          <a:xfrm>
            <a:off x="548640" y="4032503"/>
            <a:ext cx="11064241" cy="1024129"/>
          </a:xfrm>
          <a:prstGeom prst="roundRect">
            <a:avLst>
              <a:gd name="adj" fmla="val 7143"/>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72" name="Shape 13"/>
          <p:cNvSpPr/>
          <p:nvPr/>
        </p:nvSpPr>
        <p:spPr>
          <a:xfrm>
            <a:off x="777240" y="4187952"/>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73" name="Image 2" descr="Image 2"/>
          <p:cNvPicPr>
            <a:picLocks noChangeAspect="1"/>
          </p:cNvPicPr>
          <p:nvPr/>
        </p:nvPicPr>
        <p:blipFill>
          <a:blip r:embed="rId5">
            <a:extLst/>
          </a:blip>
          <a:stretch>
            <a:fillRect/>
          </a:stretch>
        </p:blipFill>
        <p:spPr>
          <a:xfrm>
            <a:off x="877092" y="4287804"/>
            <a:ext cx="513527" cy="513528"/>
          </a:xfrm>
          <a:prstGeom prst="rect">
            <a:avLst/>
          </a:prstGeom>
          <a:ln w="12700">
            <a:miter lim="400000"/>
          </a:ln>
        </p:spPr>
      </p:pic>
      <p:sp>
        <p:nvSpPr>
          <p:cNvPr id="474" name="Text 14"/>
          <p:cNvSpPr txBox="1"/>
          <p:nvPr/>
        </p:nvSpPr>
        <p:spPr>
          <a:xfrm>
            <a:off x="1737360" y="4223512"/>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002050"/>
                </a:solidFill>
                <a:latin typeface="Cambria"/>
                <a:ea typeface="Cambria"/>
                <a:cs typeface="Cambria"/>
                <a:sym typeface="Cambria"/>
              </a:defRPr>
            </a:lvl1pPr>
          </a:lstStyle>
          <a:p>
            <a:pPr/>
            <a:r>
              <a:t>Real Application Workload Testing</a:t>
            </a:r>
          </a:p>
        </p:txBody>
      </p:sp>
      <p:sp>
        <p:nvSpPr>
          <p:cNvPr id="475" name="Text 15"/>
          <p:cNvSpPr txBox="1"/>
          <p:nvPr/>
        </p:nvSpPr>
        <p:spPr>
          <a:xfrm>
            <a:off x="5989319" y="4431714"/>
            <a:ext cx="53035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Validate tier choice against actual production-like traffic patterns.</a:t>
            </a:r>
          </a:p>
        </p:txBody>
      </p:sp>
      <p:sp>
        <p:nvSpPr>
          <p:cNvPr id="476" name="Shape 16"/>
          <p:cNvSpPr/>
          <p:nvPr/>
        </p:nvSpPr>
        <p:spPr>
          <a:xfrm>
            <a:off x="5806440" y="4169663"/>
            <a:ext cx="1" cy="749809"/>
          </a:xfrm>
          <a:prstGeom prst="line">
            <a:avLst/>
          </a:prstGeom>
          <a:ln w="12700">
            <a:solidFill>
              <a:srgbClr val="D7E6F5"/>
            </a:solidFill>
          </a:ln>
        </p:spPr>
        <p:txBody>
          <a:bodyPr lIns="45719" rIns="45719"/>
          <a:lstStyle/>
          <a:p>
            <a:pPr/>
          </a:p>
        </p:txBody>
      </p:sp>
      <p:sp>
        <p:nvSpPr>
          <p:cNvPr id="477" name="Shape 17"/>
          <p:cNvSpPr/>
          <p:nvPr/>
        </p:nvSpPr>
        <p:spPr>
          <a:xfrm>
            <a:off x="548640" y="5202935"/>
            <a:ext cx="11064241" cy="1024129"/>
          </a:xfrm>
          <a:prstGeom prst="roundRect">
            <a:avLst>
              <a:gd name="adj" fmla="val 7143"/>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478" name="Shape 18"/>
          <p:cNvSpPr/>
          <p:nvPr/>
        </p:nvSpPr>
        <p:spPr>
          <a:xfrm>
            <a:off x="777240" y="5358384"/>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79" name="Image 3" descr="Image 3"/>
          <p:cNvPicPr>
            <a:picLocks noChangeAspect="1"/>
          </p:cNvPicPr>
          <p:nvPr/>
        </p:nvPicPr>
        <p:blipFill>
          <a:blip r:embed="rId6">
            <a:extLst/>
          </a:blip>
          <a:stretch>
            <a:fillRect/>
          </a:stretch>
        </p:blipFill>
        <p:spPr>
          <a:xfrm>
            <a:off x="877092" y="5458235"/>
            <a:ext cx="513527" cy="513528"/>
          </a:xfrm>
          <a:prstGeom prst="rect">
            <a:avLst/>
          </a:prstGeom>
          <a:ln w="12700">
            <a:miter lim="400000"/>
          </a:ln>
        </p:spPr>
      </p:pic>
      <p:sp>
        <p:nvSpPr>
          <p:cNvPr id="480" name="Text 19"/>
          <p:cNvSpPr txBox="1"/>
          <p:nvPr/>
        </p:nvSpPr>
        <p:spPr>
          <a:xfrm>
            <a:off x="1737360" y="5393944"/>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002050"/>
                </a:solidFill>
                <a:latin typeface="Cambria"/>
                <a:ea typeface="Cambria"/>
                <a:cs typeface="Cambria"/>
                <a:sym typeface="Cambria"/>
              </a:defRPr>
            </a:lvl1pPr>
          </a:lstStyle>
          <a:p>
            <a:pPr/>
            <a:r>
              <a:t>Database Performance Monitoring</a:t>
            </a:r>
          </a:p>
        </p:txBody>
      </p:sp>
      <p:sp>
        <p:nvSpPr>
          <p:cNvPr id="481" name="Text 20"/>
          <p:cNvSpPr txBox="1"/>
          <p:nvPr/>
        </p:nvSpPr>
        <p:spPr>
          <a:xfrm>
            <a:off x="5989319" y="5602146"/>
            <a:ext cx="53035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5B6B7C"/>
                </a:solidFill>
              </a:defRPr>
            </a:lvl1pPr>
          </a:lstStyle>
          <a:p>
            <a:pPr/>
            <a:r>
              <a:t>Integrate query-level insights to fine-tune storage configuration further.</a:t>
            </a:r>
          </a:p>
        </p:txBody>
      </p:sp>
      <p:sp>
        <p:nvSpPr>
          <p:cNvPr id="482" name="Shape 21"/>
          <p:cNvSpPr/>
          <p:nvPr/>
        </p:nvSpPr>
        <p:spPr>
          <a:xfrm>
            <a:off x="5806440" y="5340095"/>
            <a:ext cx="1" cy="749810"/>
          </a:xfrm>
          <a:prstGeom prst="line">
            <a:avLst/>
          </a:prstGeom>
          <a:ln w="12700">
            <a:solidFill>
              <a:srgbClr val="D7E6F5"/>
            </a:solidFill>
          </a:ln>
        </p:spPr>
        <p:txBody>
          <a:bodyPr lIns="45719" rIns="45719"/>
          <a:lstStyle/>
          <a:p>
            <a:pPr/>
          </a:p>
        </p:txBody>
      </p:sp>
      <p:sp>
        <p:nvSpPr>
          <p:cNvPr id="483" name="Text 22"/>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484" name="Shape 23"/>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485" name="Text 24"/>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14</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2050"/>
        </a:solidFill>
      </p:bgPr>
    </p:bg>
    <p:spTree>
      <p:nvGrpSpPr>
        <p:cNvPr id="1" name=""/>
        <p:cNvGrpSpPr/>
        <p:nvPr/>
      </p:nvGrpSpPr>
      <p:grpSpPr>
        <a:xfrm>
          <a:off x="0" y="0"/>
          <a:ext cx="0" cy="0"/>
          <a:chOff x="0" y="0"/>
          <a:chExt cx="0" cy="0"/>
        </a:xfrm>
      </p:grpSpPr>
      <p:sp>
        <p:nvSpPr>
          <p:cNvPr id="489" name="Shape 0"/>
          <p:cNvSpPr/>
          <p:nvPr/>
        </p:nvSpPr>
        <p:spPr>
          <a:xfrm>
            <a:off x="-1828800" y="4206240"/>
            <a:ext cx="4754880" cy="4754881"/>
          </a:xfrm>
          <a:prstGeom prst="ellipse">
            <a:avLst/>
          </a:prstGeom>
          <a:solidFill>
            <a:srgbClr val="0A2E5C"/>
          </a:solidFill>
          <a:ln w="12700">
            <a:miter lim="400000"/>
          </a:ln>
        </p:spPr>
        <p:txBody>
          <a:bodyPr lIns="45719" rIns="45719"/>
          <a:lstStyle/>
          <a:p>
            <a:pPr/>
          </a:p>
        </p:txBody>
      </p:sp>
      <p:sp>
        <p:nvSpPr>
          <p:cNvPr id="490" name="Shape 1"/>
          <p:cNvSpPr/>
          <p:nvPr/>
        </p:nvSpPr>
        <p:spPr>
          <a:xfrm>
            <a:off x="9875519" y="-1828800"/>
            <a:ext cx="4572001" cy="4572000"/>
          </a:xfrm>
          <a:prstGeom prst="ellipse">
            <a:avLst/>
          </a:prstGeom>
          <a:solidFill>
            <a:srgbClr val="0A2E5C"/>
          </a:solidFill>
          <a:ln w="12700">
            <a:miter lim="400000"/>
          </a:ln>
        </p:spPr>
        <p:txBody>
          <a:bodyPr lIns="45719" rIns="45719"/>
          <a:lstStyle/>
          <a:p>
            <a:pPr/>
          </a:p>
        </p:txBody>
      </p:sp>
      <p:sp>
        <p:nvSpPr>
          <p:cNvPr id="491" name="Text 2"/>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50E6FF"/>
                </a:solidFill>
              </a:defRPr>
            </a:lvl1pPr>
          </a:lstStyle>
          <a:p>
            <a:pPr/>
            <a:r>
              <a:t>CONCLUSION</a:t>
            </a:r>
          </a:p>
        </p:txBody>
      </p:sp>
      <p:sp>
        <p:nvSpPr>
          <p:cNvPr id="492" name="Text 3"/>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FFFFFF"/>
                </a:solidFill>
                <a:latin typeface="Cambria"/>
                <a:ea typeface="Cambria"/>
                <a:cs typeface="Cambria"/>
                <a:sym typeface="Cambria"/>
              </a:defRPr>
            </a:lvl1pPr>
          </a:lstStyle>
          <a:p>
            <a:pPr/>
            <a:r>
              <a:t>Conclusion</a:t>
            </a:r>
          </a:p>
        </p:txBody>
      </p:sp>
      <p:sp>
        <p:nvSpPr>
          <p:cNvPr id="493" name="Shape 4"/>
          <p:cNvSpPr/>
          <p:nvPr/>
        </p:nvSpPr>
        <p:spPr>
          <a:xfrm>
            <a:off x="822960" y="1600200"/>
            <a:ext cx="10515601" cy="1371600"/>
          </a:xfrm>
          <a:prstGeom prst="roundRect">
            <a:avLst>
              <a:gd name="adj" fmla="val 5333"/>
            </a:avLst>
          </a:prstGeom>
          <a:solidFill>
            <a:srgbClr val="0A2E5C"/>
          </a:solidFill>
          <a:ln w="12700">
            <a:solidFill>
              <a:srgbClr val="15477F"/>
            </a:solidFill>
          </a:ln>
        </p:spPr>
        <p:txBody>
          <a:bodyPr lIns="45719" rIns="45719"/>
          <a:lstStyle/>
          <a:p>
            <a:pPr/>
          </a:p>
        </p:txBody>
      </p:sp>
      <p:sp>
        <p:nvSpPr>
          <p:cNvPr id="494" name="Text 5"/>
          <p:cNvSpPr txBox="1"/>
          <p:nvPr/>
        </p:nvSpPr>
        <p:spPr>
          <a:xfrm>
            <a:off x="1188719" y="2009382"/>
            <a:ext cx="9784082" cy="55323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500">
                <a:solidFill>
                  <a:srgbClr val="E4EFFB"/>
                </a:solidFill>
              </a:defRPr>
            </a:lvl1pPr>
          </a:lstStyle>
          <a:p>
            <a:pPr/>
            <a:r>
              <a:t>Azure Storage performance tier selection depends fundamentally on workload characteristics — access pattern, latency sensitivity, IOPS, and throughput requirements.</a:t>
            </a:r>
          </a:p>
        </p:txBody>
      </p:sp>
      <p:sp>
        <p:nvSpPr>
          <p:cNvPr id="495" name="Shape 6"/>
          <p:cNvSpPr/>
          <p:nvPr/>
        </p:nvSpPr>
        <p:spPr>
          <a:xfrm>
            <a:off x="822960" y="3246120"/>
            <a:ext cx="10515601" cy="2286001"/>
          </a:xfrm>
          <a:prstGeom prst="roundRect">
            <a:avLst>
              <a:gd name="adj" fmla="val 3200"/>
            </a:avLst>
          </a:prstGeom>
          <a:solidFill>
            <a:srgbClr val="0078D4"/>
          </a:solidFill>
          <a:ln w="12700">
            <a:solidFill>
              <a:srgbClr val="0078D4"/>
            </a:solidFill>
          </a:ln>
        </p:spPr>
        <p:txBody>
          <a:bodyPr lIns="45719" rIns="45719"/>
          <a:lstStyle/>
          <a:p>
            <a:pPr/>
          </a:p>
        </p:txBody>
      </p:sp>
      <p:sp>
        <p:nvSpPr>
          <p:cNvPr id="496" name="Shape 7"/>
          <p:cNvSpPr/>
          <p:nvPr/>
        </p:nvSpPr>
        <p:spPr>
          <a:xfrm>
            <a:off x="1143000" y="3566159"/>
            <a:ext cx="1005841" cy="1005841"/>
          </a:xfrm>
          <a:prstGeom prst="ellipse">
            <a:avLst/>
          </a:prstGeom>
          <a:solidFill>
            <a:srgbClr val="FFFFFF"/>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497" name="Image 0" descr="Image 0"/>
          <p:cNvPicPr>
            <a:picLocks noChangeAspect="1"/>
          </p:cNvPicPr>
          <p:nvPr/>
        </p:nvPicPr>
        <p:blipFill>
          <a:blip r:embed="rId3">
            <a:extLst/>
          </a:blip>
          <a:stretch>
            <a:fillRect/>
          </a:stretch>
        </p:blipFill>
        <p:spPr>
          <a:xfrm>
            <a:off x="1283817" y="3706977"/>
            <a:ext cx="724206" cy="724207"/>
          </a:xfrm>
          <a:prstGeom prst="rect">
            <a:avLst/>
          </a:prstGeom>
          <a:ln w="12700">
            <a:miter lim="400000"/>
          </a:ln>
        </p:spPr>
      </p:pic>
      <p:sp>
        <p:nvSpPr>
          <p:cNvPr id="498" name="Text 8"/>
          <p:cNvSpPr txBox="1"/>
          <p:nvPr/>
        </p:nvSpPr>
        <p:spPr>
          <a:xfrm>
            <a:off x="2514600" y="3574219"/>
            <a:ext cx="850392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50E6FF"/>
                </a:solidFill>
              </a:defRPr>
            </a:lvl1pPr>
          </a:lstStyle>
          <a:p>
            <a:pPr/>
            <a:r>
              <a:t>For transaction-heavy applications requiring high performance:</a:t>
            </a:r>
          </a:p>
        </p:txBody>
      </p:sp>
      <p:sp>
        <p:nvSpPr>
          <p:cNvPr id="499" name="Text 9"/>
          <p:cNvSpPr txBox="1"/>
          <p:nvPr/>
        </p:nvSpPr>
        <p:spPr>
          <a:xfrm>
            <a:off x="2514600" y="4243387"/>
            <a:ext cx="8503920" cy="74866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2000">
                <a:solidFill>
                  <a:srgbClr val="FFFFFF"/>
                </a:solidFill>
                <a:latin typeface="Cambria"/>
                <a:ea typeface="Cambria"/>
                <a:cs typeface="Cambria"/>
                <a:sym typeface="Cambria"/>
              </a:defRPr>
            </a:lvl1pPr>
          </a:lstStyle>
          <a:p>
            <a:pPr/>
            <a:r>
              <a:t>Premium SSD with the appropriate performance tier delivers an optimized balance of performance and cost.</a:t>
            </a:r>
          </a:p>
        </p:txBody>
      </p:sp>
      <p:sp>
        <p:nvSpPr>
          <p:cNvPr id="500" name="Text 10"/>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501" name="Shape 11"/>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502" name="Text 12"/>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15</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9FD"/>
        </a:solidFill>
      </p:bgPr>
    </p:bg>
    <p:spTree>
      <p:nvGrpSpPr>
        <p:cNvPr id="1" name=""/>
        <p:cNvGrpSpPr/>
        <p:nvPr/>
      </p:nvGrpSpPr>
      <p:grpSpPr>
        <a:xfrm>
          <a:off x="0" y="0"/>
          <a:ext cx="0" cy="0"/>
          <a:chOff x="0" y="0"/>
          <a:chExt cx="0" cy="0"/>
        </a:xfrm>
      </p:grpSpPr>
      <p:sp>
        <p:nvSpPr>
          <p:cNvPr id="506" name="Text 0"/>
          <p:cNvSpPr txBox="1"/>
          <p:nvPr/>
        </p:nvSpPr>
        <p:spPr>
          <a:xfrm>
            <a:off x="594359" y="406199"/>
            <a:ext cx="72237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20" sz="1200">
                <a:solidFill>
                  <a:srgbClr val="0078D4"/>
                </a:solidFill>
              </a:defRPr>
            </a:lvl1pPr>
          </a:lstStyle>
          <a:p>
            <a:pPr/>
            <a:r>
              <a:t>REFERENCES</a:t>
            </a:r>
          </a:p>
        </p:txBody>
      </p:sp>
      <p:sp>
        <p:nvSpPr>
          <p:cNvPr id="507" name="Text 1"/>
          <p:cNvSpPr txBox="1"/>
          <p:nvPr/>
        </p:nvSpPr>
        <p:spPr>
          <a:xfrm>
            <a:off x="594359" y="704088"/>
            <a:ext cx="106984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002050"/>
                </a:solidFill>
                <a:latin typeface="Cambria"/>
                <a:ea typeface="Cambria"/>
                <a:cs typeface="Cambria"/>
                <a:sym typeface="Cambria"/>
              </a:defRPr>
            </a:lvl1pPr>
          </a:lstStyle>
          <a:p>
            <a:pPr/>
            <a:r>
              <a:t>References</a:t>
            </a:r>
          </a:p>
        </p:txBody>
      </p:sp>
      <p:sp>
        <p:nvSpPr>
          <p:cNvPr id="508" name="Shape 2"/>
          <p:cNvSpPr/>
          <p:nvPr/>
        </p:nvSpPr>
        <p:spPr>
          <a:xfrm>
            <a:off x="1280160" y="1920239"/>
            <a:ext cx="9601201" cy="1143001"/>
          </a:xfrm>
          <a:prstGeom prst="roundRect">
            <a:avLst>
              <a:gd name="adj" fmla="val 6400"/>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509" name="Shape 3"/>
          <p:cNvSpPr/>
          <p:nvPr/>
        </p:nvSpPr>
        <p:spPr>
          <a:xfrm>
            <a:off x="1554480" y="2139695"/>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510" name="Image 0" descr="Image 0"/>
          <p:cNvPicPr>
            <a:picLocks noChangeAspect="1"/>
          </p:cNvPicPr>
          <p:nvPr/>
        </p:nvPicPr>
        <p:blipFill>
          <a:blip r:embed="rId3">
            <a:extLst/>
          </a:blip>
          <a:stretch>
            <a:fillRect/>
          </a:stretch>
        </p:blipFill>
        <p:spPr>
          <a:xfrm>
            <a:off x="1654331" y="2239547"/>
            <a:ext cx="513528" cy="513528"/>
          </a:xfrm>
          <a:prstGeom prst="rect">
            <a:avLst/>
          </a:prstGeom>
          <a:ln w="12700">
            <a:miter lim="400000"/>
          </a:ln>
        </p:spPr>
      </p:pic>
      <p:sp>
        <p:nvSpPr>
          <p:cNvPr id="511" name="Text 4"/>
          <p:cNvSpPr txBox="1"/>
          <p:nvPr/>
        </p:nvSpPr>
        <p:spPr>
          <a:xfrm>
            <a:off x="2651759" y="2118613"/>
            <a:ext cx="77724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Microsoft Azure Documentation</a:t>
            </a:r>
          </a:p>
        </p:txBody>
      </p:sp>
      <p:sp>
        <p:nvSpPr>
          <p:cNvPr id="512" name="Text 5"/>
          <p:cNvSpPr txBox="1"/>
          <p:nvPr/>
        </p:nvSpPr>
        <p:spPr>
          <a:xfrm>
            <a:off x="2651759" y="2580054"/>
            <a:ext cx="777240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B7C"/>
                </a:solidFill>
              </a:defRPr>
            </a:lvl1pPr>
          </a:lstStyle>
          <a:p>
            <a:pPr/>
            <a:r>
              <a:t>Official Azure product documentation — learn.microsoft.com/azure</a:t>
            </a:r>
          </a:p>
        </p:txBody>
      </p:sp>
      <p:sp>
        <p:nvSpPr>
          <p:cNvPr id="513" name="Shape 6"/>
          <p:cNvSpPr/>
          <p:nvPr/>
        </p:nvSpPr>
        <p:spPr>
          <a:xfrm>
            <a:off x="1280160" y="3337559"/>
            <a:ext cx="9601201" cy="1143001"/>
          </a:xfrm>
          <a:prstGeom prst="roundRect">
            <a:avLst>
              <a:gd name="adj" fmla="val 6400"/>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514" name="Shape 7"/>
          <p:cNvSpPr/>
          <p:nvPr/>
        </p:nvSpPr>
        <p:spPr>
          <a:xfrm>
            <a:off x="1554480" y="3557015"/>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515" name="Image 1" descr="Image 1"/>
          <p:cNvPicPr>
            <a:picLocks noChangeAspect="1"/>
          </p:cNvPicPr>
          <p:nvPr/>
        </p:nvPicPr>
        <p:blipFill>
          <a:blip r:embed="rId4">
            <a:extLst/>
          </a:blip>
          <a:stretch>
            <a:fillRect/>
          </a:stretch>
        </p:blipFill>
        <p:spPr>
          <a:xfrm>
            <a:off x="1654331" y="3656867"/>
            <a:ext cx="513528" cy="513528"/>
          </a:xfrm>
          <a:prstGeom prst="rect">
            <a:avLst/>
          </a:prstGeom>
          <a:ln w="12700">
            <a:miter lim="400000"/>
          </a:ln>
        </p:spPr>
      </p:pic>
      <p:sp>
        <p:nvSpPr>
          <p:cNvPr id="516" name="Text 8"/>
          <p:cNvSpPr txBox="1"/>
          <p:nvPr/>
        </p:nvSpPr>
        <p:spPr>
          <a:xfrm>
            <a:off x="2651759" y="3535934"/>
            <a:ext cx="77724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Azure Managed Disks Documentation</a:t>
            </a:r>
          </a:p>
        </p:txBody>
      </p:sp>
      <p:sp>
        <p:nvSpPr>
          <p:cNvPr id="517" name="Text 9"/>
          <p:cNvSpPr txBox="1"/>
          <p:nvPr/>
        </p:nvSpPr>
        <p:spPr>
          <a:xfrm>
            <a:off x="2651759" y="3997374"/>
            <a:ext cx="77724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B7C"/>
                </a:solidFill>
              </a:defRPr>
            </a:lvl1pPr>
          </a:lstStyle>
          <a:p>
            <a:pPr/>
            <a:r>
              <a:t>Managed disk types, performance tiers &amp; configuration guidance</a:t>
            </a:r>
          </a:p>
        </p:txBody>
      </p:sp>
      <p:sp>
        <p:nvSpPr>
          <p:cNvPr id="518" name="Shape 10"/>
          <p:cNvSpPr/>
          <p:nvPr/>
        </p:nvSpPr>
        <p:spPr>
          <a:xfrm>
            <a:off x="1280160" y="4754879"/>
            <a:ext cx="9601201" cy="1143001"/>
          </a:xfrm>
          <a:prstGeom prst="roundRect">
            <a:avLst>
              <a:gd name="adj" fmla="val 6400"/>
            </a:avLst>
          </a:prstGeom>
          <a:solidFill>
            <a:srgbClr val="FFFFFF"/>
          </a:solidFill>
          <a:ln w="12700">
            <a:solidFill>
              <a:srgbClr val="D7E6F5"/>
            </a:solidFill>
          </a:ln>
          <a:effectLst>
            <a:outerShdw sx="100000" sy="100000" kx="0" ky="0" algn="b" rotWithShape="0" blurRad="101600" dist="25400" dir="5400000">
              <a:srgbClr val="1B2A3C">
                <a:alpha val="10000"/>
              </a:srgbClr>
            </a:outerShdw>
          </a:effectLst>
        </p:spPr>
        <p:txBody>
          <a:bodyPr lIns="45719" rIns="45719"/>
          <a:lstStyle/>
          <a:p>
            <a:pPr/>
          </a:p>
        </p:txBody>
      </p:sp>
      <p:sp>
        <p:nvSpPr>
          <p:cNvPr id="519" name="Shape 11"/>
          <p:cNvSpPr/>
          <p:nvPr/>
        </p:nvSpPr>
        <p:spPr>
          <a:xfrm>
            <a:off x="1554480" y="4974335"/>
            <a:ext cx="713233" cy="713233"/>
          </a:xfrm>
          <a:prstGeom prst="ellipse">
            <a:avLst/>
          </a:prstGeom>
          <a:solidFill>
            <a:srgbClr val="0078D4"/>
          </a:solidFill>
          <a:ln w="12700">
            <a:miter lim="400000"/>
          </a:ln>
          <a:effectLst>
            <a:outerShdw sx="100000" sy="100000" kx="0" ky="0" algn="b" rotWithShape="0" blurRad="76200" dist="25400" dir="5400000">
              <a:srgbClr val="1B2A3C">
                <a:alpha val="18000"/>
              </a:srgbClr>
            </a:outerShdw>
          </a:effectLst>
        </p:spPr>
        <p:txBody>
          <a:bodyPr lIns="45719" rIns="45719"/>
          <a:lstStyle/>
          <a:p>
            <a:pPr/>
          </a:p>
        </p:txBody>
      </p:sp>
      <p:pic>
        <p:nvPicPr>
          <p:cNvPr id="520" name="Image 2" descr="Image 2"/>
          <p:cNvPicPr>
            <a:picLocks noChangeAspect="1"/>
          </p:cNvPicPr>
          <p:nvPr/>
        </p:nvPicPr>
        <p:blipFill>
          <a:blip r:embed="rId5">
            <a:extLst/>
          </a:blip>
          <a:stretch>
            <a:fillRect/>
          </a:stretch>
        </p:blipFill>
        <p:spPr>
          <a:xfrm>
            <a:off x="1654331" y="5074187"/>
            <a:ext cx="513528" cy="513528"/>
          </a:xfrm>
          <a:prstGeom prst="rect">
            <a:avLst/>
          </a:prstGeom>
          <a:ln w="12700">
            <a:miter lim="400000"/>
          </a:ln>
        </p:spPr>
      </p:pic>
      <p:sp>
        <p:nvSpPr>
          <p:cNvPr id="521" name="Text 12"/>
          <p:cNvSpPr txBox="1"/>
          <p:nvPr/>
        </p:nvSpPr>
        <p:spPr>
          <a:xfrm>
            <a:off x="2651759" y="4953254"/>
            <a:ext cx="77724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002050"/>
                </a:solidFill>
                <a:latin typeface="Cambria"/>
                <a:ea typeface="Cambria"/>
                <a:cs typeface="Cambria"/>
                <a:sym typeface="Cambria"/>
              </a:defRPr>
            </a:lvl1pPr>
          </a:lstStyle>
          <a:p>
            <a:pPr/>
            <a:r>
              <a:t>Azure Storage Documentation</a:t>
            </a:r>
          </a:p>
        </p:txBody>
      </p:sp>
      <p:sp>
        <p:nvSpPr>
          <p:cNvPr id="522" name="Text 13"/>
          <p:cNvSpPr txBox="1"/>
          <p:nvPr/>
        </p:nvSpPr>
        <p:spPr>
          <a:xfrm>
            <a:off x="2651759" y="5414694"/>
            <a:ext cx="777240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B7C"/>
                </a:solidFill>
              </a:defRPr>
            </a:lvl1pPr>
          </a:lstStyle>
          <a:p>
            <a:pPr/>
            <a:r>
              <a:t>Storage services, performance concepts, and best practices</a:t>
            </a:r>
          </a:p>
        </p:txBody>
      </p:sp>
      <p:sp>
        <p:nvSpPr>
          <p:cNvPr id="523" name="Text 14"/>
          <p:cNvSpPr txBox="1"/>
          <p:nvPr/>
        </p:nvSpPr>
        <p:spPr>
          <a:xfrm>
            <a:off x="594359" y="6211570"/>
            <a:ext cx="1097280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600">
                <a:solidFill>
                  <a:srgbClr val="0078D4"/>
                </a:solidFill>
                <a:latin typeface="Cambria"/>
                <a:ea typeface="Cambria"/>
                <a:cs typeface="Cambria"/>
                <a:sym typeface="Cambria"/>
              </a:defRPr>
            </a:lvl1pPr>
          </a:lstStyle>
          <a:p>
            <a:pPr/>
            <a:r>
              <a:t>Thank you</a:t>
            </a:r>
          </a:p>
        </p:txBody>
      </p:sp>
      <p:sp>
        <p:nvSpPr>
          <p:cNvPr id="524" name="Text 15"/>
          <p:cNvSpPr txBox="1"/>
          <p:nvPr/>
        </p:nvSpPr>
        <p:spPr>
          <a:xfrm>
            <a:off x="502919" y="6577112"/>
            <a:ext cx="72237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5B6B7C"/>
                </a:solidFill>
              </a:defRPr>
            </a:lvl1pPr>
          </a:lstStyle>
          <a:p>
            <a:pPr/>
            <a:r>
              <a:t>AZURE STORAGE PERFORMANCE TIER SELECTION</a:t>
            </a:r>
          </a:p>
        </p:txBody>
      </p:sp>
      <p:sp>
        <p:nvSpPr>
          <p:cNvPr id="525" name="Shape 16"/>
          <p:cNvSpPr/>
          <p:nvPr/>
        </p:nvSpPr>
        <p:spPr>
          <a:xfrm>
            <a:off x="11414455" y="6492240"/>
            <a:ext cx="329185" cy="329185"/>
          </a:xfrm>
          <a:prstGeom prst="ellipse">
            <a:avLst/>
          </a:prstGeom>
          <a:solidFill>
            <a:srgbClr val="0078D4"/>
          </a:solidFill>
          <a:ln w="12700">
            <a:miter lim="400000"/>
          </a:ln>
        </p:spPr>
        <p:txBody>
          <a:bodyPr lIns="45719" rIns="45719"/>
          <a:lstStyle/>
          <a:p>
            <a:pPr/>
          </a:p>
        </p:txBody>
      </p:sp>
      <p:sp>
        <p:nvSpPr>
          <p:cNvPr id="526" name="Text 17"/>
          <p:cNvSpPr txBox="1"/>
          <p:nvPr/>
        </p:nvSpPr>
        <p:spPr>
          <a:xfrm>
            <a:off x="11460174" y="6543978"/>
            <a:ext cx="237745"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defRPr>
            </a:lvl1pPr>
          </a:lstStyle>
          <a:p>
            <a:pPr/>
            <a:r>
              <a:t>16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